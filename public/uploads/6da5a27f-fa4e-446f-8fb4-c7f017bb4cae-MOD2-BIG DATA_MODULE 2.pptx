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6"/>
  </p:notesMasterIdLst>
  <p:handoutMasterIdLst>
    <p:handoutMasterId r:id="rId67"/>
  </p:handoutMasterIdLst>
  <p:sldIdLst>
    <p:sldId id="257" r:id="rId5"/>
    <p:sldId id="266" r:id="rId6"/>
    <p:sldId id="272" r:id="rId7"/>
    <p:sldId id="301" r:id="rId8"/>
    <p:sldId id="302" r:id="rId9"/>
    <p:sldId id="307" r:id="rId10"/>
    <p:sldId id="308" r:id="rId11"/>
    <p:sldId id="309" r:id="rId12"/>
    <p:sldId id="310" r:id="rId13"/>
    <p:sldId id="303" r:id="rId14"/>
    <p:sldId id="286" r:id="rId15"/>
    <p:sldId id="273" r:id="rId16"/>
    <p:sldId id="314" r:id="rId17"/>
    <p:sldId id="315" r:id="rId18"/>
    <p:sldId id="316" r:id="rId19"/>
    <p:sldId id="317" r:id="rId20"/>
    <p:sldId id="318" r:id="rId21"/>
    <p:sldId id="319" r:id="rId22"/>
    <p:sldId id="320" r:id="rId23"/>
    <p:sldId id="289" r:id="rId24"/>
    <p:sldId id="321" r:id="rId25"/>
    <p:sldId id="293" r:id="rId26"/>
    <p:sldId id="322" r:id="rId27"/>
    <p:sldId id="323" r:id="rId28"/>
    <p:sldId id="325" r:id="rId29"/>
    <p:sldId id="326" r:id="rId30"/>
    <p:sldId id="327" r:id="rId31"/>
    <p:sldId id="328" r:id="rId32"/>
    <p:sldId id="329" r:id="rId33"/>
    <p:sldId id="331" r:id="rId34"/>
    <p:sldId id="333" r:id="rId35"/>
    <p:sldId id="336" r:id="rId36"/>
    <p:sldId id="338" r:id="rId37"/>
    <p:sldId id="339" r:id="rId38"/>
    <p:sldId id="341" r:id="rId39"/>
    <p:sldId id="342" r:id="rId40"/>
    <p:sldId id="340" r:id="rId41"/>
    <p:sldId id="337" r:id="rId42"/>
    <p:sldId id="343" r:id="rId43"/>
    <p:sldId id="344" r:id="rId44"/>
    <p:sldId id="345" r:id="rId45"/>
    <p:sldId id="346" r:id="rId46"/>
    <p:sldId id="348" r:id="rId47"/>
    <p:sldId id="349" r:id="rId48"/>
    <p:sldId id="347" r:id="rId49"/>
    <p:sldId id="350" r:id="rId50"/>
    <p:sldId id="351" r:id="rId51"/>
    <p:sldId id="352" r:id="rId52"/>
    <p:sldId id="353" r:id="rId53"/>
    <p:sldId id="354" r:id="rId54"/>
    <p:sldId id="355" r:id="rId55"/>
    <p:sldId id="356" r:id="rId56"/>
    <p:sldId id="357" r:id="rId57"/>
    <p:sldId id="358" r:id="rId58"/>
    <p:sldId id="360" r:id="rId59"/>
    <p:sldId id="361" r:id="rId60"/>
    <p:sldId id="362" r:id="rId61"/>
    <p:sldId id="363" r:id="rId62"/>
    <p:sldId id="364" r:id="rId63"/>
    <p:sldId id="365" r:id="rId64"/>
    <p:sldId id="366"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8DCCB6-6691-0E2F-0BAD-BD10E5D54966}" v="2" dt="2026-01-27T13:26:08.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ini S" userId="S::harini.s2022b@vitstudent.ac.in::b528d46a-2732-4349-9570-1ce2b6758029" providerId="AD" clId="Web-{968DCCB6-6691-0E2F-0BAD-BD10E5D54966}"/>
    <pc:docChg chg="modSld">
      <pc:chgData name="Harini S" userId="S::harini.s2022b@vitstudent.ac.in::b528d46a-2732-4349-9570-1ce2b6758029" providerId="AD" clId="Web-{968DCCB6-6691-0E2F-0BAD-BD10E5D54966}" dt="2026-01-27T13:26:08.996" v="1" actId="1076"/>
      <pc:docMkLst>
        <pc:docMk/>
      </pc:docMkLst>
      <pc:sldChg chg="modSp">
        <pc:chgData name="Harini S" userId="S::harini.s2022b@vitstudent.ac.in::b528d46a-2732-4349-9570-1ce2b6758029" providerId="AD" clId="Web-{968DCCB6-6691-0E2F-0BAD-BD10E5D54966}" dt="2026-01-27T13:26:08.996" v="1" actId="1076"/>
        <pc:sldMkLst>
          <pc:docMk/>
          <pc:sldMk cId="1154969311" sldId="286"/>
        </pc:sldMkLst>
        <pc:picChg chg="mod">
          <ac:chgData name="Harini S" userId="S::harini.s2022b@vitstudent.ac.in::b528d46a-2732-4349-9570-1ce2b6758029" providerId="AD" clId="Web-{968DCCB6-6691-0E2F-0BAD-BD10E5D54966}" dt="2026-01-27T13:26:08.996" v="1" actId="1076"/>
          <ac:picMkLst>
            <pc:docMk/>
            <pc:sldMk cId="1154969311" sldId="286"/>
            <ac:picMk id="4" creationId="{5E1DDF17-09C7-4CD9-B9CB-13BBBAD5C6D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AD794A-17F4-48F7-A14F-39DCAE091952}" type="datetimeFigureOut">
              <a:rPr lang="en-US" smtClean="0"/>
              <a:t>1/27/2026</a:t>
            </a:fld>
            <a:endParaRPr lang="en-US"/>
          </a:p>
        </p:txBody>
      </p:sp>
      <p:sp>
        <p:nvSpPr>
          <p:cNvPr id="4" name="Footer Placeholder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2DFAA7-D3C3-4D01-9299-453E25D16D4E}" type="slidenum">
              <a:rPr lang="en-US" smtClean="0"/>
              <a:t>‹#›</a:t>
            </a:fld>
            <a:endParaRPr lang="en-US"/>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6A87-CC60-415C-BFEE-13D1CAD6861A}" type="datetimeFigureOut">
              <a:rPr lang="en-US" smtClean="0"/>
              <a:t>1/27/2026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C51814-3B91-4036-94D2-3977634EE214}" type="slidenum">
              <a:rPr lang="en-US" smtClean="0"/>
              <a:t>‹#›</a:t>
            </a:fld>
            <a:endParaRPr lang="en-US"/>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a:normAutofit/>
          </a:bodyPr>
          <a:lstStyle>
            <a:lvl1pPr marL="0" indent="0" algn="ctr">
              <a:buNone/>
              <a:defRPr sz="1800"/>
            </a:lvl1pPr>
          </a:lstStyle>
          <a:p>
            <a:r>
              <a:rPr lang="en-US"/>
              <a:t>Click icon to add picture</a:t>
            </a:r>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anchor="ctr"/>
          <a:lstStyle>
            <a:lvl1pPr algn="ct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a:normAutofit/>
          </a:bodyPr>
          <a:lstStyle>
            <a:lvl1pPr marL="0" indent="0" algn="ctr">
              <a:buNone/>
              <a:defRPr sz="1800"/>
            </a:lvl1pPr>
          </a:lstStyle>
          <a:p>
            <a:r>
              <a:rPr lang="en-US"/>
              <a:t>Click icon to add picture</a:t>
            </a:r>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anchor="b"/>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6905625" y="4927600"/>
            <a:ext cx="4986338"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anchor="b">
            <a:normAutofit/>
          </a:bodyPr>
          <a:lstStyle>
            <a:lvl1pPr algn="ctr">
              <a:defRPr sz="5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436610" y="4079083"/>
            <a:ext cx="5318781" cy="976311"/>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a:normAutofit/>
          </a:bodyPr>
          <a:lstStyle>
            <a:lvl1pPr marL="0" indent="0" algn="ctr">
              <a:buNone/>
              <a:defRPr sz="1800"/>
            </a:lvl1pPr>
          </a:lstStyle>
          <a:p>
            <a:r>
              <a:rPr lang="en-US"/>
              <a:t>Click icon to add picture</a:t>
            </a:r>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anchor="b">
            <a:normAutofit/>
          </a:bodyPr>
          <a:lstStyle>
            <a:lvl1pPr algn="l">
              <a:defRPr sz="5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371476" y="4079083"/>
            <a:ext cx="4416424" cy="97631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Rectangle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a:normAutofit/>
          </a:bodyPr>
          <a:lstStyle>
            <a:lvl1pPr marL="0" indent="0" algn="ctr">
              <a:buNone/>
              <a:defRPr sz="1800"/>
            </a:lvl1pPr>
          </a:lstStyle>
          <a:p>
            <a:r>
              <a:rPr lang="en-US"/>
              <a:t>Click icon to add picture</a:t>
            </a:r>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anchor="ctr">
            <a:normAutofit/>
          </a:bodyPr>
          <a:lstStyle>
            <a:lvl1pPr algn="ctr">
              <a:defRPr sz="54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510507" y="5130801"/>
            <a:ext cx="9242424" cy="533400"/>
          </a:xfrm>
        </p:spPr>
        <p:txBody>
          <a:bodyPr/>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a:normAutofit/>
          </a:bodyPr>
          <a:lstStyle>
            <a:lvl1pPr algn="ctr">
              <a:defRPr sz="4400"/>
            </a:lvl1p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anchor="b">
            <a:noAutofit/>
          </a:bodyPr>
          <a:lstStyle>
            <a:lvl1pPr>
              <a:defRPr sz="540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a:buNone/>
            </a:pPr>
            <a:r>
              <a:rPr lang="en-US" noProof="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anchor="b">
            <a:noAutofit/>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anchor="ctr">
            <a:noAutofit/>
          </a:bodyPr>
          <a:lstStyle>
            <a:lvl1pPr>
              <a:defRPr sz="5400"/>
            </a:lvl1p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anchor="b">
            <a:no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anchor="ctr">
            <a:no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anchor="ct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5" name="Rectangle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anchor="ctr"/>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9" name="Rectangle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anchor="ctr"/>
          <a:lstStyle>
            <a:lvl1pPr>
              <a:defRPr sz="6000">
                <a:solidFill>
                  <a:schemeClr val="bg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a:buNone/>
            </a:pPr>
            <a:r>
              <a:rPr lang="en-US" noProof="0"/>
              <a:t>Click icon to add picture</a:t>
            </a:r>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anchor="ctr"/>
          <a:lstStyle>
            <a:lvl1pPr>
              <a:defRPr sz="6000">
                <a:solidFill>
                  <a:schemeClr val="accent5"/>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anchor="ctr"/>
          <a:lstStyle>
            <a:lvl1pPr>
              <a:defRPr sz="6000">
                <a:solidFill>
                  <a:schemeClr val="tx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a:buNone/>
            </a:pPr>
            <a:r>
              <a:rPr lang="en-US" noProof="0"/>
              <a:t>Click icon to add picture</a:t>
            </a:r>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anchor="ctr"/>
          <a:lstStyle>
            <a:lvl1pPr algn="ctr">
              <a:defRPr sz="6000">
                <a:solidFill>
                  <a:schemeClr val="accent1"/>
                </a:solidFill>
              </a:defRPr>
            </a:lvl1pPr>
          </a:lstStyle>
          <a:p>
            <a:r>
              <a:rPr lang="en-US" noProof="0"/>
              <a:t>Click to edit Master title style</a:t>
            </a:r>
          </a:p>
        </p:txBody>
      </p:sp>
      <p:sp>
        <p:nvSpPr>
          <p:cNvPr id="6" name="Slide Number Placeholder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sp>
        <p:nvSpPr>
          <p:cNvPr id="3" name="Rectangle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2" name="Rectangle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anchor="b">
            <a:noAutofit/>
          </a:bodyPr>
          <a:lstStyle>
            <a:lvl1pPr>
              <a:defRPr sz="3600"/>
            </a:lvl1pPr>
          </a:lstStyle>
          <a:p>
            <a:r>
              <a:rPr lang="en-US" noProof="0"/>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noProof="0" smtClean="0"/>
              <a:t>‹#›</a:t>
            </a:fld>
            <a:endParaRPr lang="en-US" noProof="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noProof="0"/>
              <a:t>Click icon to add picture</a:t>
            </a:r>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anchor="ctr">
            <a:noAutofit/>
          </a:bodyPr>
          <a:lstStyle>
            <a:lvl1pPr algn="ctr">
              <a:defRPr sz="3600"/>
            </a:lvl1pPr>
          </a:lstStyle>
          <a:p>
            <a:r>
              <a:rPr lang="en-US"/>
              <a:t>Click to edit Master title style</a:t>
            </a:r>
          </a:p>
        </p:txBody>
      </p:sp>
      <p:sp>
        <p:nvSpPr>
          <p:cNvPr id="7" name="Slide Number Placeholder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Rectangle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
        <p:nvSpPr>
          <p:cNvPr id="10" name="Rectangle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7" name="Rectangle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7" name="Rectangle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p>
            <a:r>
              <a:rPr lang="en-US"/>
              <a:t>Click to edit Master title style</a:t>
            </a:r>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ctr">
              <a:defRPr>
                <a:solidFill>
                  <a:schemeClr val="bg1"/>
                </a:solidFill>
              </a:defRPr>
            </a:lvl1pPr>
          </a:lstStyle>
          <a:p>
            <a:r>
              <a:rPr lang="en-US"/>
              <a:t>Click to edit Master title style</a:t>
            </a:r>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a:lstStyle>
            <a:lvl1pPr algn="l">
              <a:defRPr>
                <a:solidFill>
                  <a:schemeClr val="tx1"/>
                </a:solidFill>
              </a:defRPr>
            </a:lvl1pPr>
          </a:lstStyle>
          <a:p>
            <a:r>
              <a:rPr lang="en-US"/>
              <a:t>Click to edit Master title style</a:t>
            </a:r>
          </a:p>
        </p:txBody>
      </p:sp>
      <p:sp>
        <p:nvSpPr>
          <p:cNvPr id="9" name="Slide Number Placeholder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7" name="Rectangle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noProof="0"/>
              <a:t>Click icon to add picture</a:t>
            </a:r>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a:r>
              <a:rPr lang="en-US"/>
              <a:t>Add your text here</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a:lstStyle/>
          <a:p>
            <a:fld id="{03DC2DEF-D2FE-4B45-ABA4-9F153FD1C98A}" type="slidenum">
              <a:rPr lang="en-US" smtClean="0"/>
              <a:t>‹#›</a:t>
            </a:fld>
            <a:endParaRPr lang="en-US"/>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a:lstStyle>
            <a:lvl1pPr marL="0" indent="0" algn="ctr">
              <a:buNone/>
              <a:defRPr>
                <a:solidFill>
                  <a:schemeClr val="bg1"/>
                </a:solidFill>
              </a:defRPr>
            </a:lvl1pPr>
          </a:lstStyle>
          <a:p>
            <a:r>
              <a:rPr lang="en-US"/>
              <a:t>Click icon to add picture</a:t>
            </a:r>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a:lstStyle>
            <a:lvl1pPr marL="0" indent="0" algn="ctr">
              <a:buNone/>
              <a:defRPr>
                <a:solidFill>
                  <a:schemeClr val="bg1"/>
                </a:solidFill>
              </a:defRPr>
            </a:lvl1pPr>
          </a:lstStyle>
          <a:p>
            <a:r>
              <a:rPr lang="en-US"/>
              <a:t>Click icon to add picture</a:t>
            </a:r>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a:lstStyle>
            <a:lvl1pPr marL="0" indent="0" algn="ctr">
              <a:buNone/>
              <a:defRPr>
                <a:solidFill>
                  <a:schemeClr val="bg1"/>
                </a:solidFill>
              </a:defRPr>
            </a:lvl1pPr>
          </a:lstStyle>
          <a:p>
            <a:r>
              <a:rPr lang="en-US"/>
              <a:t>Click icon to add picture</a:t>
            </a:r>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a:lstStyle>
            <a:lvl1pPr marL="0" indent="0" algn="ctr">
              <a:buNone/>
              <a:defRPr>
                <a:solidFill>
                  <a:schemeClr val="bg1"/>
                </a:solidFill>
              </a:defRPr>
            </a:lvl1pPr>
          </a:lstStyle>
          <a:p>
            <a:r>
              <a:rPr lang="en-US"/>
              <a:t>Click icon to add picture</a:t>
            </a:r>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6168473" cy="758824"/>
          </a:xfrm>
        </p:spPr>
        <p:txBody>
          <a:bodyPr/>
          <a:lstStyle/>
          <a:p>
            <a:r>
              <a:rPr lang="en-US"/>
              <a:t>Click to edit Master title style</a:t>
            </a:r>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a:normAutofit/>
          </a:bodyPr>
          <a:lstStyle>
            <a:lvl1pPr marL="0" indent="0" algn="ctr">
              <a:buNone/>
              <a:defRPr sz="2000">
                <a:solidFill>
                  <a:schemeClr val="tx1"/>
                </a:solidFill>
              </a:defRPr>
            </a:lvl1pPr>
          </a:lstStyle>
          <a:p>
            <a:r>
              <a:rPr lang="en-US"/>
              <a:t>Click icon to add picture</a:t>
            </a:r>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a:buNone/>
            </a:pPr>
            <a:r>
              <a:rPr lang="en-US"/>
              <a:t>Click icon to add picture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a:normAutofit/>
          </a:bodyPr>
          <a:lstStyle>
            <a:lvl1pPr marL="0" indent="0" algn="ctr">
              <a:buNone/>
              <a:defRPr sz="1600">
                <a:solidFill>
                  <a:schemeClr val="bg1"/>
                </a:solidFill>
              </a:defRPr>
            </a:lvl1pPr>
          </a:lstStyle>
          <a:p>
            <a:r>
              <a:rPr lang="en-US"/>
              <a:t>Click icon to add picture</a:t>
            </a:r>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a:normAutofit/>
          </a:bodyPr>
          <a:lstStyle>
            <a:lvl1pPr marL="0" indent="0" algn="ctr">
              <a:buNone/>
              <a:defRPr sz="1600">
                <a:solidFill>
                  <a:schemeClr val="bg1"/>
                </a:solidFill>
              </a:defRPr>
            </a:lvl1pPr>
          </a:lstStyle>
          <a:p>
            <a:r>
              <a:rPr lang="en-US"/>
              <a:t>Click icon to add picture</a:t>
            </a:r>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a:normAutofit/>
          </a:bodyPr>
          <a:lstStyle>
            <a:lvl1pPr marL="0" indent="0" algn="ctr">
              <a:buNone/>
              <a:defRPr sz="1600">
                <a:solidFill>
                  <a:schemeClr val="bg1"/>
                </a:solidFill>
              </a:defRPr>
            </a:lvl1pPr>
          </a:lstStyle>
          <a:p>
            <a:r>
              <a:rPr lang="en-US"/>
              <a:t>Click icon to add picture</a:t>
            </a:r>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a:normAutofit/>
          </a:bodyPr>
          <a:lstStyle>
            <a:lvl1pPr marL="0" indent="0" algn="ctr">
              <a:buNone/>
              <a:defRPr sz="1600">
                <a:solidFill>
                  <a:schemeClr val="bg1"/>
                </a:solidFill>
              </a:defRPr>
            </a:lvl1pPr>
          </a:lstStyle>
          <a:p>
            <a:r>
              <a:rPr lang="en-US"/>
              <a:t>Click icon to add picture</a:t>
            </a:r>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a:normAutofit/>
          </a:bodyPr>
          <a:lstStyle>
            <a:lvl1pPr marL="0" indent="0" algn="ctr">
              <a:buNone/>
              <a:defRPr sz="1600">
                <a:solidFill>
                  <a:schemeClr val="bg1"/>
                </a:solidFill>
              </a:defRPr>
            </a:lvl1pPr>
          </a:lstStyle>
          <a:p>
            <a:r>
              <a:rPr lang="en-US"/>
              <a:t>Click icon to add picture</a:t>
            </a:r>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a:normAutofit/>
          </a:bodyPr>
          <a:lstStyle>
            <a:lvl1pPr marL="0" indent="0" algn="ctr">
              <a:buNone/>
              <a:defRPr sz="1600">
                <a:solidFill>
                  <a:schemeClr val="bg1"/>
                </a:solidFill>
              </a:defRPr>
            </a:lvl1pPr>
          </a:lstStyle>
          <a:p>
            <a:r>
              <a:rPr lang="en-US"/>
              <a:t>Click icon to add picture</a:t>
            </a:r>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a:normAutofit/>
          </a:bodyPr>
          <a:lstStyle>
            <a:lvl1pPr marL="0" indent="0" algn="ctr">
              <a:buNone/>
              <a:defRPr sz="1600">
                <a:solidFill>
                  <a:schemeClr val="bg1"/>
                </a:solidFill>
              </a:defRPr>
            </a:lvl1pPr>
          </a:lstStyle>
          <a:p>
            <a:r>
              <a:rPr lang="en-US"/>
              <a:t>Click icon to add picture</a:t>
            </a:r>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a:normAutofit/>
          </a:bodyPr>
          <a:lstStyle>
            <a:lvl1pPr marL="0" indent="0" algn="ctr">
              <a:buNone/>
              <a:defRPr sz="1600">
                <a:solidFill>
                  <a:schemeClr val="bg1"/>
                </a:solidFill>
              </a:defRPr>
            </a:lvl1pPr>
          </a:lstStyle>
          <a:p>
            <a:r>
              <a:rPr lang="en-US"/>
              <a:t>Click icon to add picture</a:t>
            </a:r>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a:normAutofit/>
          </a:bodyPr>
          <a:lstStyle>
            <a:lvl1pPr marL="0" indent="0" algn="ctr">
              <a:buNone/>
              <a:defRPr sz="1600">
                <a:solidFill>
                  <a:schemeClr val="bg1"/>
                </a:solidFill>
              </a:defRPr>
            </a:lvl1pPr>
          </a:lstStyle>
          <a:p>
            <a:r>
              <a:rPr lang="en-US"/>
              <a:t>Click icon to add picture</a:t>
            </a:r>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a:normAutofit/>
          </a:bodyPr>
          <a:lstStyle>
            <a:lvl1pPr marL="0" indent="0" algn="ctr">
              <a:buNone/>
              <a:defRPr sz="1600">
                <a:solidFill>
                  <a:schemeClr val="bg1"/>
                </a:solidFill>
              </a:defRPr>
            </a:lvl1pPr>
          </a:lstStyle>
          <a:p>
            <a:r>
              <a:rPr lang="en-US"/>
              <a:t>Click icon to add picture</a:t>
            </a:r>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a:normAutofit/>
          </a:bodyPr>
          <a:lstStyle>
            <a:lvl1pPr marL="0" indent="0" algn="ctr">
              <a:buNone/>
              <a:defRPr sz="1600">
                <a:solidFill>
                  <a:schemeClr val="bg1"/>
                </a:solidFill>
              </a:defRPr>
            </a:lvl1pPr>
          </a:lstStyle>
          <a:p>
            <a:r>
              <a:rPr lang="en-US"/>
              <a:t>Click icon to add picture</a:t>
            </a:r>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a:normAutofit/>
          </a:bodyPr>
          <a:lstStyle>
            <a:lvl1pPr marL="0" indent="0" algn="ctr">
              <a:buNone/>
              <a:defRPr sz="1600">
                <a:solidFill>
                  <a:schemeClr val="bg1"/>
                </a:solidFill>
              </a:defRPr>
            </a:lvl1pPr>
          </a:lstStyle>
          <a:p>
            <a:r>
              <a:rPr lang="en-US"/>
              <a:t>Click icon to add picture</a:t>
            </a:r>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a:normAutofit/>
          </a:bodyPr>
          <a:lstStyle>
            <a:lvl1pPr marL="0" indent="0" algn="ctr">
              <a:buNone/>
              <a:defRPr sz="1600">
                <a:solidFill>
                  <a:schemeClr val="tx1"/>
                </a:solidFill>
              </a:defRPr>
            </a:lvl1pPr>
          </a:lstStyle>
          <a:p>
            <a:r>
              <a:rPr lang="en-US"/>
              <a:t>Click icon to add picture</a:t>
            </a:r>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a:normAutofit/>
          </a:bodyPr>
          <a:lstStyle>
            <a:lvl1pPr marL="0" indent="0" algn="ctr">
              <a:buNone/>
              <a:defRPr sz="1600">
                <a:solidFill>
                  <a:schemeClr val="tx1"/>
                </a:solidFill>
              </a:defRPr>
            </a:lvl1pPr>
          </a:lstStyle>
          <a:p>
            <a:r>
              <a:rPr lang="en-US"/>
              <a:t>Click icon to add picture</a:t>
            </a:r>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a:normAutofit/>
          </a:bodyPr>
          <a:lstStyle>
            <a:lvl1pPr marL="0" indent="0" algn="ctr">
              <a:buNone/>
              <a:defRPr sz="1600">
                <a:solidFill>
                  <a:schemeClr val="tx1"/>
                </a:solidFill>
              </a:defRPr>
            </a:lvl1pPr>
          </a:lstStyle>
          <a:p>
            <a:r>
              <a:rPr lang="en-US"/>
              <a:t>Click icon to add picture</a:t>
            </a:r>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a:normAutofit/>
          </a:bodyPr>
          <a:lstStyle>
            <a:lvl1pPr marL="0" indent="0" algn="ctr">
              <a:buNone/>
              <a:defRPr sz="1600">
                <a:solidFill>
                  <a:schemeClr val="tx1"/>
                </a:solidFill>
              </a:defRPr>
            </a:lvl1pPr>
          </a:lstStyle>
          <a:p>
            <a:r>
              <a:rPr lang="en-US"/>
              <a:t>Click icon to add picture</a:t>
            </a:r>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Add your text here</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a:normAutofit/>
          </a:bodyPr>
          <a:lstStyle>
            <a:lvl1pPr marL="0" indent="0" algn="ctr">
              <a:buNone/>
              <a:defRPr sz="2000"/>
            </a:lvl1pPr>
          </a:lstStyle>
          <a:p>
            <a:r>
              <a:rPr lang="en-US"/>
              <a:t>Click icon to add chart</a:t>
            </a:r>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a:normAutofit/>
          </a:bodyPr>
          <a:lstStyle>
            <a:lvl1pPr marL="0" indent="0" algn="ctr">
              <a:buNone/>
              <a:defRPr sz="2000"/>
            </a:lvl1pPr>
          </a:lstStyle>
          <a:p>
            <a:r>
              <a:rPr lang="en-US"/>
              <a:t>Click icon to add chart</a:t>
            </a:r>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a:normAutofit/>
          </a:bodyPr>
          <a:lstStyle>
            <a:lvl1pPr marL="0" indent="0" algn="ctr">
              <a:buNone/>
              <a:defRPr sz="2000"/>
            </a:lvl1pPr>
          </a:lstStyle>
          <a:p>
            <a:r>
              <a:rPr lang="en-US"/>
              <a:t>Click icon to add chart</a:t>
            </a:r>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a:normAutofit/>
          </a:bodyPr>
          <a:lstStyle>
            <a:lvl1pPr marL="0" indent="0" algn="ctr">
              <a:buNone/>
              <a:defRPr sz="2000"/>
            </a:lvl1pPr>
          </a:lstStyle>
          <a:p>
            <a:r>
              <a:rPr lang="en-US"/>
              <a:t>Click icon to add picture</a:t>
            </a:r>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a:normAutofit/>
          </a:bodyPr>
          <a:lstStyle>
            <a:lvl1pPr marL="0" indent="0" algn="ctr">
              <a:buNone/>
              <a:defRPr sz="2000"/>
            </a:lvl1pPr>
          </a:lstStyle>
          <a:p>
            <a:r>
              <a:rPr lang="en-US"/>
              <a:t>Click icon to add chart</a:t>
            </a:r>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a:normAutofit/>
          </a:bodyPr>
          <a:lstStyle>
            <a:lvl1pPr marL="0" indent="0" algn="ctr">
              <a:buNone/>
              <a:defRPr sz="2000"/>
            </a:lvl1pPr>
          </a:lstStyle>
          <a:p>
            <a:r>
              <a:rPr lang="en-US"/>
              <a:t>Click icon to add chart</a:t>
            </a:r>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a:lstStyle/>
          <a:p>
            <a:r>
              <a:rPr lang="en-US"/>
              <a:t>Click to edit Master title style</a:t>
            </a:r>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a:lstStyle/>
          <a:p>
            <a:fld id="{03DC2DEF-D2FE-4B45-ABA4-9F153FD1C98A}" type="slidenum">
              <a:rPr lang="en-US" smtClean="0"/>
              <a:t>‹#›</a:t>
            </a:fld>
            <a:endParaRPr lang="en-US"/>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a:normAutofit/>
          </a:bodyPr>
          <a:lstStyle>
            <a:lvl1pPr marL="0" indent="0" algn="ctr">
              <a:buNone/>
              <a:defRPr sz="2000"/>
            </a:lvl1pPr>
          </a:lstStyle>
          <a:p>
            <a:r>
              <a:rPr lang="en-US"/>
              <a:t>Click icon to add chart</a:t>
            </a:r>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a:normAutofit/>
          </a:bodyPr>
          <a:lstStyle>
            <a:lvl1pPr marL="0" indent="0" algn="ctr">
              <a:buNone/>
              <a:defRPr sz="2000"/>
            </a:lvl1pPr>
          </a:lstStyle>
          <a:p>
            <a:r>
              <a:rPr lang="en-US"/>
              <a:t>Click icon to add chart</a:t>
            </a:r>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a:normAutofit/>
          </a:bodyPr>
          <a:lstStyle>
            <a:lvl1pPr marL="0" indent="0" algn="ctr">
              <a:buNone/>
              <a:defRPr sz="2000"/>
            </a:lvl1pPr>
          </a:lstStyle>
          <a:p>
            <a:r>
              <a:rPr lang="en-US"/>
              <a:t>Click icon to add chart</a:t>
            </a:r>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a:normAutofit/>
          </a:bodyPr>
          <a:lstStyle>
            <a:lvl1pPr marL="0" indent="0" algn="ctr">
              <a:buNone/>
              <a:defRPr sz="2000"/>
            </a:lvl1pPr>
          </a:lstStyle>
          <a:p>
            <a:r>
              <a:rPr lang="en-US"/>
              <a:t>Click icon to add chart</a:t>
            </a:r>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a:normAutofit/>
          </a:bodyPr>
          <a:lstStyle>
            <a:lvl1pPr marL="0" indent="0" algn="ctr">
              <a:buNone/>
              <a:defRPr sz="1800"/>
            </a:lvl1pPr>
          </a:lstStyle>
          <a:p>
            <a:r>
              <a:rPr lang="en-US"/>
              <a:t>Click icon to add picture</a:t>
            </a:r>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anchor="ctr">
            <a:normAutofit/>
          </a:bodyPr>
          <a:lstStyle>
            <a:lvl1pPr algn="ctr">
              <a:defRPr sz="11500">
                <a:solidFill>
                  <a:schemeClr val="tx1"/>
                </a:solidFill>
              </a:defRPr>
            </a:lvl1pPr>
          </a:lstStyle>
          <a:p>
            <a:r>
              <a:rPr lang="en-US"/>
              <a:t>Thank You</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a:lstStyle/>
          <a:p>
            <a:fld id="{03DC2DEF-D2FE-4B45-ABA4-9F153FD1C98A}" type="slidenum">
              <a:rPr lang="en-US" smtClean="0"/>
              <a:t>‹#›</a:t>
            </a:fld>
            <a:endParaRPr lang="en-US"/>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a:lstStyle/>
          <a:p>
            <a:fld id="{03DC2DEF-D2FE-4B45-ABA4-9F153FD1C98A}" type="slidenum">
              <a:rPr lang="en-US" smtClean="0"/>
              <a:t>‹#›</a:t>
            </a:fld>
            <a:endParaRPr lang="en-US"/>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fld id="{03DC2DEF-D2FE-4B45-ABA4-9F153FD1C98A}" type="slidenum">
              <a:rPr lang="en-US" smtClean="0"/>
              <a:pPr/>
              <a:t>‹#›</a:t>
            </a:fld>
            <a:endParaRPr lang="en-US"/>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41.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svg"/><Relationship Id="rId7" Type="http://schemas.openxmlformats.org/officeDocument/2006/relationships/image" Target="../media/image28.svg"/><Relationship Id="rId2" Type="http://schemas.openxmlformats.org/officeDocument/2006/relationships/image" Target="../media/image23.png"/><Relationship Id="rId1" Type="http://schemas.openxmlformats.org/officeDocument/2006/relationships/slideLayout" Target="../slideLayouts/slideLayout38.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30.svg"/></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6.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2.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6.xml"/></Relationships>
</file>

<file path=ppt/slides/_rels/slide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51CEBEB-5088-4E63-81A4-0DCEB5B45207}"/>
              </a:ext>
              <a:ext uri="{C183D7F6-B498-43B3-948B-1728B52AA6E4}">
                <adec:decorative xmlns:adec="http://schemas.microsoft.com/office/drawing/2017/decorative" val="1"/>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a:xfrm>
            <a:off x="30370" y="100750"/>
            <a:ext cx="6034088" cy="6857999"/>
          </a:xfrm>
        </p:spPr>
      </p:pic>
      <p:sp>
        <p:nvSpPr>
          <p:cNvPr id="3" name="Title 2">
            <a:extLst>
              <a:ext uri="{FF2B5EF4-FFF2-40B4-BE49-F238E27FC236}">
                <a16:creationId xmlns:a16="http://schemas.microsoft.com/office/drawing/2014/main" id="{3D71C9CD-CAE8-4AC8-936D-333769D479E5}"/>
              </a:ext>
            </a:extLst>
          </p:cNvPr>
          <p:cNvSpPr>
            <a:spLocks noGrp="1"/>
          </p:cNvSpPr>
          <p:nvPr>
            <p:ph type="ctrTitle"/>
          </p:nvPr>
        </p:nvSpPr>
        <p:spPr/>
        <p:txBody>
          <a:bodyPr/>
          <a:lstStyle/>
          <a:p>
            <a:r>
              <a:rPr lang="en-US"/>
              <a:t>BIG DATA?</a:t>
            </a:r>
          </a:p>
        </p:txBody>
      </p:sp>
      <p:sp>
        <p:nvSpPr>
          <p:cNvPr id="4" name="Subtitle 3">
            <a:extLst>
              <a:ext uri="{FF2B5EF4-FFF2-40B4-BE49-F238E27FC236}">
                <a16:creationId xmlns:a16="http://schemas.microsoft.com/office/drawing/2014/main" id="{C6D24F99-E026-485A-96CD-AEC98137262A}"/>
              </a:ext>
            </a:extLst>
          </p:cNvPr>
          <p:cNvSpPr>
            <a:spLocks noGrp="1"/>
          </p:cNvSpPr>
          <p:nvPr>
            <p:ph type="subTitle" idx="1"/>
          </p:nvPr>
        </p:nvSpPr>
        <p:spPr/>
        <p:txBody>
          <a:bodyPr/>
          <a:lstStyle/>
          <a:p>
            <a:r>
              <a:rPr lang="en-US" b="1"/>
              <a:t>Dr. SIVA PRIYA M S</a:t>
            </a:r>
          </a:p>
        </p:txBody>
      </p:sp>
    </p:spTree>
    <p:extLst>
      <p:ext uri="{BB962C8B-B14F-4D97-AF65-F5344CB8AC3E}">
        <p14:creationId xmlns:p14="http://schemas.microsoft.com/office/powerpoint/2010/main" val="149549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E253D32-8B7B-47D0-BB63-402C3DB9B549}"/>
              </a:ext>
            </a:extLst>
          </p:cNvPr>
          <p:cNvSpPr>
            <a:spLocks noGrp="1"/>
          </p:cNvSpPr>
          <p:nvPr>
            <p:ph type="title"/>
          </p:nvPr>
        </p:nvSpPr>
        <p:spPr/>
        <p:txBody>
          <a:bodyPr/>
          <a:lstStyle/>
          <a:p>
            <a:r>
              <a:rPr lang="en-US"/>
              <a:t>WHAT IS BIG DATA?</a:t>
            </a:r>
          </a:p>
        </p:txBody>
      </p:sp>
      <p:sp>
        <p:nvSpPr>
          <p:cNvPr id="7" name="Content Placeholder 6">
            <a:extLst>
              <a:ext uri="{FF2B5EF4-FFF2-40B4-BE49-F238E27FC236}">
                <a16:creationId xmlns:a16="http://schemas.microsoft.com/office/drawing/2014/main" id="{1D6EB617-E017-4B26-9576-8578E948979A}"/>
              </a:ext>
            </a:extLst>
          </p:cNvPr>
          <p:cNvSpPr>
            <a:spLocks noGrp="1"/>
          </p:cNvSpPr>
          <p:nvPr>
            <p:ph idx="1"/>
          </p:nvPr>
        </p:nvSpPr>
        <p:spPr/>
        <p:txBody>
          <a:bodyPr/>
          <a:lstStyle/>
          <a:p>
            <a:r>
              <a:rPr lang="en-US" b="1"/>
              <a:t>Extremely large datasets </a:t>
            </a:r>
          </a:p>
          <a:p>
            <a:r>
              <a:rPr lang="en-US" b="1"/>
              <a:t>That are too complex </a:t>
            </a:r>
          </a:p>
          <a:p>
            <a:r>
              <a:rPr lang="en-US" b="1"/>
              <a:t>Too voluminous to be processed analyzed using traditional data-processing techniques</a:t>
            </a:r>
          </a:p>
          <a:p>
            <a:endParaRPr lang="en-US" b="1"/>
          </a:p>
        </p:txBody>
      </p:sp>
      <p:sp>
        <p:nvSpPr>
          <p:cNvPr id="4" name="Slide Number Placeholder 3">
            <a:extLst>
              <a:ext uri="{FF2B5EF4-FFF2-40B4-BE49-F238E27FC236}">
                <a16:creationId xmlns:a16="http://schemas.microsoft.com/office/drawing/2014/main" id="{D4C183CA-19AD-485E-AEC5-FC032D453828}"/>
              </a:ext>
            </a:extLst>
          </p:cNvPr>
          <p:cNvSpPr>
            <a:spLocks noGrp="1"/>
          </p:cNvSpPr>
          <p:nvPr>
            <p:ph type="sldNum" sz="quarter" idx="12"/>
          </p:nvPr>
        </p:nvSpPr>
        <p:spPr/>
        <p:txBody>
          <a:bodyPr/>
          <a:lstStyle/>
          <a:p>
            <a:fld id="{03DC2DEF-D2FE-4B45-ABA4-9F153FD1C98A}" type="slidenum">
              <a:rPr lang="en-US" smtClean="0"/>
              <a:t>2</a:t>
            </a:fld>
            <a:endParaRPr lang="en-US"/>
          </a:p>
        </p:txBody>
      </p:sp>
      <p:pic>
        <p:nvPicPr>
          <p:cNvPr id="10" name="Picture Placeholder 9">
            <a:extLst>
              <a:ext uri="{FF2B5EF4-FFF2-40B4-BE49-F238E27FC236}">
                <a16:creationId xmlns:a16="http://schemas.microsoft.com/office/drawing/2014/main" id="{618DD966-19F0-4350-AC58-AE86C210BDD3}"/>
              </a:ext>
              <a:ext uri="{C183D7F6-B498-43B3-948B-1728B52AA6E4}">
                <adec:decorative xmlns:adec="http://schemas.microsoft.com/office/drawing/2017/decorative" val="1"/>
              </a:ext>
            </a:extLst>
          </p:cNvPr>
          <p:cNvPicPr>
            <a:picLocks noGrp="1" noChangeAspect="1"/>
          </p:cNvPicPr>
          <p:nvPr>
            <p:ph type="pic" sz="quarter" idx="13"/>
          </p:nvPr>
        </p:nvPicPr>
        <p:blipFill>
          <a:blip r:embed="rId2"/>
          <a:srcRect/>
          <a:stretch/>
        </p:blipFill>
        <p:spPr>
          <a:xfrm>
            <a:off x="1117601" y="1547459"/>
            <a:ext cx="5138058" cy="3419144"/>
          </a:xfrm>
        </p:spPr>
      </p:pic>
    </p:spTree>
    <p:extLst>
      <p:ext uri="{BB962C8B-B14F-4D97-AF65-F5344CB8AC3E}">
        <p14:creationId xmlns:p14="http://schemas.microsoft.com/office/powerpoint/2010/main" val="130031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F3494C0-ABDD-4C4D-8C46-49B8F20CC7E9}"/>
              </a:ext>
            </a:extLst>
          </p:cNvPr>
          <p:cNvSpPr>
            <a:spLocks noGrp="1"/>
          </p:cNvSpPr>
          <p:nvPr>
            <p:ph type="title"/>
          </p:nvPr>
        </p:nvSpPr>
        <p:spPr/>
        <p:txBody>
          <a:bodyPr/>
          <a:lstStyle/>
          <a:p>
            <a:r>
              <a:rPr lang="en-US"/>
              <a:t>BIG DATA OVERVIEW</a:t>
            </a:r>
          </a:p>
        </p:txBody>
      </p:sp>
      <p:sp>
        <p:nvSpPr>
          <p:cNvPr id="3" name="Slide Number Placeholder 2">
            <a:extLst>
              <a:ext uri="{FF2B5EF4-FFF2-40B4-BE49-F238E27FC236}">
                <a16:creationId xmlns:a16="http://schemas.microsoft.com/office/drawing/2014/main" id="{C9D622C3-EE4F-4FB9-94FB-550563528286}"/>
              </a:ext>
            </a:extLst>
          </p:cNvPr>
          <p:cNvSpPr>
            <a:spLocks noGrp="1"/>
          </p:cNvSpPr>
          <p:nvPr>
            <p:ph type="sldNum" sz="quarter" idx="12"/>
          </p:nvPr>
        </p:nvSpPr>
        <p:spPr/>
        <p:txBody>
          <a:bodyPr/>
          <a:lstStyle/>
          <a:p>
            <a:fld id="{03DC2DEF-D2FE-4B45-ABA4-9F153FD1C98A}" type="slidenum">
              <a:rPr lang="en-US" smtClean="0"/>
              <a:t>3</a:t>
            </a:fld>
            <a:endParaRPr lang="en-US"/>
          </a:p>
        </p:txBody>
      </p:sp>
      <p:pic>
        <p:nvPicPr>
          <p:cNvPr id="8" name="Picture Placeholder 7">
            <a:extLst>
              <a:ext uri="{FF2B5EF4-FFF2-40B4-BE49-F238E27FC236}">
                <a16:creationId xmlns:a16="http://schemas.microsoft.com/office/drawing/2014/main" id="{2DE860BC-070C-49AE-AF30-7F05D59402B6}"/>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346288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E9CF-E38C-4F80-BEC5-7A61C9722BF7}"/>
              </a:ext>
            </a:extLst>
          </p:cNvPr>
          <p:cNvSpPr>
            <a:spLocks noGrp="1"/>
          </p:cNvSpPr>
          <p:nvPr>
            <p:ph type="title"/>
          </p:nvPr>
        </p:nvSpPr>
        <p:spPr>
          <a:xfrm>
            <a:off x="371476" y="490330"/>
            <a:ext cx="5495926" cy="1802295"/>
          </a:xfrm>
        </p:spPr>
        <p:txBody>
          <a:bodyPr/>
          <a:lstStyle/>
          <a:p>
            <a:r>
              <a:rPr lang="en-US" sz="2800">
                <a:effectLst/>
                <a:latin typeface="Cambria" panose="02040503050406030204" pitchFamily="18" charset="0"/>
                <a:ea typeface="Calibri" panose="020F0502020204030204" pitchFamily="34" charset="0"/>
                <a:cs typeface="Times New Roman" panose="02020603050405020304" pitchFamily="18" charset="0"/>
              </a:rPr>
              <a:t>Big Data is a collection of data that is huge in volume, yet growing exponentially with time.</a:t>
            </a:r>
            <a:endParaRPr lang="en-IN" sz="2800"/>
          </a:p>
        </p:txBody>
      </p:sp>
      <p:sp>
        <p:nvSpPr>
          <p:cNvPr id="3" name="Content Placeholder 2">
            <a:extLst>
              <a:ext uri="{FF2B5EF4-FFF2-40B4-BE49-F238E27FC236}">
                <a16:creationId xmlns:a16="http://schemas.microsoft.com/office/drawing/2014/main" id="{8F25D1D0-0F47-4AF8-AFF7-060D3BC0E520}"/>
              </a:ext>
            </a:extLst>
          </p:cNvPr>
          <p:cNvSpPr>
            <a:spLocks noGrp="1"/>
          </p:cNvSpPr>
          <p:nvPr>
            <p:ph idx="1"/>
          </p:nvPr>
        </p:nvSpPr>
        <p:spPr/>
        <p:txBody>
          <a:bodyPr/>
          <a:lstStyle/>
          <a:p>
            <a:r>
              <a:rPr lang="en-IN" b="1"/>
              <a:t>Sources of Big Data</a:t>
            </a:r>
          </a:p>
          <a:p>
            <a:endParaRPr lang="en-IN" b="1"/>
          </a:p>
        </p:txBody>
      </p:sp>
      <p:sp>
        <p:nvSpPr>
          <p:cNvPr id="4" name="Slide Number Placeholder 3">
            <a:extLst>
              <a:ext uri="{FF2B5EF4-FFF2-40B4-BE49-F238E27FC236}">
                <a16:creationId xmlns:a16="http://schemas.microsoft.com/office/drawing/2014/main" id="{55CFDAB6-DC75-42C9-ACA7-F713DB9B057F}"/>
              </a:ext>
            </a:extLst>
          </p:cNvPr>
          <p:cNvSpPr>
            <a:spLocks noGrp="1"/>
          </p:cNvSpPr>
          <p:nvPr>
            <p:ph type="sldNum" sz="quarter" idx="12"/>
          </p:nvPr>
        </p:nvSpPr>
        <p:spPr/>
        <p:txBody>
          <a:bodyPr/>
          <a:lstStyle/>
          <a:p>
            <a:fld id="{03DC2DEF-D2FE-4B45-ABA4-9F153FD1C98A}" type="slidenum">
              <a:rPr lang="en-US" noProof="0" smtClean="0"/>
              <a:t>4</a:t>
            </a:fld>
            <a:endParaRPr lang="en-US" noProof="0"/>
          </a:p>
        </p:txBody>
      </p:sp>
      <p:pic>
        <p:nvPicPr>
          <p:cNvPr id="9" name="Picture Placeholder 8">
            <a:extLst>
              <a:ext uri="{FF2B5EF4-FFF2-40B4-BE49-F238E27FC236}">
                <a16:creationId xmlns:a16="http://schemas.microsoft.com/office/drawing/2014/main" id="{DD4AB1EB-A93D-4BA7-B0FA-F22EAFC56837}"/>
              </a:ext>
            </a:extLst>
          </p:cNvPr>
          <p:cNvPicPr>
            <a:picLocks noGrp="1" noChangeAspect="1"/>
          </p:cNvPicPr>
          <p:nvPr>
            <p:ph type="pic" sz="quarter" idx="10"/>
          </p:nvPr>
        </p:nvPicPr>
        <p:blipFill>
          <a:blip r:embed="rId2"/>
          <a:srcRect l="5155" r="5155"/>
          <a:stretch>
            <a:fillRect/>
          </a:stretch>
        </p:blipFill>
        <p:spPr/>
      </p:pic>
      <p:sp>
        <p:nvSpPr>
          <p:cNvPr id="6" name="Picture Placeholder 5">
            <a:extLst>
              <a:ext uri="{FF2B5EF4-FFF2-40B4-BE49-F238E27FC236}">
                <a16:creationId xmlns:a16="http://schemas.microsoft.com/office/drawing/2014/main" id="{2940B155-02A8-41D0-87C1-502C9FD76217}"/>
              </a:ext>
            </a:extLst>
          </p:cNvPr>
          <p:cNvSpPr>
            <a:spLocks noGrp="1"/>
          </p:cNvSpPr>
          <p:nvPr>
            <p:ph type="pic" sz="quarter" idx="11"/>
          </p:nvPr>
        </p:nvSpPr>
        <p:spPr/>
      </p:sp>
      <p:sp>
        <p:nvSpPr>
          <p:cNvPr id="7" name="Rectangle 1">
            <a:extLst>
              <a:ext uri="{FF2B5EF4-FFF2-40B4-BE49-F238E27FC236}">
                <a16:creationId xmlns:a16="http://schemas.microsoft.com/office/drawing/2014/main" id="{599A3C62-0645-4A68-AD49-7BF832754D83}"/>
              </a:ext>
            </a:extLst>
          </p:cNvPr>
          <p:cNvSpPr>
            <a:spLocks noChangeArrowheads="1"/>
          </p:cNvSpPr>
          <p:nvPr/>
        </p:nvSpPr>
        <p:spPr bwMode="auto">
          <a:xfrm>
            <a:off x="262975" y="2827909"/>
            <a:ext cx="5475602"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Social media platforms (e.g., Facebook, Twitter)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Sensor networks (e.g., IoT devices)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Transactional data (e.g., e-commerce transactions)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Log files (e.g., server logs)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Medical records and genomic data </a:t>
            </a:r>
          </a:p>
        </p:txBody>
      </p:sp>
      <p:pic>
        <p:nvPicPr>
          <p:cNvPr id="1027" name="Picture 3" descr="Top 20 Social Media Advantages and ...">
            <a:extLst>
              <a:ext uri="{FF2B5EF4-FFF2-40B4-BE49-F238E27FC236}">
                <a16:creationId xmlns:a16="http://schemas.microsoft.com/office/drawing/2014/main" id="{6CB8A4B9-9B59-48B1-A6D5-3A5DADE03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0632" y="3419823"/>
            <a:ext cx="2730591" cy="2782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15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7758-7D56-4611-9F3C-EEC18578DB1B}"/>
              </a:ext>
            </a:extLst>
          </p:cNvPr>
          <p:cNvSpPr>
            <a:spLocks noGrp="1"/>
          </p:cNvSpPr>
          <p:nvPr>
            <p:ph type="title"/>
          </p:nvPr>
        </p:nvSpPr>
        <p:spPr/>
        <p:txBody>
          <a:bodyPr>
            <a:normAutofit/>
          </a:bodyPr>
          <a:lstStyle/>
          <a:p>
            <a:r>
              <a:rPr lang="en-US"/>
              <a:t>BUSINESS INTELLIGENCE</a:t>
            </a:r>
            <a:endParaRPr lang="en-IN"/>
          </a:p>
        </p:txBody>
      </p:sp>
      <p:sp>
        <p:nvSpPr>
          <p:cNvPr id="3" name="Content Placeholder 2">
            <a:extLst>
              <a:ext uri="{FF2B5EF4-FFF2-40B4-BE49-F238E27FC236}">
                <a16:creationId xmlns:a16="http://schemas.microsoft.com/office/drawing/2014/main" id="{5CB932DC-3F33-4BCB-AD5B-E913D37F024E}"/>
              </a:ext>
            </a:extLst>
          </p:cNvPr>
          <p:cNvSpPr>
            <a:spLocks noGrp="1"/>
          </p:cNvSpPr>
          <p:nvPr>
            <p:ph idx="1"/>
          </p:nvPr>
        </p:nvSpPr>
        <p:spPr/>
        <p:txBody>
          <a:bodyPr/>
          <a:lstStyle/>
          <a:p>
            <a:r>
              <a:rPr lang="en-US" b="1"/>
              <a:t>Uses Data To Provide Insight Into The Business Records</a:t>
            </a:r>
          </a:p>
          <a:p>
            <a:r>
              <a:rPr lang="en-US" b="1"/>
              <a:t> It helps the team to evaluate the journey efficiently and gauge the direction where the company is heading towards</a:t>
            </a:r>
            <a:endParaRPr lang="en-IN" b="1"/>
          </a:p>
        </p:txBody>
      </p:sp>
      <p:sp>
        <p:nvSpPr>
          <p:cNvPr id="4" name="Slide Number Placeholder 3">
            <a:extLst>
              <a:ext uri="{FF2B5EF4-FFF2-40B4-BE49-F238E27FC236}">
                <a16:creationId xmlns:a16="http://schemas.microsoft.com/office/drawing/2014/main" id="{A4D65651-C52B-4271-9108-1AE3BBC83B44}"/>
              </a:ext>
            </a:extLst>
          </p:cNvPr>
          <p:cNvSpPr>
            <a:spLocks noGrp="1"/>
          </p:cNvSpPr>
          <p:nvPr>
            <p:ph type="sldNum" sz="quarter" idx="12"/>
          </p:nvPr>
        </p:nvSpPr>
        <p:spPr/>
        <p:txBody>
          <a:bodyPr/>
          <a:lstStyle/>
          <a:p>
            <a:fld id="{03DC2DEF-D2FE-4B45-ABA4-9F153FD1C98A}" type="slidenum">
              <a:rPr lang="en-US" smtClean="0"/>
              <a:t>5</a:t>
            </a:fld>
            <a:endParaRPr lang="en-US"/>
          </a:p>
        </p:txBody>
      </p:sp>
      <p:pic>
        <p:nvPicPr>
          <p:cNvPr id="7" name="Picture Placeholder 6">
            <a:extLst>
              <a:ext uri="{FF2B5EF4-FFF2-40B4-BE49-F238E27FC236}">
                <a16:creationId xmlns:a16="http://schemas.microsoft.com/office/drawing/2014/main" id="{44458E56-F451-47F5-B50F-7D018DDB24E9}"/>
              </a:ext>
            </a:extLst>
          </p:cNvPr>
          <p:cNvPicPr>
            <a:picLocks noGrp="1" noChangeAspect="1"/>
          </p:cNvPicPr>
          <p:nvPr>
            <p:ph type="pic" sz="quarter" idx="13"/>
          </p:nvPr>
        </p:nvPicPr>
        <p:blipFill>
          <a:blip r:embed="rId2"/>
          <a:srcRect l="9317" r="9317"/>
          <a:stretch>
            <a:fillRect/>
          </a:stretch>
        </p:blipFill>
        <p:spPr/>
      </p:pic>
    </p:spTree>
    <p:extLst>
      <p:ext uri="{BB962C8B-B14F-4D97-AF65-F5344CB8AC3E}">
        <p14:creationId xmlns:p14="http://schemas.microsoft.com/office/powerpoint/2010/main" val="510039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B69E8C9A-5A41-495A-AD15-16B58516F31D}"/>
              </a:ext>
            </a:extLst>
          </p:cNvPr>
          <p:cNvPicPr>
            <a:picLocks noGrp="1" noChangeAspect="1"/>
          </p:cNvPicPr>
          <p:nvPr>
            <p:ph type="pic" sz="quarter" idx="13"/>
          </p:nvPr>
        </p:nvPicPr>
        <p:blipFill>
          <a:blip r:embed="rId2"/>
          <a:srcRect t="14427" b="14427"/>
          <a:stretch>
            <a:fillRect/>
          </a:stretch>
        </p:blipFill>
        <p:spPr/>
      </p:pic>
      <p:sp>
        <p:nvSpPr>
          <p:cNvPr id="5" name="Title 1">
            <a:extLst>
              <a:ext uri="{FF2B5EF4-FFF2-40B4-BE49-F238E27FC236}">
                <a16:creationId xmlns:a16="http://schemas.microsoft.com/office/drawing/2014/main" id="{FB69D51F-D141-4A3E-8249-90F778E1C88A}"/>
              </a:ext>
            </a:extLst>
          </p:cNvPr>
          <p:cNvSpPr txBox="1">
            <a:spLocks/>
          </p:cNvSpPr>
          <p:nvPr/>
        </p:nvSpPr>
        <p:spPr>
          <a:xfrm>
            <a:off x="1244600" y="260351"/>
            <a:ext cx="9702800" cy="973137"/>
          </a:xfrm>
          <a:prstGeom prst="rect">
            <a:avLst/>
          </a:prstGeom>
        </p:spPr>
        <p:txBody>
          <a:bodyPr>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a:t>BUSINESS INTELLIGENCE TOOL EXAMPLE</a:t>
            </a:r>
            <a:endParaRPr lang="en-IN"/>
          </a:p>
        </p:txBody>
      </p:sp>
    </p:spTree>
    <p:extLst>
      <p:ext uri="{BB962C8B-B14F-4D97-AF65-F5344CB8AC3E}">
        <p14:creationId xmlns:p14="http://schemas.microsoft.com/office/powerpoint/2010/main" val="1225503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5709BD9-2B82-45E7-B0DD-8AB7D978EBDB}"/>
              </a:ext>
            </a:extLst>
          </p:cNvPr>
          <p:cNvPicPr>
            <a:picLocks noGrp="1" noChangeAspect="1"/>
          </p:cNvPicPr>
          <p:nvPr>
            <p:ph type="pic" sz="quarter" idx="13"/>
          </p:nvPr>
        </p:nvPicPr>
        <p:blipFill>
          <a:blip r:embed="rId2"/>
          <a:srcRect t="11225" b="11225"/>
          <a:stretch>
            <a:fillRect/>
          </a:stretch>
        </p:blipFill>
        <p:spPr/>
      </p:pic>
      <p:sp>
        <p:nvSpPr>
          <p:cNvPr id="3" name="Title 1">
            <a:extLst>
              <a:ext uri="{FF2B5EF4-FFF2-40B4-BE49-F238E27FC236}">
                <a16:creationId xmlns:a16="http://schemas.microsoft.com/office/drawing/2014/main" id="{CA506B5C-5814-4E84-BE74-BFA2576FE343}"/>
              </a:ext>
            </a:extLst>
          </p:cNvPr>
          <p:cNvSpPr txBox="1">
            <a:spLocks/>
          </p:cNvSpPr>
          <p:nvPr/>
        </p:nvSpPr>
        <p:spPr>
          <a:xfrm>
            <a:off x="1244600" y="260351"/>
            <a:ext cx="9702800" cy="973137"/>
          </a:xfrm>
          <a:prstGeom prst="rect">
            <a:avLst/>
          </a:prstGeom>
        </p:spPr>
        <p:txBody>
          <a:bodyPr>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a:t>BUSINESS INTELLIGENCE TOOL EXAMPLE</a:t>
            </a:r>
            <a:endParaRPr lang="en-IN"/>
          </a:p>
        </p:txBody>
      </p:sp>
    </p:spTree>
    <p:extLst>
      <p:ext uri="{BB962C8B-B14F-4D97-AF65-F5344CB8AC3E}">
        <p14:creationId xmlns:p14="http://schemas.microsoft.com/office/powerpoint/2010/main" val="3265769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0179762-A5A5-4C7E-87FF-2C6A1828C802}"/>
              </a:ext>
            </a:extLst>
          </p:cNvPr>
          <p:cNvSpPr>
            <a:spLocks noGrp="1"/>
          </p:cNvSpPr>
          <p:nvPr>
            <p:ph type="pic" sz="quarter" idx="13"/>
          </p:nvPr>
        </p:nvSpPr>
        <p:spPr/>
      </p:sp>
      <p:pic>
        <p:nvPicPr>
          <p:cNvPr id="1028" name="Picture 4">
            <a:extLst>
              <a:ext uri="{FF2B5EF4-FFF2-40B4-BE49-F238E27FC236}">
                <a16:creationId xmlns:a16="http://schemas.microsoft.com/office/drawing/2014/main" id="{43C5C9F3-87F3-42EF-90FB-CB93C40E2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8626"/>
            <a:ext cx="12192000" cy="5646462"/>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C8E600B7-1E8F-4D73-9A9F-C66C596BB89F}"/>
              </a:ext>
            </a:extLst>
          </p:cNvPr>
          <p:cNvSpPr txBox="1">
            <a:spLocks/>
          </p:cNvSpPr>
          <p:nvPr/>
        </p:nvSpPr>
        <p:spPr>
          <a:xfrm>
            <a:off x="1244600" y="21815"/>
            <a:ext cx="9702800" cy="973137"/>
          </a:xfrm>
          <a:prstGeom prst="rect">
            <a:avLst/>
          </a:prstGeom>
        </p:spPr>
        <p:txBody>
          <a:bodyPr>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a:t>BUSINESS INTELLIGENCE TOOL EXAMPLE</a:t>
            </a:r>
            <a:endParaRPr lang="en-IN"/>
          </a:p>
        </p:txBody>
      </p:sp>
    </p:spTree>
    <p:extLst>
      <p:ext uri="{BB962C8B-B14F-4D97-AF65-F5344CB8AC3E}">
        <p14:creationId xmlns:p14="http://schemas.microsoft.com/office/powerpoint/2010/main" val="2276288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596BE95-BA5E-4908-83FC-BFB24D18CEEA}"/>
              </a:ext>
            </a:extLst>
          </p:cNvPr>
          <p:cNvSpPr txBox="1">
            <a:spLocks/>
          </p:cNvSpPr>
          <p:nvPr/>
        </p:nvSpPr>
        <p:spPr>
          <a:xfrm>
            <a:off x="1244600" y="260351"/>
            <a:ext cx="9702800" cy="973137"/>
          </a:xfrm>
          <a:prstGeom prst="rect">
            <a:avLst/>
          </a:prstGeom>
        </p:spPr>
        <p:txBody>
          <a:bodyPr>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a:t>BUSINESS INTELLIGENCE TOOL EXAMPLE</a:t>
            </a:r>
            <a:endParaRPr lang="en-IN"/>
          </a:p>
        </p:txBody>
      </p:sp>
      <p:pic>
        <p:nvPicPr>
          <p:cNvPr id="2052" name="Picture 4" descr="Top 10 Business Intelligence Tools with Features">
            <a:extLst>
              <a:ext uri="{FF2B5EF4-FFF2-40B4-BE49-F238E27FC236}">
                <a16:creationId xmlns:a16="http://schemas.microsoft.com/office/drawing/2014/main" id="{6555AF03-B813-4D11-833C-3E03EA2907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495"/>
          <a:stretch/>
        </p:blipFill>
        <p:spPr bwMode="auto">
          <a:xfrm>
            <a:off x="381000" y="1364974"/>
            <a:ext cx="10273748" cy="5054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132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E948F-052B-4D73-A6B8-9CD2EC909771}"/>
              </a:ext>
            </a:extLst>
          </p:cNvPr>
          <p:cNvSpPr>
            <a:spLocks noGrp="1"/>
          </p:cNvSpPr>
          <p:nvPr>
            <p:ph type="title"/>
          </p:nvPr>
        </p:nvSpPr>
        <p:spPr/>
        <p:txBody>
          <a:bodyPr>
            <a:normAutofit fontScale="90000"/>
          </a:bodyPr>
          <a:lstStyle/>
          <a:p>
            <a:r>
              <a:rPr lang="en-US"/>
              <a:t>BUSINESS INTELLIGENCE Vs DATA ANALYTICS</a:t>
            </a:r>
            <a:endParaRPr lang="en-IN"/>
          </a:p>
        </p:txBody>
      </p:sp>
      <p:sp>
        <p:nvSpPr>
          <p:cNvPr id="3" name="Content Placeholder 2">
            <a:extLst>
              <a:ext uri="{FF2B5EF4-FFF2-40B4-BE49-F238E27FC236}">
                <a16:creationId xmlns:a16="http://schemas.microsoft.com/office/drawing/2014/main" id="{B98B7BDE-D18C-47A0-82C2-128453BF669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5639599-CC91-49C7-A67D-A0A0141B722D}"/>
              </a:ext>
            </a:extLst>
          </p:cNvPr>
          <p:cNvSpPr>
            <a:spLocks noGrp="1"/>
          </p:cNvSpPr>
          <p:nvPr>
            <p:ph type="sldNum" sz="quarter" idx="12"/>
          </p:nvPr>
        </p:nvSpPr>
        <p:spPr/>
        <p:txBody>
          <a:bodyPr/>
          <a:lstStyle/>
          <a:p>
            <a:fld id="{03DC2DEF-D2FE-4B45-ABA4-9F153FD1C98A}" type="slidenum">
              <a:rPr lang="en-US" smtClean="0"/>
              <a:t>10</a:t>
            </a:fld>
            <a:endParaRPr lang="en-US"/>
          </a:p>
        </p:txBody>
      </p:sp>
      <p:pic>
        <p:nvPicPr>
          <p:cNvPr id="9" name="Picture Placeholder 8">
            <a:extLst>
              <a:ext uri="{FF2B5EF4-FFF2-40B4-BE49-F238E27FC236}">
                <a16:creationId xmlns:a16="http://schemas.microsoft.com/office/drawing/2014/main" id="{636CEDC5-66EE-450D-9056-86709F82399D}"/>
              </a:ext>
            </a:extLst>
          </p:cNvPr>
          <p:cNvPicPr>
            <a:picLocks noGrp="1" noChangeAspect="1"/>
          </p:cNvPicPr>
          <p:nvPr>
            <p:ph type="pic" sz="quarter" idx="13"/>
          </p:nvPr>
        </p:nvPicPr>
        <p:blipFill rotWithShape="1">
          <a:blip r:embed="rId2"/>
          <a:srcRect l="4149" r="4149" b="3818"/>
          <a:stretch/>
        </p:blipFill>
        <p:spPr>
          <a:xfrm>
            <a:off x="6096000" y="1460501"/>
            <a:ext cx="5795963" cy="4741516"/>
          </a:xfrm>
        </p:spPr>
      </p:pic>
      <p:pic>
        <p:nvPicPr>
          <p:cNvPr id="7" name="Picture 6">
            <a:extLst>
              <a:ext uri="{FF2B5EF4-FFF2-40B4-BE49-F238E27FC236}">
                <a16:creationId xmlns:a16="http://schemas.microsoft.com/office/drawing/2014/main" id="{3455752C-0A97-4D36-991E-606E0066F6FF}"/>
              </a:ext>
            </a:extLst>
          </p:cNvPr>
          <p:cNvPicPr>
            <a:picLocks noChangeAspect="1"/>
          </p:cNvPicPr>
          <p:nvPr/>
        </p:nvPicPr>
        <p:blipFill>
          <a:blip r:embed="rId3"/>
          <a:stretch>
            <a:fillRect/>
          </a:stretch>
        </p:blipFill>
        <p:spPr>
          <a:xfrm>
            <a:off x="546100" y="1638300"/>
            <a:ext cx="5549900" cy="4381500"/>
          </a:xfrm>
          <a:prstGeom prst="rect">
            <a:avLst/>
          </a:prstGeom>
        </p:spPr>
      </p:pic>
    </p:spTree>
    <p:extLst>
      <p:ext uri="{BB962C8B-B14F-4D97-AF65-F5344CB8AC3E}">
        <p14:creationId xmlns:p14="http://schemas.microsoft.com/office/powerpoint/2010/main" val="422459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DEF48F30-BEB4-44C7-9F35-3BBB61CF89AF}"/>
              </a:ext>
            </a:extLst>
          </p:cNvPr>
          <p:cNvSpPr>
            <a:spLocks noGrp="1"/>
          </p:cNvSpPr>
          <p:nvPr>
            <p:ph type="title"/>
          </p:nvPr>
        </p:nvSpPr>
        <p:spPr/>
        <p:txBody>
          <a:bodyPr/>
          <a:lstStyle/>
          <a:p>
            <a:r>
              <a:rPr lang="en-US"/>
              <a:t>BUSINESS INTELLIGENCE Vs DATA ANALYTICS</a:t>
            </a:r>
          </a:p>
        </p:txBody>
      </p:sp>
      <p:sp>
        <p:nvSpPr>
          <p:cNvPr id="3" name="Slide Number Placeholder 2">
            <a:extLst>
              <a:ext uri="{FF2B5EF4-FFF2-40B4-BE49-F238E27FC236}">
                <a16:creationId xmlns:a16="http://schemas.microsoft.com/office/drawing/2014/main" id="{FE60433D-E380-4571-991C-16B6CE7A48BE}"/>
              </a:ext>
            </a:extLst>
          </p:cNvPr>
          <p:cNvSpPr>
            <a:spLocks noGrp="1"/>
          </p:cNvSpPr>
          <p:nvPr>
            <p:ph type="sldNum" sz="quarter" idx="12"/>
          </p:nvPr>
        </p:nvSpPr>
        <p:spPr/>
        <p:txBody>
          <a:bodyPr/>
          <a:lstStyle/>
          <a:p>
            <a:fld id="{03DC2DEF-D2FE-4B45-ABA4-9F153FD1C98A}" type="slidenum">
              <a:rPr lang="en-US" smtClean="0"/>
              <a:t>11</a:t>
            </a:fld>
            <a:endParaRPr lang="en-US"/>
          </a:p>
        </p:txBody>
      </p:sp>
      <p:pic>
        <p:nvPicPr>
          <p:cNvPr id="4" name="Content Placeholder 3">
            <a:extLst>
              <a:ext uri="{FF2B5EF4-FFF2-40B4-BE49-F238E27FC236}">
                <a16:creationId xmlns:a16="http://schemas.microsoft.com/office/drawing/2014/main" id="{5E1DDF17-09C7-4CD9-B9CB-13BBBAD5C6DD}"/>
              </a:ext>
            </a:extLst>
          </p:cNvPr>
          <p:cNvPicPr>
            <a:picLocks noGrp="1" noChangeAspect="1"/>
          </p:cNvPicPr>
          <p:nvPr>
            <p:ph sz="quarter" idx="4"/>
          </p:nvPr>
        </p:nvPicPr>
        <p:blipFill>
          <a:blip r:embed="rId2"/>
          <a:stretch>
            <a:fillRect/>
          </a:stretch>
        </p:blipFill>
        <p:spPr>
          <a:xfrm>
            <a:off x="371290" y="2199861"/>
            <a:ext cx="5358814" cy="4588221"/>
          </a:xfrm>
        </p:spPr>
      </p:pic>
      <p:pic>
        <p:nvPicPr>
          <p:cNvPr id="6" name="Picture 5">
            <a:extLst>
              <a:ext uri="{FF2B5EF4-FFF2-40B4-BE49-F238E27FC236}">
                <a16:creationId xmlns:a16="http://schemas.microsoft.com/office/drawing/2014/main" id="{3ACB1749-EC93-4A14-A4C7-B8BE7B0568D2}"/>
              </a:ext>
            </a:extLst>
          </p:cNvPr>
          <p:cNvPicPr>
            <a:picLocks noChangeAspect="1"/>
          </p:cNvPicPr>
          <p:nvPr/>
        </p:nvPicPr>
        <p:blipFill>
          <a:blip r:embed="rId3"/>
          <a:stretch>
            <a:fillRect/>
          </a:stretch>
        </p:blipFill>
        <p:spPr>
          <a:xfrm>
            <a:off x="5953540" y="2199861"/>
            <a:ext cx="5766317" cy="4588221"/>
          </a:xfrm>
          <a:prstGeom prst="rect">
            <a:avLst/>
          </a:prstGeom>
        </p:spPr>
      </p:pic>
    </p:spTree>
    <p:extLst>
      <p:ext uri="{BB962C8B-B14F-4D97-AF65-F5344CB8AC3E}">
        <p14:creationId xmlns:p14="http://schemas.microsoft.com/office/powerpoint/2010/main" val="1154969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51932C-7145-4FBD-B81D-9ADC42401B87}"/>
              </a:ext>
            </a:extLst>
          </p:cNvPr>
          <p:cNvSpPr>
            <a:spLocks noGrp="1"/>
          </p:cNvSpPr>
          <p:nvPr>
            <p:ph type="title"/>
          </p:nvPr>
        </p:nvSpPr>
        <p:spPr/>
        <p:txBody>
          <a:bodyPr/>
          <a:lstStyle/>
          <a:p>
            <a:r>
              <a:rPr lang="en-US"/>
              <a:t>Slide Title</a:t>
            </a:r>
          </a:p>
        </p:txBody>
      </p:sp>
      <p:sp>
        <p:nvSpPr>
          <p:cNvPr id="7" name="Content Placeholder 6">
            <a:extLst>
              <a:ext uri="{FF2B5EF4-FFF2-40B4-BE49-F238E27FC236}">
                <a16:creationId xmlns:a16="http://schemas.microsoft.com/office/drawing/2014/main" id="{A7F42263-DE86-44BB-AC19-CD7982D365B2}"/>
              </a:ext>
            </a:extLst>
          </p:cNvPr>
          <p:cNvSpPr>
            <a:spLocks noGrp="1"/>
          </p:cNvSpPr>
          <p:nvPr>
            <p:ph sz="half" idx="2"/>
          </p:nvPr>
        </p:nvSpPr>
        <p:spPr/>
        <p:txBody>
          <a:bodyPr/>
          <a:lstStyle/>
          <a:p>
            <a:r>
              <a:rPr lang="en-US"/>
              <a:t>Lorem ipsum dolor sit amet, consectetur adipiscing elit</a:t>
            </a:r>
          </a:p>
          <a:p>
            <a:r>
              <a:rPr lang="en-US"/>
              <a:t>Lorem ipsum dolor sit amet, consectetur adipiscing elit</a:t>
            </a:r>
          </a:p>
          <a:p>
            <a:r>
              <a:rPr lang="en-US"/>
              <a:t>Lorem ipsum dolor sit amet, consectetur adipiscing elit</a:t>
            </a:r>
          </a:p>
        </p:txBody>
      </p:sp>
      <p:sp>
        <p:nvSpPr>
          <p:cNvPr id="3" name="Slide Number Placeholder 2">
            <a:extLst>
              <a:ext uri="{FF2B5EF4-FFF2-40B4-BE49-F238E27FC236}">
                <a16:creationId xmlns:a16="http://schemas.microsoft.com/office/drawing/2014/main" id="{774AF259-0EA0-486A-A345-68549DF558C8}"/>
              </a:ext>
            </a:extLst>
          </p:cNvPr>
          <p:cNvSpPr>
            <a:spLocks noGrp="1"/>
          </p:cNvSpPr>
          <p:nvPr>
            <p:ph type="sldNum" sz="quarter" idx="12"/>
          </p:nvPr>
        </p:nvSpPr>
        <p:spPr/>
        <p:txBody>
          <a:bodyPr/>
          <a:lstStyle/>
          <a:p>
            <a:fld id="{03DC2DEF-D2FE-4B45-ABA4-9F153FD1C98A}" type="slidenum">
              <a:rPr lang="en-US" smtClean="0"/>
              <a:t>12</a:t>
            </a:fld>
            <a:endParaRPr lang="en-US"/>
          </a:p>
        </p:txBody>
      </p:sp>
      <p:sp>
        <p:nvSpPr>
          <p:cNvPr id="9" name="AutoShape 4">
            <a:extLst>
              <a:ext uri="{FF2B5EF4-FFF2-40B4-BE49-F238E27FC236}">
                <a16:creationId xmlns:a16="http://schemas.microsoft.com/office/drawing/2014/main" id="{A701628E-A072-4040-8343-5E65D52341E7}"/>
              </a:ext>
            </a:extLst>
          </p:cNvPr>
          <p:cNvSpPr>
            <a:spLocks noGrp="1" noChangeAspect="1" noChangeArrowheads="1"/>
          </p:cNvSpPr>
          <p:nvPr>
            <p:ph sz="half"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8" name="Picture 6">
            <a:extLst>
              <a:ext uri="{FF2B5EF4-FFF2-40B4-BE49-F238E27FC236}">
                <a16:creationId xmlns:a16="http://schemas.microsoft.com/office/drawing/2014/main" id="{4A3C2B2B-9310-4C9C-8A8E-1EDB79B93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1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389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839788"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lstStyle/>
          <a:p>
            <a:r>
              <a:rPr lang="en-US" sz="2800" b="1"/>
              <a:t>Informed Decision-Making</a:t>
            </a:r>
          </a:p>
          <a:p>
            <a:pPr>
              <a:buFont typeface="Arial" panose="020B0604020202020204" pitchFamily="34" charset="0"/>
              <a:buChar char="•"/>
            </a:pPr>
            <a:r>
              <a:rPr lang="en-US" sz="2800" b="1"/>
              <a:t>Insight Generation:</a:t>
            </a:r>
            <a:endParaRPr lang="en-US" sz="2800"/>
          </a:p>
          <a:p>
            <a:pPr marL="742950" lvl="1" indent="-285750">
              <a:buFont typeface="Arial" panose="020B0604020202020204" pitchFamily="34" charset="0"/>
              <a:buChar char="•"/>
            </a:pPr>
            <a:r>
              <a:rPr lang="en-US" sz="2800"/>
              <a:t>Data analytics helps organizations uncover patterns, trends, and correlations in data, providing insights that drive strategic decisions.</a:t>
            </a:r>
          </a:p>
          <a:p>
            <a:pPr>
              <a:buFont typeface="Arial" panose="020B0604020202020204" pitchFamily="34" charset="0"/>
              <a:buChar char="•"/>
            </a:pPr>
            <a:r>
              <a:rPr lang="en-US" sz="2800" b="1"/>
              <a:t>Risk Management:</a:t>
            </a:r>
            <a:endParaRPr lang="en-US" sz="2800"/>
          </a:p>
          <a:p>
            <a:pPr marL="742950" lvl="1" indent="-285750">
              <a:buFont typeface="Arial" panose="020B0604020202020204" pitchFamily="34" charset="0"/>
              <a:buChar char="•"/>
            </a:pPr>
            <a:r>
              <a:rPr lang="en-US" sz="2800"/>
              <a:t>By analyzing historical data and identifying potential risks, organizations can mitigate uncertainties and plan for contingencies</a:t>
            </a:r>
          </a:p>
          <a:p>
            <a:endParaRPr lang="en-IN"/>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13</a:t>
            </a:fld>
            <a:endParaRPr lang="en-US"/>
          </a:p>
        </p:txBody>
      </p:sp>
    </p:spTree>
    <p:extLst>
      <p:ext uri="{BB962C8B-B14F-4D97-AF65-F5344CB8AC3E}">
        <p14:creationId xmlns:p14="http://schemas.microsoft.com/office/powerpoint/2010/main" val="1766565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r>
              <a:rPr lang="en-US" sz="2800" b="1"/>
              <a:t>Operational Efficiency</a:t>
            </a:r>
          </a:p>
          <a:p>
            <a:pPr>
              <a:buFont typeface="Arial" panose="020B0604020202020204" pitchFamily="34" charset="0"/>
              <a:buChar char="•"/>
            </a:pPr>
            <a:r>
              <a:rPr lang="en-US" sz="2800" b="1"/>
              <a:t>Process Optimization:</a:t>
            </a:r>
            <a:endParaRPr lang="en-US" sz="2800"/>
          </a:p>
          <a:p>
            <a:pPr marL="742950" lvl="1" indent="-285750">
              <a:buFont typeface="Arial" panose="020B0604020202020204" pitchFamily="34" charset="0"/>
              <a:buChar char="•"/>
            </a:pPr>
            <a:r>
              <a:rPr lang="en-US" sz="2800"/>
              <a:t>Analyzing operational data helps identify inefficiencies and bottlenecks, enabling process improvements and cost reductions.</a:t>
            </a:r>
          </a:p>
          <a:p>
            <a:pPr>
              <a:buFont typeface="Arial" panose="020B0604020202020204" pitchFamily="34" charset="0"/>
              <a:buChar char="•"/>
            </a:pPr>
            <a:r>
              <a:rPr lang="en-US" sz="2800" b="1"/>
              <a:t>Resource Allocation:</a:t>
            </a:r>
            <a:endParaRPr lang="en-US" sz="2800"/>
          </a:p>
          <a:p>
            <a:pPr marL="742950" lvl="1" indent="-285750">
              <a:buFont typeface="Arial" panose="020B0604020202020204" pitchFamily="34" charset="0"/>
              <a:buChar char="•"/>
            </a:pPr>
            <a:r>
              <a:rPr lang="en-US" sz="2800"/>
              <a:t>Data analytics assists in optimizing resource allocation by forecasting demand and managing inventory effectively.</a:t>
            </a:r>
          </a:p>
          <a:p>
            <a:endParaRPr lang="en-IN" sz="2800"/>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14</a:t>
            </a:fld>
            <a:endParaRPr lang="en-US"/>
          </a:p>
        </p:txBody>
      </p:sp>
    </p:spTree>
    <p:extLst>
      <p:ext uri="{BB962C8B-B14F-4D97-AF65-F5344CB8AC3E}">
        <p14:creationId xmlns:p14="http://schemas.microsoft.com/office/powerpoint/2010/main" val="133557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r>
              <a:rPr lang="en-US" sz="2800" b="1"/>
              <a:t>Customer Understanding and Personalization</a:t>
            </a:r>
          </a:p>
          <a:p>
            <a:pPr>
              <a:buFont typeface="Arial" panose="020B0604020202020204" pitchFamily="34" charset="0"/>
              <a:buChar char="•"/>
            </a:pPr>
            <a:r>
              <a:rPr lang="en-US" sz="2800" b="1"/>
              <a:t>Customer Segmentation:</a:t>
            </a:r>
            <a:endParaRPr lang="en-US" sz="2800"/>
          </a:p>
          <a:p>
            <a:pPr marL="742950" lvl="1" indent="-285750">
              <a:buFont typeface="Arial" panose="020B0604020202020204" pitchFamily="34" charset="0"/>
              <a:buChar char="•"/>
            </a:pPr>
            <a:r>
              <a:rPr lang="en-US" sz="2800"/>
              <a:t>By analyzing customer data, organizations can segment their audience based on behavior, preferences, and demographics, leading to more targeted marketing efforts.</a:t>
            </a:r>
          </a:p>
          <a:p>
            <a:pPr>
              <a:buFont typeface="Arial" panose="020B0604020202020204" pitchFamily="34" charset="0"/>
              <a:buChar char="•"/>
            </a:pPr>
            <a:r>
              <a:rPr lang="en-US" sz="2800" b="1"/>
              <a:t>Personalized Experiences:</a:t>
            </a:r>
            <a:endParaRPr lang="en-US" sz="2800"/>
          </a:p>
          <a:p>
            <a:pPr marL="742950" lvl="1" indent="-285750">
              <a:buFont typeface="Arial" panose="020B0604020202020204" pitchFamily="34" charset="0"/>
              <a:buChar char="•"/>
            </a:pPr>
            <a:r>
              <a:rPr lang="en-US" sz="2800"/>
              <a:t>Data analytics allows for the creation of personalized customer experiences, enhancing customer satisfaction and loyalty.</a:t>
            </a:r>
          </a:p>
          <a:p>
            <a:endParaRPr lang="en-IN" sz="2800"/>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15</a:t>
            </a:fld>
            <a:endParaRPr lang="en-US"/>
          </a:p>
        </p:txBody>
      </p:sp>
    </p:spTree>
    <p:extLst>
      <p:ext uri="{BB962C8B-B14F-4D97-AF65-F5344CB8AC3E}">
        <p14:creationId xmlns:p14="http://schemas.microsoft.com/office/powerpoint/2010/main" val="131315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r>
              <a:rPr lang="en-US" sz="2800" b="1"/>
              <a:t>. Product and Service Innovation</a:t>
            </a:r>
          </a:p>
          <a:p>
            <a:pPr>
              <a:buFont typeface="Arial" panose="020B0604020202020204" pitchFamily="34" charset="0"/>
              <a:buChar char="•"/>
            </a:pPr>
            <a:r>
              <a:rPr lang="en-US" sz="2800" b="1"/>
              <a:t>Market Trends:</a:t>
            </a:r>
            <a:endParaRPr lang="en-US" sz="2800"/>
          </a:p>
          <a:p>
            <a:pPr marL="742950" lvl="1" indent="-285750">
              <a:buFont typeface="Arial" panose="020B0604020202020204" pitchFamily="34" charset="0"/>
              <a:buChar char="•"/>
            </a:pPr>
            <a:r>
              <a:rPr lang="en-US" sz="2800"/>
              <a:t>Identifying emerging market trends through data analytics helps organizations innovate and develop new products or services.</a:t>
            </a:r>
          </a:p>
          <a:p>
            <a:pPr>
              <a:buFont typeface="Arial" panose="020B0604020202020204" pitchFamily="34" charset="0"/>
              <a:buChar char="•"/>
            </a:pPr>
            <a:r>
              <a:rPr lang="en-US" sz="2800" b="1"/>
              <a:t>Feedback Analysis:</a:t>
            </a:r>
            <a:endParaRPr lang="en-US" sz="2800"/>
          </a:p>
          <a:p>
            <a:pPr marL="742950" lvl="1" indent="-285750">
              <a:buFont typeface="Arial" panose="020B0604020202020204" pitchFamily="34" charset="0"/>
              <a:buChar char="•"/>
            </a:pPr>
            <a:r>
              <a:rPr lang="en-US" sz="2800"/>
              <a:t>Analyzing customer feedback and usage data enables continuous improvement and adaptation of products and services.</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16</a:t>
            </a:fld>
            <a:endParaRPr lang="en-US"/>
          </a:p>
        </p:txBody>
      </p:sp>
    </p:spTree>
    <p:extLst>
      <p:ext uri="{BB962C8B-B14F-4D97-AF65-F5344CB8AC3E}">
        <p14:creationId xmlns:p14="http://schemas.microsoft.com/office/powerpoint/2010/main" val="16305205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r>
              <a:rPr lang="en-US" sz="2800" b="1"/>
              <a:t>Cost Reduction</a:t>
            </a:r>
          </a:p>
          <a:p>
            <a:pPr>
              <a:buFont typeface="Arial" panose="020B0604020202020204" pitchFamily="34" charset="0"/>
              <a:buChar char="•"/>
            </a:pPr>
            <a:r>
              <a:rPr lang="en-US" sz="2800" b="1"/>
              <a:t>Fraud Detection:</a:t>
            </a:r>
            <a:endParaRPr lang="en-US" sz="2800"/>
          </a:p>
          <a:p>
            <a:pPr marL="742950" lvl="1" indent="-285750">
              <a:buFont typeface="Arial" panose="020B0604020202020204" pitchFamily="34" charset="0"/>
              <a:buChar char="•"/>
            </a:pPr>
            <a:r>
              <a:rPr lang="en-US" sz="2800"/>
              <a:t>Analytics tools can detect anomalies and patterns that indicate fraudulent activities, saving significant costs associated with fraud.</a:t>
            </a:r>
          </a:p>
          <a:p>
            <a:pPr>
              <a:buFont typeface="Arial" panose="020B0604020202020204" pitchFamily="34" charset="0"/>
              <a:buChar char="•"/>
            </a:pPr>
            <a:r>
              <a:rPr lang="en-US" sz="2800" b="1"/>
              <a:t>Operational Savings:</a:t>
            </a:r>
            <a:endParaRPr lang="en-US" sz="2800"/>
          </a:p>
          <a:p>
            <a:pPr marL="742950" lvl="1" indent="-285750">
              <a:buFont typeface="Arial" panose="020B0604020202020204" pitchFamily="34" charset="0"/>
              <a:buChar char="•"/>
            </a:pPr>
            <a:r>
              <a:rPr lang="en-US" sz="2800"/>
              <a:t>Identifying and eliminating inefficiencies through data analytics leads to substantial cost savings in operations.</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17</a:t>
            </a:fld>
            <a:endParaRPr lang="en-US"/>
          </a:p>
        </p:txBody>
      </p:sp>
    </p:spTree>
    <p:extLst>
      <p:ext uri="{BB962C8B-B14F-4D97-AF65-F5344CB8AC3E}">
        <p14:creationId xmlns:p14="http://schemas.microsoft.com/office/powerpoint/2010/main" val="2691941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r>
              <a:rPr lang="en-US" sz="2800" b="1"/>
              <a:t>Improved Marketing and Sales</a:t>
            </a:r>
          </a:p>
          <a:p>
            <a:pPr>
              <a:buFont typeface="Arial" panose="020B0604020202020204" pitchFamily="34" charset="0"/>
              <a:buChar char="•"/>
            </a:pPr>
            <a:r>
              <a:rPr lang="en-US" sz="2800" b="1"/>
              <a:t>Campaign Effectiveness:</a:t>
            </a:r>
            <a:endParaRPr lang="en-US" sz="2800"/>
          </a:p>
          <a:p>
            <a:pPr marL="742950" lvl="1" indent="-285750">
              <a:buFont typeface="Arial" panose="020B0604020202020204" pitchFamily="34" charset="0"/>
              <a:buChar char="•"/>
            </a:pPr>
            <a:r>
              <a:rPr lang="en-US" sz="2800"/>
              <a:t>Analyzing marketing campaign data helps assess the effectiveness of different strategies and channels, optimizing marketing spend.</a:t>
            </a:r>
          </a:p>
          <a:p>
            <a:pPr>
              <a:buFont typeface="Arial" panose="020B0604020202020204" pitchFamily="34" charset="0"/>
              <a:buChar char="•"/>
            </a:pPr>
            <a:r>
              <a:rPr lang="en-US" sz="2800" b="1"/>
              <a:t>Sales Forecasting:</a:t>
            </a:r>
            <a:endParaRPr lang="en-US" sz="2800"/>
          </a:p>
          <a:p>
            <a:pPr marL="742950" lvl="1" indent="-285750">
              <a:buFont typeface="Arial" panose="020B0604020202020204" pitchFamily="34" charset="0"/>
              <a:buChar char="•"/>
            </a:pPr>
            <a:r>
              <a:rPr lang="en-US" sz="2800"/>
              <a:t>Data analytics provides accurate sales forecasts, helping organizations manage their sales pipeline and revenue expectations.</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18</a:t>
            </a:fld>
            <a:endParaRPr lang="en-US"/>
          </a:p>
        </p:txBody>
      </p:sp>
    </p:spTree>
    <p:extLst>
      <p:ext uri="{BB962C8B-B14F-4D97-AF65-F5344CB8AC3E}">
        <p14:creationId xmlns:p14="http://schemas.microsoft.com/office/powerpoint/2010/main" val="315210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NEED OF DATA ANALYTICS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r>
              <a:rPr lang="en-US" sz="2800" b="1"/>
              <a:t>Supply Chain Management</a:t>
            </a:r>
          </a:p>
          <a:p>
            <a:pPr>
              <a:buFont typeface="Arial" panose="020B0604020202020204" pitchFamily="34" charset="0"/>
              <a:buChar char="•"/>
            </a:pPr>
            <a:r>
              <a:rPr lang="en-US" sz="2800" b="1"/>
              <a:t>Demand Forecasting:</a:t>
            </a:r>
            <a:endParaRPr lang="en-US" sz="2800"/>
          </a:p>
          <a:p>
            <a:pPr marL="742950" lvl="1" indent="-285750">
              <a:buFont typeface="Arial" panose="020B0604020202020204" pitchFamily="34" charset="0"/>
              <a:buChar char="•"/>
            </a:pPr>
            <a:r>
              <a:rPr lang="en-US" sz="2800"/>
              <a:t>Analyzing historical sales and market trends helps predict future demand, leading to better supply chain planning.</a:t>
            </a:r>
          </a:p>
          <a:p>
            <a:pPr>
              <a:buFont typeface="Arial" panose="020B0604020202020204" pitchFamily="34" charset="0"/>
              <a:buChar char="•"/>
            </a:pPr>
            <a:r>
              <a:rPr lang="en-US" sz="2800" b="1"/>
              <a:t>Inventory Management:</a:t>
            </a:r>
            <a:endParaRPr lang="en-US" sz="2800"/>
          </a:p>
          <a:p>
            <a:pPr marL="742950" lvl="1" indent="-285750">
              <a:buFont typeface="Arial" panose="020B0604020202020204" pitchFamily="34" charset="0"/>
              <a:buChar char="•"/>
            </a:pPr>
            <a:r>
              <a:rPr lang="en-US" sz="2800"/>
              <a:t>Data analytics helps maintain optimal inventory levels, reducing costs associated with overstocking or stockouts.</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19</a:t>
            </a:fld>
            <a:endParaRPr lang="en-US"/>
          </a:p>
        </p:txBody>
      </p:sp>
    </p:spTree>
    <p:extLst>
      <p:ext uri="{BB962C8B-B14F-4D97-AF65-F5344CB8AC3E}">
        <p14:creationId xmlns:p14="http://schemas.microsoft.com/office/powerpoint/2010/main" val="4187831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60B770E-507E-4361-9D91-5007702BFC32}"/>
              </a:ext>
            </a:extLst>
          </p:cNvPr>
          <p:cNvSpPr>
            <a:spLocks noGrp="1"/>
          </p:cNvSpPr>
          <p:nvPr>
            <p:ph type="title" idx="4294967295"/>
          </p:nvPr>
        </p:nvSpPr>
        <p:spPr>
          <a:xfrm>
            <a:off x="647700" y="4518025"/>
            <a:ext cx="5372100" cy="7112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a:ln>
                  <a:noFill/>
                </a:ln>
                <a:solidFill>
                  <a:schemeClr val="tx1"/>
                </a:solidFill>
                <a:effectLst/>
                <a:uLnTx/>
                <a:uFillTx/>
                <a:latin typeface="+mj-lt"/>
                <a:ea typeface="+mn-ea"/>
                <a:cs typeface="+mn-cs"/>
              </a:rPr>
              <a:t>WALLMART CASE STUDY</a:t>
            </a:r>
          </a:p>
        </p:txBody>
      </p:sp>
      <p:sp>
        <p:nvSpPr>
          <p:cNvPr id="11" name="Text Placeholder 10">
            <a:extLst>
              <a:ext uri="{FF2B5EF4-FFF2-40B4-BE49-F238E27FC236}">
                <a16:creationId xmlns:a16="http://schemas.microsoft.com/office/drawing/2014/main" id="{C6BEE08E-D5C0-42E2-AB73-7CCC07B72E39}"/>
              </a:ext>
            </a:extLst>
          </p:cNvPr>
          <p:cNvSpPr>
            <a:spLocks noGrp="1"/>
          </p:cNvSpPr>
          <p:nvPr>
            <p:ph type="body" sz="quarter" idx="16"/>
          </p:nvPr>
        </p:nvSpPr>
        <p:spPr/>
        <p:txBody>
          <a:bodyPr/>
          <a:lstStyle/>
          <a:p>
            <a:r>
              <a:rPr lang="en-US"/>
              <a:t>CASE STUDY</a:t>
            </a:r>
          </a:p>
        </p:txBody>
      </p:sp>
      <p:pic>
        <p:nvPicPr>
          <p:cNvPr id="13" name="Picture Placeholder 12">
            <a:extLst>
              <a:ext uri="{FF2B5EF4-FFF2-40B4-BE49-F238E27FC236}">
                <a16:creationId xmlns:a16="http://schemas.microsoft.com/office/drawing/2014/main" id="{C56F6876-F532-4396-8FC3-BEB43E626529}"/>
              </a:ext>
              <a:ext uri="{C183D7F6-B498-43B3-948B-1728B52AA6E4}">
                <adec:decorative xmlns:adec="http://schemas.microsoft.com/office/drawing/2017/decorative" val="1"/>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a:fillRect/>
          </a:stretch>
        </p:blipFill>
        <p:spPr/>
      </p:pic>
      <p:pic>
        <p:nvPicPr>
          <p:cNvPr id="15" name="Picture Placeholder 14">
            <a:extLst>
              <a:ext uri="{FF2B5EF4-FFF2-40B4-BE49-F238E27FC236}">
                <a16:creationId xmlns:a16="http://schemas.microsoft.com/office/drawing/2014/main" id="{95339E7E-14EB-4886-A417-E9C84CA1E342}"/>
              </a:ext>
              <a:ext uri="{C183D7F6-B498-43B3-948B-1728B52AA6E4}">
                <adec:decorative xmlns:adec="http://schemas.microsoft.com/office/drawing/2017/decorative" val="1"/>
              </a:ext>
            </a:extLst>
          </p:cNvPr>
          <p:cNvPicPr>
            <a:picLocks noGrp="1" noChangeAspect="1"/>
          </p:cNvPicPr>
          <p:nvPr>
            <p:ph type="pic" sz="quarter" idx="14"/>
          </p:nvPr>
        </p:nvPicPr>
        <p:blipFill>
          <a:blip r:embed="rId3"/>
          <a:srcRect/>
          <a:stretch/>
        </p:blipFill>
        <p:spPr>
          <a:xfrm>
            <a:off x="6254748" y="2570559"/>
            <a:ext cx="5372097" cy="3574886"/>
          </a:xfrm>
        </p:spPr>
      </p:pic>
      <p:sp>
        <p:nvSpPr>
          <p:cNvPr id="3" name="Slide Number Placeholder 2">
            <a:extLst>
              <a:ext uri="{FF2B5EF4-FFF2-40B4-BE49-F238E27FC236}">
                <a16:creationId xmlns:a16="http://schemas.microsoft.com/office/drawing/2014/main" id="{8D0BEB88-12D3-41F1-B6BA-706EF7480FD3}"/>
              </a:ext>
            </a:extLst>
          </p:cNvPr>
          <p:cNvSpPr>
            <a:spLocks noGrp="1"/>
          </p:cNvSpPr>
          <p:nvPr>
            <p:ph type="sldNum" sz="quarter" idx="4294967295"/>
          </p:nvPr>
        </p:nvSpPr>
        <p:spPr>
          <a:xfrm>
            <a:off x="11818938" y="6581775"/>
            <a:ext cx="373062" cy="206375"/>
          </a:xfrm>
        </p:spPr>
        <p:txBody>
          <a:bodyPr/>
          <a:lstStyle/>
          <a:p>
            <a:fld id="{03DC2DEF-D2FE-4B45-ABA4-9F153FD1C98A}" type="slidenum">
              <a:rPr lang="en-US" smtClean="0"/>
              <a:t>20</a:t>
            </a:fld>
            <a:endParaRPr lang="en-US"/>
          </a:p>
        </p:txBody>
      </p:sp>
    </p:spTree>
    <p:extLst>
      <p:ext uri="{BB962C8B-B14F-4D97-AF65-F5344CB8AC3E}">
        <p14:creationId xmlns:p14="http://schemas.microsoft.com/office/powerpoint/2010/main" val="3149670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43CB8-99D5-4709-B09A-A1BDFAA51AAC}"/>
              </a:ext>
            </a:extLst>
          </p:cNvPr>
          <p:cNvSpPr>
            <a:spLocks noGrp="1"/>
          </p:cNvSpPr>
          <p:nvPr>
            <p:ph type="title"/>
          </p:nvPr>
        </p:nvSpPr>
        <p:spPr/>
        <p:txBody>
          <a:bodyPr/>
          <a:lstStyle/>
          <a:p>
            <a:pPr algn="ctr"/>
            <a:r>
              <a:rPr kumimoji="0" lang="en-US" sz="3600" b="1" i="0" u="none" strike="noStrike" kern="1200" cap="none" spc="0" normalizeH="0" baseline="0">
                <a:ln>
                  <a:noFill/>
                </a:ln>
                <a:solidFill>
                  <a:schemeClr val="tx1"/>
                </a:solidFill>
                <a:effectLst/>
                <a:uLnTx/>
                <a:uFillTx/>
                <a:latin typeface="+mj-lt"/>
                <a:ea typeface="+mn-ea"/>
                <a:cs typeface="+mn-cs"/>
              </a:rPr>
              <a:t>WALLMART CASE STUDY</a:t>
            </a:r>
            <a:endParaRPr lang="en-IN"/>
          </a:p>
        </p:txBody>
      </p:sp>
      <p:pic>
        <p:nvPicPr>
          <p:cNvPr id="22" name="Picture Placeholder 21">
            <a:extLst>
              <a:ext uri="{FF2B5EF4-FFF2-40B4-BE49-F238E27FC236}">
                <a16:creationId xmlns:a16="http://schemas.microsoft.com/office/drawing/2014/main" id="{D53176FA-EFDD-4C6F-8BD3-6DC289F333F1}"/>
              </a:ext>
            </a:extLst>
          </p:cNvPr>
          <p:cNvPicPr>
            <a:picLocks noGrp="1" noChangeAspect="1"/>
          </p:cNvPicPr>
          <p:nvPr>
            <p:ph type="pic" sz="quarter" idx="16"/>
          </p:nvPr>
        </p:nvPicPr>
        <p:blipFill>
          <a:blip r:embed="rId2"/>
          <a:srcRect l="18936" r="18936"/>
          <a:stretch>
            <a:fillRect/>
          </a:stretch>
        </p:blipFill>
        <p:spPr/>
      </p:pic>
      <p:sp>
        <p:nvSpPr>
          <p:cNvPr id="4" name="Slide Number Placeholder 3">
            <a:extLst>
              <a:ext uri="{FF2B5EF4-FFF2-40B4-BE49-F238E27FC236}">
                <a16:creationId xmlns:a16="http://schemas.microsoft.com/office/drawing/2014/main" id="{89B8B7B5-FDF0-4D62-A2C3-DDC114ADA3ED}"/>
              </a:ext>
            </a:extLst>
          </p:cNvPr>
          <p:cNvSpPr>
            <a:spLocks noGrp="1"/>
          </p:cNvSpPr>
          <p:nvPr>
            <p:ph type="sldNum" sz="quarter" idx="12"/>
          </p:nvPr>
        </p:nvSpPr>
        <p:spPr/>
        <p:txBody>
          <a:bodyPr/>
          <a:lstStyle/>
          <a:p>
            <a:fld id="{03DC2DEF-D2FE-4B45-ABA4-9F153FD1C98A}" type="slidenum">
              <a:rPr lang="en-US" smtClean="0"/>
              <a:t>21</a:t>
            </a:fld>
            <a:endParaRPr lang="en-US"/>
          </a:p>
        </p:txBody>
      </p:sp>
      <p:sp>
        <p:nvSpPr>
          <p:cNvPr id="5" name="Text Placeholder 4">
            <a:extLst>
              <a:ext uri="{FF2B5EF4-FFF2-40B4-BE49-F238E27FC236}">
                <a16:creationId xmlns:a16="http://schemas.microsoft.com/office/drawing/2014/main" id="{EB4E0BEE-FE89-48A1-B8A5-96DC4B6CED5C}"/>
              </a:ext>
            </a:extLst>
          </p:cNvPr>
          <p:cNvSpPr>
            <a:spLocks noGrp="1"/>
          </p:cNvSpPr>
          <p:nvPr>
            <p:ph type="body" sz="quarter" idx="20"/>
          </p:nvPr>
        </p:nvSpPr>
        <p:spPr/>
        <p:txBody>
          <a:bodyPr/>
          <a:lstStyle/>
          <a:p>
            <a:r>
              <a:rPr lang="en-US" b="0" i="0">
                <a:solidFill>
                  <a:srgbClr val="51565E"/>
                </a:solidFill>
                <a:effectLst/>
                <a:latin typeface="Roboto" panose="02000000000000000000" pitchFamily="2" charset="0"/>
              </a:rPr>
              <a:t>11,500 stores in 27 countries,</a:t>
            </a:r>
            <a:r>
              <a:rPr lang="en-IN" b="0" i="0">
                <a:solidFill>
                  <a:srgbClr val="51565E"/>
                </a:solidFill>
                <a:effectLst/>
                <a:latin typeface="Roboto" panose="02000000000000000000" pitchFamily="2" charset="0"/>
              </a:rPr>
              <a:t> 5,900 retail units,</a:t>
            </a:r>
            <a:r>
              <a:rPr lang="en-US" b="0" i="0">
                <a:solidFill>
                  <a:srgbClr val="51565E"/>
                </a:solidFill>
                <a:effectLst/>
                <a:latin typeface="Roboto" panose="02000000000000000000" pitchFamily="2" charset="0"/>
              </a:rPr>
              <a:t> more than 700,000 associates serving more than 100 million customers every week</a:t>
            </a:r>
            <a:endParaRPr lang="en-IN"/>
          </a:p>
        </p:txBody>
      </p:sp>
      <p:sp>
        <p:nvSpPr>
          <p:cNvPr id="6" name="Text Placeholder 5">
            <a:extLst>
              <a:ext uri="{FF2B5EF4-FFF2-40B4-BE49-F238E27FC236}">
                <a16:creationId xmlns:a16="http://schemas.microsoft.com/office/drawing/2014/main" id="{745C4908-6C3F-4C67-A2BE-00874F729AEE}"/>
              </a:ext>
            </a:extLst>
          </p:cNvPr>
          <p:cNvSpPr>
            <a:spLocks noGrp="1"/>
          </p:cNvSpPr>
          <p:nvPr>
            <p:ph type="body" sz="quarter" idx="21"/>
          </p:nvPr>
        </p:nvSpPr>
        <p:spPr/>
        <p:txBody>
          <a:bodyPr/>
          <a:lstStyle/>
          <a:p>
            <a:r>
              <a:rPr lang="en-IN" b="0" i="0">
                <a:solidFill>
                  <a:srgbClr val="51565E"/>
                </a:solidFill>
                <a:effectLst/>
                <a:latin typeface="Roboto" panose="02000000000000000000" pitchFamily="2" charset="0"/>
              </a:rPr>
              <a:t> </a:t>
            </a:r>
            <a:r>
              <a:rPr lang="en-US" b="0" i="0">
                <a:solidFill>
                  <a:srgbClr val="51565E"/>
                </a:solidFill>
                <a:effectLst/>
                <a:latin typeface="Roboto" panose="02000000000000000000" pitchFamily="2" charset="0"/>
              </a:rPr>
              <a:t>collects over 2.5 petabytes of data from 1 million customers every hour</a:t>
            </a:r>
            <a:endParaRPr lang="en-IN"/>
          </a:p>
          <a:p>
            <a:endParaRPr lang="en-IN"/>
          </a:p>
        </p:txBody>
      </p:sp>
      <p:sp>
        <p:nvSpPr>
          <p:cNvPr id="7" name="Text Placeholder 6">
            <a:extLst>
              <a:ext uri="{FF2B5EF4-FFF2-40B4-BE49-F238E27FC236}">
                <a16:creationId xmlns:a16="http://schemas.microsoft.com/office/drawing/2014/main" id="{288D9E01-891C-41A7-94BC-B470C5E2C4D0}"/>
              </a:ext>
            </a:extLst>
          </p:cNvPr>
          <p:cNvSpPr>
            <a:spLocks noGrp="1"/>
          </p:cNvSpPr>
          <p:nvPr>
            <p:ph type="body" sz="quarter" idx="22"/>
          </p:nvPr>
        </p:nvSpPr>
        <p:spPr/>
        <p:txBody>
          <a:bodyPr/>
          <a:lstStyle/>
          <a:p>
            <a:r>
              <a:rPr lang="en-US" b="0" i="0">
                <a:solidFill>
                  <a:srgbClr val="51565E"/>
                </a:solidFill>
                <a:effectLst/>
                <a:latin typeface="Roboto" panose="02000000000000000000" pitchFamily="2" charset="0"/>
              </a:rPr>
              <a:t>In Data Cafe, over 200 streams of internal and external data, including 40 petabytes of recent transactional data, can be modeled, manipulated, and visualized. </a:t>
            </a:r>
            <a:endParaRPr lang="en-IN"/>
          </a:p>
          <a:p>
            <a:endParaRPr lang="en-IN"/>
          </a:p>
        </p:txBody>
      </p:sp>
      <p:sp>
        <p:nvSpPr>
          <p:cNvPr id="8" name="Text Placeholder 7">
            <a:extLst>
              <a:ext uri="{FF2B5EF4-FFF2-40B4-BE49-F238E27FC236}">
                <a16:creationId xmlns:a16="http://schemas.microsoft.com/office/drawing/2014/main" id="{0249FED2-CFF6-4478-861E-690EB48BE4DB}"/>
              </a:ext>
            </a:extLst>
          </p:cNvPr>
          <p:cNvSpPr>
            <a:spLocks noGrp="1"/>
          </p:cNvSpPr>
          <p:nvPr>
            <p:ph type="body" sz="quarter" idx="23"/>
          </p:nvPr>
        </p:nvSpPr>
        <p:spPr/>
        <p:txBody>
          <a:bodyPr/>
          <a:lstStyle/>
          <a:p>
            <a:r>
              <a:rPr lang="en-US" b="0" i="0">
                <a:solidFill>
                  <a:srgbClr val="51565E"/>
                </a:solidFill>
                <a:effectLst/>
                <a:latin typeface="Roboto" panose="02000000000000000000" pitchFamily="2" charset="0"/>
              </a:rPr>
              <a:t>Walmart also constantly analyses over 100 million keywords to know what people near each store are saying on social media. This gives them a better understanding of their customer behavior on what they like and dislike.</a:t>
            </a:r>
            <a:endParaRPr lang="en-IN"/>
          </a:p>
        </p:txBody>
      </p:sp>
      <p:pic>
        <p:nvPicPr>
          <p:cNvPr id="14" name="Picture Placeholder 13">
            <a:extLst>
              <a:ext uri="{FF2B5EF4-FFF2-40B4-BE49-F238E27FC236}">
                <a16:creationId xmlns:a16="http://schemas.microsoft.com/office/drawing/2014/main" id="{D0AB7DD3-5259-4E2E-B552-E1BDFCFCDFEF}"/>
              </a:ext>
            </a:extLst>
          </p:cNvPr>
          <p:cNvPicPr>
            <a:picLocks noGrp="1" noChangeAspect="1"/>
          </p:cNvPicPr>
          <p:nvPr>
            <p:ph type="pic" sz="quarter" idx="13"/>
          </p:nvPr>
        </p:nvPicPr>
        <p:blipFill>
          <a:blip r:embed="rId3"/>
          <a:srcRect l="10306" r="10306"/>
          <a:stretch>
            <a:fillRect/>
          </a:stretch>
        </p:blipFill>
        <p:spPr/>
      </p:pic>
      <p:pic>
        <p:nvPicPr>
          <p:cNvPr id="16" name="Picture Placeholder 15">
            <a:extLst>
              <a:ext uri="{FF2B5EF4-FFF2-40B4-BE49-F238E27FC236}">
                <a16:creationId xmlns:a16="http://schemas.microsoft.com/office/drawing/2014/main" id="{2FDD80CB-9746-4308-89DA-D732DA5D9959}"/>
              </a:ext>
            </a:extLst>
          </p:cNvPr>
          <p:cNvPicPr>
            <a:picLocks noGrp="1" noChangeAspect="1"/>
          </p:cNvPicPr>
          <p:nvPr>
            <p:ph type="pic" sz="quarter" idx="24"/>
          </p:nvPr>
        </p:nvPicPr>
        <p:blipFill>
          <a:blip r:embed="rId4"/>
          <a:srcRect l="7554" r="7554"/>
          <a:stretch>
            <a:fillRect/>
          </a:stretch>
        </p:blipFill>
        <p:spPr/>
      </p:pic>
      <p:pic>
        <p:nvPicPr>
          <p:cNvPr id="18" name="Picture Placeholder 17">
            <a:extLst>
              <a:ext uri="{FF2B5EF4-FFF2-40B4-BE49-F238E27FC236}">
                <a16:creationId xmlns:a16="http://schemas.microsoft.com/office/drawing/2014/main" id="{33E42F3F-62F1-4799-A10E-D28968393FA3}"/>
              </a:ext>
            </a:extLst>
          </p:cNvPr>
          <p:cNvPicPr>
            <a:picLocks noGrp="1" noChangeAspect="1"/>
          </p:cNvPicPr>
          <p:nvPr>
            <p:ph type="pic" sz="quarter" idx="25"/>
          </p:nvPr>
        </p:nvPicPr>
        <p:blipFill>
          <a:blip r:embed="rId5"/>
          <a:srcRect l="2923" r="2923"/>
          <a:stretch>
            <a:fillRect/>
          </a:stretch>
        </p:blipFill>
        <p:spPr/>
      </p:pic>
      <p:pic>
        <p:nvPicPr>
          <p:cNvPr id="20" name="Picture Placeholder 19">
            <a:extLst>
              <a:ext uri="{FF2B5EF4-FFF2-40B4-BE49-F238E27FC236}">
                <a16:creationId xmlns:a16="http://schemas.microsoft.com/office/drawing/2014/main" id="{433EBE62-DB6D-4BA3-8501-D1026CDF60B0}"/>
              </a:ext>
            </a:extLst>
          </p:cNvPr>
          <p:cNvPicPr>
            <a:picLocks noGrp="1" noChangeAspect="1"/>
          </p:cNvPicPr>
          <p:nvPr>
            <p:ph type="pic" sz="quarter" idx="26"/>
          </p:nvPr>
        </p:nvPicPr>
        <p:blipFill>
          <a:blip r:embed="rId6"/>
          <a:srcRect l="10306" r="10306"/>
          <a:stretch>
            <a:fillRect/>
          </a:stretch>
        </p:blipFill>
        <p:spPr/>
      </p:pic>
    </p:spTree>
    <p:extLst>
      <p:ext uri="{BB962C8B-B14F-4D97-AF65-F5344CB8AC3E}">
        <p14:creationId xmlns:p14="http://schemas.microsoft.com/office/powerpoint/2010/main" val="1797729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768246-2496-4F97-8FCA-02252116FF87}"/>
              </a:ext>
            </a:extLst>
          </p:cNvPr>
          <p:cNvSpPr>
            <a:spLocks noGrp="1"/>
          </p:cNvSpPr>
          <p:nvPr>
            <p:ph type="title"/>
          </p:nvPr>
        </p:nvSpPr>
        <p:spPr/>
        <p:txBody>
          <a:bodyPr/>
          <a:lstStyle/>
          <a:p>
            <a:pPr algn="ctr"/>
            <a:r>
              <a:rPr lang="en-US"/>
              <a:t>DATA ANALYTICS APPLICATION</a:t>
            </a:r>
          </a:p>
        </p:txBody>
      </p:sp>
      <p:pic>
        <p:nvPicPr>
          <p:cNvPr id="22" name="Picture Placeholder 21">
            <a:extLst>
              <a:ext uri="{FF2B5EF4-FFF2-40B4-BE49-F238E27FC236}">
                <a16:creationId xmlns:a16="http://schemas.microsoft.com/office/drawing/2014/main" id="{0F5C8F58-81B2-4162-9563-70C679CF85F2}"/>
              </a:ext>
              <a:ext uri="{C183D7F6-B498-43B3-948B-1728B52AA6E4}">
                <adec:decorative xmlns:adec="http://schemas.microsoft.com/office/drawing/2017/decorative" val="1"/>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7857" t="-6122" r="-17857" b="-6122"/>
          <a:stretch/>
        </p:blipFill>
        <p:spPr>
          <a:xfrm>
            <a:off x="876300" y="1739900"/>
            <a:ext cx="1689100" cy="1397000"/>
          </a:xfrm>
        </p:spPr>
      </p:pic>
      <p:pic>
        <p:nvPicPr>
          <p:cNvPr id="26" name="Picture Placeholder 25">
            <a:extLst>
              <a:ext uri="{FF2B5EF4-FFF2-40B4-BE49-F238E27FC236}">
                <a16:creationId xmlns:a16="http://schemas.microsoft.com/office/drawing/2014/main" id="{2AD0E03E-80ED-4CBF-B567-3E1EAB01FD41}"/>
              </a:ext>
              <a:ext uri="{C183D7F6-B498-43B3-948B-1728B52AA6E4}">
                <adec:decorative xmlns:adec="http://schemas.microsoft.com/office/drawing/2017/decorative" val="1"/>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8293" t="-6483" r="-18293" b="-6483"/>
          <a:stretch/>
        </p:blipFill>
        <p:spPr>
          <a:xfrm>
            <a:off x="3829813" y="4263232"/>
            <a:ext cx="1689100" cy="1397000"/>
          </a:xfrm>
        </p:spPr>
      </p:pic>
      <p:pic>
        <p:nvPicPr>
          <p:cNvPr id="24" name="Picture Placeholder 23">
            <a:extLst>
              <a:ext uri="{FF2B5EF4-FFF2-40B4-BE49-F238E27FC236}">
                <a16:creationId xmlns:a16="http://schemas.microsoft.com/office/drawing/2014/main" id="{F1E0AF3E-867C-4F0D-8325-9DC9A985B427}"/>
              </a:ext>
              <a:ext uri="{C183D7F6-B498-43B3-948B-1728B52AA6E4}">
                <adec:decorative xmlns:adec="http://schemas.microsoft.com/office/drawing/2017/decorative" val="1"/>
              </a:ext>
            </a:extLst>
          </p:cNvPr>
          <p:cNvPicPr>
            <a:picLocks noGrp="1" noChangeAspect="1"/>
          </p:cNvPicPr>
          <p:nvPr>
            <p:ph type="pic" sz="quarter" idx="15"/>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16501" t="-5000" r="-16501" b="-5000"/>
          <a:stretch/>
        </p:blipFill>
        <p:spPr>
          <a:xfrm>
            <a:off x="6744524" y="1739900"/>
            <a:ext cx="1689100" cy="1397000"/>
          </a:xfrm>
        </p:spPr>
      </p:pic>
      <p:pic>
        <p:nvPicPr>
          <p:cNvPr id="28" name="Picture Placeholder 27">
            <a:extLst>
              <a:ext uri="{FF2B5EF4-FFF2-40B4-BE49-F238E27FC236}">
                <a16:creationId xmlns:a16="http://schemas.microsoft.com/office/drawing/2014/main" id="{43BC7054-E269-4210-98F5-65D485066725}"/>
              </a:ext>
              <a:ext uri="{C183D7F6-B498-43B3-948B-1728B52AA6E4}">
                <adec:decorative xmlns:adec="http://schemas.microsoft.com/office/drawing/2017/decorative" val="1"/>
              </a:ext>
            </a:extLst>
          </p:cNvPr>
          <p:cNvPicPr>
            <a:picLocks noGrp="1" noChangeAspect="1"/>
          </p:cNvPicPr>
          <p:nvPr>
            <p:ph type="pic" sz="quarter" idx="17"/>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8293" t="-6483" r="-18293" b="-6483"/>
          <a:stretch/>
        </p:blipFill>
        <p:spPr>
          <a:xfrm>
            <a:off x="9659235" y="4263232"/>
            <a:ext cx="1689100" cy="1397000"/>
          </a:xfrm>
        </p:spPr>
      </p:pic>
      <p:sp>
        <p:nvSpPr>
          <p:cNvPr id="11" name="Text Placeholder 10">
            <a:extLst>
              <a:ext uri="{FF2B5EF4-FFF2-40B4-BE49-F238E27FC236}">
                <a16:creationId xmlns:a16="http://schemas.microsoft.com/office/drawing/2014/main" id="{901B6E4D-6942-45C5-99A9-6B769E8902BD}"/>
              </a:ext>
            </a:extLst>
          </p:cNvPr>
          <p:cNvSpPr>
            <a:spLocks noGrp="1"/>
          </p:cNvSpPr>
          <p:nvPr>
            <p:ph type="body" sz="quarter" idx="18"/>
          </p:nvPr>
        </p:nvSpPr>
        <p:spPr>
          <a:xfrm>
            <a:off x="590550" y="3949700"/>
            <a:ext cx="2470702" cy="1854200"/>
          </a:xfrm>
        </p:spPr>
        <p:txBody>
          <a:bodyPr/>
          <a:lstStyle/>
          <a:p>
            <a:r>
              <a:rPr lang="en-IN" sz="3600" b="0" i="0">
                <a:solidFill>
                  <a:schemeClr val="bg2"/>
                </a:solidFill>
                <a:effectLst/>
                <a:latin typeface="Roboto" panose="02000000000000000000" pitchFamily="2" charset="0"/>
              </a:rPr>
              <a:t>Healthcare</a:t>
            </a:r>
            <a:endParaRPr lang="en-US" sz="3600" b="1">
              <a:solidFill>
                <a:schemeClr val="bg2"/>
              </a:solidFill>
            </a:endParaRPr>
          </a:p>
        </p:txBody>
      </p:sp>
      <p:sp>
        <p:nvSpPr>
          <p:cNvPr id="12" name="Text Placeholder 11">
            <a:extLst>
              <a:ext uri="{FF2B5EF4-FFF2-40B4-BE49-F238E27FC236}">
                <a16:creationId xmlns:a16="http://schemas.microsoft.com/office/drawing/2014/main" id="{7D269992-EA9D-41F6-85C3-B78921847100}"/>
              </a:ext>
            </a:extLst>
          </p:cNvPr>
          <p:cNvSpPr>
            <a:spLocks noGrp="1"/>
          </p:cNvSpPr>
          <p:nvPr>
            <p:ph type="body" sz="quarter" idx="19"/>
          </p:nvPr>
        </p:nvSpPr>
        <p:spPr/>
        <p:txBody>
          <a:bodyPr anchor="b"/>
          <a:lstStyle/>
          <a:p>
            <a:r>
              <a:rPr lang="en-IN" b="0" i="0">
                <a:solidFill>
                  <a:srgbClr val="51565E"/>
                </a:solidFill>
                <a:effectLst/>
                <a:latin typeface="Roboto" panose="02000000000000000000" pitchFamily="2" charset="0"/>
              </a:rPr>
              <a:t> </a:t>
            </a:r>
            <a:r>
              <a:rPr lang="en-IN" sz="3600">
                <a:solidFill>
                  <a:schemeClr val="bg2"/>
                </a:solidFill>
                <a:latin typeface="Roboto" panose="02000000000000000000" pitchFamily="2" charset="0"/>
              </a:rPr>
              <a:t>Banking sector</a:t>
            </a:r>
            <a:endParaRPr lang="en-US" sz="3600">
              <a:solidFill>
                <a:schemeClr val="bg2"/>
              </a:solidFill>
              <a:latin typeface="Roboto" panose="02000000000000000000" pitchFamily="2" charset="0"/>
            </a:endParaRPr>
          </a:p>
        </p:txBody>
      </p:sp>
      <p:sp>
        <p:nvSpPr>
          <p:cNvPr id="13" name="Text Placeholder 12">
            <a:extLst>
              <a:ext uri="{FF2B5EF4-FFF2-40B4-BE49-F238E27FC236}">
                <a16:creationId xmlns:a16="http://schemas.microsoft.com/office/drawing/2014/main" id="{6DFAA7E0-5467-48C2-A0A1-08FFCDD0AB29}"/>
              </a:ext>
            </a:extLst>
          </p:cNvPr>
          <p:cNvSpPr>
            <a:spLocks noGrp="1"/>
          </p:cNvSpPr>
          <p:nvPr>
            <p:ph type="body" sz="quarter" idx="20"/>
          </p:nvPr>
        </p:nvSpPr>
        <p:spPr>
          <a:xfrm>
            <a:off x="6287474" y="3949700"/>
            <a:ext cx="2697500" cy="1854200"/>
          </a:xfrm>
        </p:spPr>
        <p:txBody>
          <a:bodyPr/>
          <a:lstStyle/>
          <a:p>
            <a:r>
              <a:rPr lang="en-IN" sz="3000">
                <a:solidFill>
                  <a:schemeClr val="bg2"/>
                </a:solidFill>
                <a:latin typeface="Roboto" panose="02000000000000000000" pitchFamily="2" charset="0"/>
              </a:rPr>
              <a:t>Manufacturing</a:t>
            </a:r>
            <a:endParaRPr lang="en-US" sz="3000">
              <a:solidFill>
                <a:schemeClr val="bg2"/>
              </a:solidFill>
              <a:latin typeface="Roboto" panose="02000000000000000000" pitchFamily="2" charset="0"/>
            </a:endParaRPr>
          </a:p>
        </p:txBody>
      </p:sp>
      <p:sp>
        <p:nvSpPr>
          <p:cNvPr id="14" name="Text Placeholder 13">
            <a:extLst>
              <a:ext uri="{FF2B5EF4-FFF2-40B4-BE49-F238E27FC236}">
                <a16:creationId xmlns:a16="http://schemas.microsoft.com/office/drawing/2014/main" id="{26CD0F95-69FE-4CD4-B47D-11711D394220}"/>
              </a:ext>
            </a:extLst>
          </p:cNvPr>
          <p:cNvSpPr>
            <a:spLocks noGrp="1"/>
          </p:cNvSpPr>
          <p:nvPr>
            <p:ph type="body" sz="quarter" idx="21"/>
          </p:nvPr>
        </p:nvSpPr>
        <p:spPr/>
        <p:txBody>
          <a:bodyPr anchor="b"/>
          <a:lstStyle/>
          <a:p>
            <a:r>
              <a:rPr lang="en-IN" sz="3600">
                <a:solidFill>
                  <a:schemeClr val="bg2"/>
                </a:solidFill>
                <a:latin typeface="Roboto" panose="02000000000000000000" pitchFamily="2" charset="0"/>
              </a:rPr>
              <a:t>Retail</a:t>
            </a:r>
            <a:endParaRPr lang="en-US" sz="3600">
              <a:solidFill>
                <a:schemeClr val="bg2"/>
              </a:solidFill>
              <a:latin typeface="Roboto" panose="02000000000000000000" pitchFamily="2" charset="0"/>
            </a:endParaRPr>
          </a:p>
        </p:txBody>
      </p:sp>
      <p:sp>
        <p:nvSpPr>
          <p:cNvPr id="2" name="Slide Number Placeholder 1">
            <a:extLst>
              <a:ext uri="{FF2B5EF4-FFF2-40B4-BE49-F238E27FC236}">
                <a16:creationId xmlns:a16="http://schemas.microsoft.com/office/drawing/2014/main" id="{7EAB17F8-59B5-4C93-9884-D30446299CA5}"/>
              </a:ext>
            </a:extLst>
          </p:cNvPr>
          <p:cNvSpPr>
            <a:spLocks noGrp="1"/>
          </p:cNvSpPr>
          <p:nvPr>
            <p:ph type="sldNum" sz="quarter" idx="12"/>
          </p:nvPr>
        </p:nvSpPr>
        <p:spPr/>
        <p:txBody>
          <a:bodyPr/>
          <a:lstStyle/>
          <a:p>
            <a:fld id="{03DC2DEF-D2FE-4B45-ABA4-9F153FD1C98A}" type="slidenum">
              <a:rPr lang="en-US" smtClean="0"/>
              <a:t>22</a:t>
            </a:fld>
            <a:endParaRPr lang="en-US"/>
          </a:p>
        </p:txBody>
      </p:sp>
    </p:spTree>
    <p:extLst>
      <p:ext uri="{BB962C8B-B14F-4D97-AF65-F5344CB8AC3E}">
        <p14:creationId xmlns:p14="http://schemas.microsoft.com/office/powerpoint/2010/main" val="1163063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AFFFE-ABE9-46B2-98AC-035B883D2C11}"/>
              </a:ext>
            </a:extLst>
          </p:cNvPr>
          <p:cNvSpPr>
            <a:spLocks noGrp="1"/>
          </p:cNvSpPr>
          <p:nvPr>
            <p:ph type="title"/>
          </p:nvPr>
        </p:nvSpPr>
        <p:spPr>
          <a:solidFill>
            <a:schemeClr val="accent1">
              <a:lumMod val="60000"/>
              <a:lumOff val="40000"/>
            </a:schemeClr>
          </a:solidFill>
        </p:spPr>
        <p:txBody>
          <a:bodyPr/>
          <a:lstStyle/>
          <a:p>
            <a:r>
              <a:rPr lang="en-US" b="1" i="0">
                <a:solidFill>
                  <a:srgbClr val="273239"/>
                </a:solidFill>
                <a:effectLst/>
                <a:latin typeface="Source Sans 3"/>
              </a:rPr>
              <a:t>Life Cycle Phases of Data Analytics</a:t>
            </a:r>
            <a:br>
              <a:rPr lang="en-US" b="1" i="0">
                <a:solidFill>
                  <a:srgbClr val="273239"/>
                </a:solidFill>
                <a:effectLst/>
                <a:latin typeface="Source Sans 3"/>
              </a:rPr>
            </a:br>
            <a:endParaRPr lang="en-IN"/>
          </a:p>
        </p:txBody>
      </p:sp>
      <p:pic>
        <p:nvPicPr>
          <p:cNvPr id="7" name="Content Placeholder 6">
            <a:extLst>
              <a:ext uri="{FF2B5EF4-FFF2-40B4-BE49-F238E27FC236}">
                <a16:creationId xmlns:a16="http://schemas.microsoft.com/office/drawing/2014/main" id="{ACB9E31A-DE09-4EAC-9669-79C651EB71F5}"/>
              </a:ext>
            </a:extLst>
          </p:cNvPr>
          <p:cNvPicPr>
            <a:picLocks noGrp="1" noChangeAspect="1"/>
          </p:cNvPicPr>
          <p:nvPr>
            <p:ph idx="1"/>
          </p:nvPr>
        </p:nvPicPr>
        <p:blipFill>
          <a:blip r:embed="rId2"/>
          <a:stretch>
            <a:fillRect/>
          </a:stretch>
        </p:blipFill>
        <p:spPr>
          <a:xfrm>
            <a:off x="5183188" y="1422443"/>
            <a:ext cx="6172200" cy="4003589"/>
          </a:xfrm>
        </p:spPr>
      </p:pic>
      <p:sp>
        <p:nvSpPr>
          <p:cNvPr id="4" name="Text Placeholder 3">
            <a:extLst>
              <a:ext uri="{FF2B5EF4-FFF2-40B4-BE49-F238E27FC236}">
                <a16:creationId xmlns:a16="http://schemas.microsoft.com/office/drawing/2014/main" id="{091A357E-EBB0-41AB-BD5C-4FAB1BCE10AE}"/>
              </a:ext>
            </a:extLst>
          </p:cNvPr>
          <p:cNvSpPr>
            <a:spLocks noGrp="1"/>
          </p:cNvSpPr>
          <p:nvPr>
            <p:ph type="body" sz="half" idx="2"/>
          </p:nvPr>
        </p:nvSpPr>
        <p:spPr/>
        <p:txBody>
          <a:bodyPr>
            <a:normAutofit lnSpcReduction="10000"/>
          </a:bodyPr>
          <a:lstStyle/>
          <a:p>
            <a:pPr>
              <a:lnSpc>
                <a:spcPct val="150000"/>
              </a:lnSpc>
            </a:pPr>
            <a:r>
              <a:rPr lang="en-IN" sz="2000" b="1" i="0">
                <a:solidFill>
                  <a:srgbClr val="273239"/>
                </a:solidFill>
                <a:effectLst/>
                <a:latin typeface="Nunito" pitchFamily="2" charset="0"/>
              </a:rPr>
              <a:t>Phase 1: Discovery </a:t>
            </a:r>
            <a:endParaRPr lang="en-IN" sz="2000" b="0" i="0">
              <a:solidFill>
                <a:srgbClr val="273239"/>
              </a:solidFill>
              <a:effectLst/>
              <a:latin typeface="Nunito" pitchFamily="2" charset="0"/>
            </a:endParaRPr>
          </a:p>
          <a:p>
            <a:pPr>
              <a:lnSpc>
                <a:spcPct val="150000"/>
              </a:lnSpc>
            </a:pPr>
            <a:r>
              <a:rPr lang="en-IN" sz="2000" b="1" i="0">
                <a:solidFill>
                  <a:srgbClr val="273239"/>
                </a:solidFill>
                <a:effectLst/>
                <a:latin typeface="Nunito" pitchFamily="2" charset="0"/>
              </a:rPr>
              <a:t>Phase 2: Data Preparation </a:t>
            </a:r>
            <a:endParaRPr lang="en-IN" sz="2000" b="0" i="0">
              <a:solidFill>
                <a:srgbClr val="273239"/>
              </a:solidFill>
              <a:effectLst/>
              <a:latin typeface="Nunito" pitchFamily="2" charset="0"/>
            </a:endParaRPr>
          </a:p>
          <a:p>
            <a:pPr>
              <a:lnSpc>
                <a:spcPct val="150000"/>
              </a:lnSpc>
            </a:pPr>
            <a:r>
              <a:rPr lang="en-IN" sz="2000" b="1" i="0">
                <a:solidFill>
                  <a:srgbClr val="273239"/>
                </a:solidFill>
                <a:effectLst/>
                <a:latin typeface="Nunito" pitchFamily="2" charset="0"/>
              </a:rPr>
              <a:t>Phase 3: Model Planning </a:t>
            </a:r>
            <a:endParaRPr lang="en-IN" sz="2000" b="0" i="0">
              <a:solidFill>
                <a:srgbClr val="273239"/>
              </a:solidFill>
              <a:effectLst/>
              <a:latin typeface="Nunito" pitchFamily="2" charset="0"/>
            </a:endParaRPr>
          </a:p>
          <a:p>
            <a:pPr>
              <a:lnSpc>
                <a:spcPct val="150000"/>
              </a:lnSpc>
            </a:pPr>
            <a:r>
              <a:rPr lang="en-IN" sz="2000" b="1" i="0">
                <a:solidFill>
                  <a:srgbClr val="273239"/>
                </a:solidFill>
                <a:effectLst/>
                <a:latin typeface="Nunito" pitchFamily="2" charset="0"/>
              </a:rPr>
              <a:t>Phase 4: Model Building </a:t>
            </a:r>
            <a:endParaRPr lang="en-IN" sz="2000" b="0" i="0">
              <a:solidFill>
                <a:srgbClr val="273239"/>
              </a:solidFill>
              <a:effectLst/>
              <a:latin typeface="Nunito" pitchFamily="2" charset="0"/>
            </a:endParaRPr>
          </a:p>
          <a:p>
            <a:pPr>
              <a:lnSpc>
                <a:spcPct val="150000"/>
              </a:lnSpc>
            </a:pPr>
            <a:r>
              <a:rPr lang="en-IN" sz="2000" b="1" i="0">
                <a:solidFill>
                  <a:srgbClr val="273239"/>
                </a:solidFill>
                <a:effectLst/>
                <a:latin typeface="Nunito" pitchFamily="2" charset="0"/>
              </a:rPr>
              <a:t>Phase 5: Communication Results </a:t>
            </a:r>
            <a:endParaRPr lang="en-IN" sz="2000" b="0" i="0">
              <a:solidFill>
                <a:srgbClr val="273239"/>
              </a:solidFill>
              <a:effectLst/>
              <a:latin typeface="Nunito" pitchFamily="2" charset="0"/>
            </a:endParaRPr>
          </a:p>
          <a:p>
            <a:pPr>
              <a:lnSpc>
                <a:spcPct val="150000"/>
              </a:lnSpc>
            </a:pPr>
            <a:r>
              <a:rPr lang="en-IN" sz="2000" b="1" i="0">
                <a:solidFill>
                  <a:srgbClr val="273239"/>
                </a:solidFill>
                <a:effectLst/>
                <a:latin typeface="Nunito" pitchFamily="2" charset="0"/>
              </a:rPr>
              <a:t>Phase 6: Operationalize </a:t>
            </a:r>
            <a:endParaRPr lang="en-IN" sz="2000" b="0" i="0">
              <a:solidFill>
                <a:srgbClr val="273239"/>
              </a:solidFill>
              <a:effectLst/>
              <a:latin typeface="Nunito" pitchFamily="2" charset="0"/>
            </a:endParaRPr>
          </a:p>
          <a:p>
            <a:pPr>
              <a:lnSpc>
                <a:spcPct val="150000"/>
              </a:lnSpc>
            </a:pPr>
            <a:endParaRPr lang="en-IN" sz="2000"/>
          </a:p>
        </p:txBody>
      </p:sp>
      <p:sp>
        <p:nvSpPr>
          <p:cNvPr id="5" name="Slide Number Placeholder 4">
            <a:extLst>
              <a:ext uri="{FF2B5EF4-FFF2-40B4-BE49-F238E27FC236}">
                <a16:creationId xmlns:a16="http://schemas.microsoft.com/office/drawing/2014/main" id="{7DFB9C32-4202-4963-A548-D0F2DFC64F37}"/>
              </a:ext>
            </a:extLst>
          </p:cNvPr>
          <p:cNvSpPr>
            <a:spLocks noGrp="1"/>
          </p:cNvSpPr>
          <p:nvPr>
            <p:ph type="sldNum" sz="quarter" idx="12"/>
          </p:nvPr>
        </p:nvSpPr>
        <p:spPr/>
        <p:txBody>
          <a:bodyPr/>
          <a:lstStyle/>
          <a:p>
            <a:fld id="{03DC2DEF-D2FE-4B45-ABA4-9F153FD1C98A}" type="slidenum">
              <a:rPr lang="en-US" smtClean="0"/>
              <a:t>23</a:t>
            </a:fld>
            <a:endParaRPr lang="en-US"/>
          </a:p>
        </p:txBody>
      </p:sp>
    </p:spTree>
    <p:extLst>
      <p:ext uri="{BB962C8B-B14F-4D97-AF65-F5344CB8AC3E}">
        <p14:creationId xmlns:p14="http://schemas.microsoft.com/office/powerpoint/2010/main" val="509044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Phase 1: Discovery</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400"/>
            <a:ext cx="10512424" cy="3811588"/>
          </a:xfrm>
        </p:spPr>
        <p:txBody>
          <a:bodyPr>
            <a:normAutofit/>
          </a:bodyPr>
          <a:lstStyle/>
          <a:p>
            <a:pPr algn="l" fontAlgn="base">
              <a:buFont typeface="Arial" panose="020B0604020202020204" pitchFamily="34" charset="0"/>
              <a:buChar char="•"/>
            </a:pPr>
            <a:r>
              <a:rPr lang="en-US" sz="3200" b="0" i="0">
                <a:solidFill>
                  <a:srgbClr val="273239"/>
                </a:solidFill>
                <a:effectLst/>
                <a:latin typeface="Nunito" pitchFamily="2" charset="0"/>
              </a:rPr>
              <a:t>The data science team learns and investigates the problem.</a:t>
            </a:r>
          </a:p>
          <a:p>
            <a:pPr algn="l" fontAlgn="base">
              <a:buFont typeface="Arial" panose="020B0604020202020204" pitchFamily="34" charset="0"/>
              <a:buChar char="•"/>
            </a:pPr>
            <a:r>
              <a:rPr lang="en-US" sz="3200" b="0" i="0">
                <a:solidFill>
                  <a:srgbClr val="273239"/>
                </a:solidFill>
                <a:effectLst/>
                <a:latin typeface="Nunito" pitchFamily="2" charset="0"/>
              </a:rPr>
              <a:t>Develop context and understanding.</a:t>
            </a:r>
          </a:p>
          <a:p>
            <a:pPr algn="l" fontAlgn="base">
              <a:buFont typeface="Arial" panose="020B0604020202020204" pitchFamily="34" charset="0"/>
              <a:buChar char="•"/>
            </a:pPr>
            <a:r>
              <a:rPr lang="en-US" sz="3200" b="0" i="0">
                <a:solidFill>
                  <a:srgbClr val="273239"/>
                </a:solidFill>
                <a:effectLst/>
                <a:latin typeface="Nunito" pitchFamily="2" charset="0"/>
              </a:rPr>
              <a:t>Come to know about data sources needed and available for the project.</a:t>
            </a:r>
          </a:p>
          <a:p>
            <a:pPr algn="l" fontAlgn="base">
              <a:buFont typeface="Arial" panose="020B0604020202020204" pitchFamily="34" charset="0"/>
              <a:buChar char="•"/>
            </a:pPr>
            <a:r>
              <a:rPr lang="en-US" sz="3200" b="0" i="0">
                <a:solidFill>
                  <a:srgbClr val="273239"/>
                </a:solidFill>
                <a:effectLst/>
                <a:latin typeface="Nunito" pitchFamily="2" charset="0"/>
              </a:rPr>
              <a:t>The team formulates the initial hypothesis that can be later tested with data.</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24</a:t>
            </a:fld>
            <a:endParaRPr lang="en-US"/>
          </a:p>
        </p:txBody>
      </p:sp>
    </p:spTree>
    <p:extLst>
      <p:ext uri="{BB962C8B-B14F-4D97-AF65-F5344CB8AC3E}">
        <p14:creationId xmlns:p14="http://schemas.microsoft.com/office/powerpoint/2010/main" val="9422240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Phase 2: Data Preparation</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Steps to explore, preprocess, and condition data before modeling and analysis.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It requires the presence of an analytic sandbox, the team executes, loads, and transforms, to get data into the sandbox.</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Data preparation tasks are likely to be performed multiple times and not in predefined order.</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Several tools commonly used for this phase are – Hadoop, Alpine Miner, Open Refine, etc.</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25</a:t>
            </a:fld>
            <a:endParaRPr lang="en-US"/>
          </a:p>
        </p:txBody>
      </p:sp>
    </p:spTree>
    <p:extLst>
      <p:ext uri="{BB962C8B-B14F-4D97-AF65-F5344CB8AC3E}">
        <p14:creationId xmlns:p14="http://schemas.microsoft.com/office/powerpoint/2010/main" val="19474548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Phase 3: Model Planning </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The team explores data to learn about relationships between variables and subsequently, selects key variables and the most suitable models.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In this phase, the data science team develops data sets for training, testing, and production purposes.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Team builds and executes models based on the work done in the model planning phase.</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Several tools commonly used for this phase are – </a:t>
            </a:r>
            <a:r>
              <a:rPr lang="en-US" sz="2500" b="0" i="0" err="1">
                <a:solidFill>
                  <a:srgbClr val="273239"/>
                </a:solidFill>
                <a:effectLst/>
                <a:latin typeface="Nunito" pitchFamily="2" charset="0"/>
              </a:rPr>
              <a:t>Matlab</a:t>
            </a:r>
            <a:r>
              <a:rPr lang="en-US" sz="2500" b="0" i="0">
                <a:solidFill>
                  <a:srgbClr val="273239"/>
                </a:solidFill>
                <a:effectLst/>
                <a:latin typeface="Nunito" pitchFamily="2" charset="0"/>
              </a:rPr>
              <a:t> and STASTICA.</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26</a:t>
            </a:fld>
            <a:endParaRPr lang="en-US"/>
          </a:p>
        </p:txBody>
      </p:sp>
    </p:spTree>
    <p:extLst>
      <p:ext uri="{BB962C8B-B14F-4D97-AF65-F5344CB8AC3E}">
        <p14:creationId xmlns:p14="http://schemas.microsoft.com/office/powerpoint/2010/main" val="1603565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Phase 4: Model Building</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Team develops datasets for testing, training, and production purposes.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Team also considers whether its existing tools will suffice for running the models or if they need more robust environment for executing models.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Free or open-source tools – Rand PL/R, Octave, WEKA.</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Commercial tools – </a:t>
            </a:r>
            <a:r>
              <a:rPr lang="en-US" sz="2500" b="0" i="0" err="1">
                <a:solidFill>
                  <a:srgbClr val="273239"/>
                </a:solidFill>
                <a:effectLst/>
                <a:latin typeface="Nunito" pitchFamily="2" charset="0"/>
              </a:rPr>
              <a:t>Matlab</a:t>
            </a:r>
            <a:r>
              <a:rPr lang="en-US" sz="2500" b="0" i="0">
                <a:solidFill>
                  <a:srgbClr val="273239"/>
                </a:solidFill>
                <a:effectLst/>
                <a:latin typeface="Nunito" pitchFamily="2" charset="0"/>
              </a:rPr>
              <a:t> and STASTICA.</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27</a:t>
            </a:fld>
            <a:endParaRPr lang="en-US"/>
          </a:p>
        </p:txBody>
      </p:sp>
    </p:spTree>
    <p:extLst>
      <p:ext uri="{BB962C8B-B14F-4D97-AF65-F5344CB8AC3E}">
        <p14:creationId xmlns:p14="http://schemas.microsoft.com/office/powerpoint/2010/main" val="204384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Phase 5: Communication Results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After executing model team need to compare outcomes of modeling to criteria established for success and failure.</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Team considers how best to articulate findings and outcomes to various team members and stakeholders, taking into account warning, assumptions.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Team should identify key findings, quantify business value, and develop narrative to summarize and convey findings to stakeholders.</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28</a:t>
            </a:fld>
            <a:endParaRPr lang="en-US"/>
          </a:p>
        </p:txBody>
      </p:sp>
    </p:spTree>
    <p:extLst>
      <p:ext uri="{BB962C8B-B14F-4D97-AF65-F5344CB8AC3E}">
        <p14:creationId xmlns:p14="http://schemas.microsoft.com/office/powerpoint/2010/main" val="3475162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Phase 6: Operationalize</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The team communicates benefits of project more broadly and sets up pilot project to deploy work in controlled way before broadening the work to full enterprise of users.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This approach enables team to learn about performance and related constraints of the model in production environment on small scale which make adjustments before full deployment.</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The team delivers final reports, briefings, codes.</a:t>
            </a:r>
          </a:p>
          <a:p>
            <a:pPr algn="l" fontAlgn="base">
              <a:lnSpc>
                <a:spcPct val="100000"/>
              </a:lnSpc>
              <a:buFont typeface="Arial" panose="020B0604020202020204" pitchFamily="34" charset="0"/>
              <a:buChar char="•"/>
            </a:pPr>
            <a:r>
              <a:rPr lang="en-US" sz="2500" b="0" i="0">
                <a:solidFill>
                  <a:srgbClr val="273239"/>
                </a:solidFill>
                <a:effectLst/>
                <a:latin typeface="Nunito" pitchFamily="2" charset="0"/>
              </a:rPr>
              <a:t>Free or open source tools – Octave, WEKA, SQL, </a:t>
            </a:r>
            <a:r>
              <a:rPr lang="en-US" sz="2500" b="0" i="0" err="1">
                <a:solidFill>
                  <a:srgbClr val="273239"/>
                </a:solidFill>
                <a:effectLst/>
                <a:latin typeface="Nunito" pitchFamily="2" charset="0"/>
              </a:rPr>
              <a:t>MADlib</a:t>
            </a:r>
            <a:r>
              <a:rPr lang="en-US" sz="2500" b="0" i="0">
                <a:solidFill>
                  <a:srgbClr val="273239"/>
                </a:solidFill>
                <a:effectLst/>
                <a:latin typeface="Nunito" pitchFamily="2" charset="0"/>
              </a:rPr>
              <a:t>.</a:t>
            </a: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29</a:t>
            </a:fld>
            <a:endParaRPr lang="en-US"/>
          </a:p>
        </p:txBody>
      </p:sp>
    </p:spTree>
    <p:extLst>
      <p:ext uri="{BB962C8B-B14F-4D97-AF65-F5344CB8AC3E}">
        <p14:creationId xmlns:p14="http://schemas.microsoft.com/office/powerpoint/2010/main" val="18115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l"/>
            <a:r>
              <a:rPr lang="en-IN" sz="4000" b="0" i="0">
                <a:solidFill>
                  <a:srgbClr val="383838"/>
                </a:solidFill>
                <a:effectLst/>
                <a:latin typeface="Inter"/>
              </a:rPr>
              <a:t>Variable Identification in Data Exploration</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3026127" y="2057399"/>
            <a:ext cx="17530791" cy="10012405"/>
          </a:xfrm>
        </p:spPr>
        <p:txBody>
          <a:bodyPr>
            <a:normAutofit/>
          </a:bodyPr>
          <a:lstStyle/>
          <a:p>
            <a:pPr algn="l" fontAlgn="base">
              <a:lnSpc>
                <a:spcPct val="100000"/>
              </a:lnSpc>
              <a:buFont typeface="Arial" panose="020B0604020202020204" pitchFamily="34" charset="0"/>
              <a:buChar char="•"/>
            </a:pPr>
            <a:endParaRPr lang="en-US" sz="25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30</a:t>
            </a:fld>
            <a:endParaRPr lang="en-US"/>
          </a:p>
        </p:txBody>
      </p:sp>
      <p:pic>
        <p:nvPicPr>
          <p:cNvPr id="1026" name="Picture 2" descr="Business Analytics, Data Exploration">
            <a:extLst>
              <a:ext uri="{FF2B5EF4-FFF2-40B4-BE49-F238E27FC236}">
                <a16:creationId xmlns:a16="http://schemas.microsoft.com/office/drawing/2014/main" id="{EFAAA701-B0DD-40CD-9F62-7A89143B1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722" y="2819400"/>
            <a:ext cx="9117495" cy="2945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4862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l"/>
            <a:r>
              <a:rPr lang="en-IN" sz="4000" b="0" i="0">
                <a:solidFill>
                  <a:srgbClr val="383838"/>
                </a:solidFill>
                <a:effectLst/>
                <a:latin typeface="Inter"/>
              </a:rPr>
              <a:t>Variable Identification in Data Exploration</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3026127" y="2057399"/>
            <a:ext cx="17530791" cy="10012405"/>
          </a:xfrm>
        </p:spPr>
        <p:txBody>
          <a:bodyPr>
            <a:normAutofit/>
          </a:bodyPr>
          <a:lstStyle/>
          <a:p>
            <a:pPr algn="l" fontAlgn="base">
              <a:lnSpc>
                <a:spcPct val="100000"/>
              </a:lnSpc>
              <a:buFont typeface="Arial" panose="020B0604020202020204" pitchFamily="34" charset="0"/>
              <a:buChar char="•"/>
            </a:pPr>
            <a:endParaRPr lang="en-US" sz="25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31</a:t>
            </a:fld>
            <a:endParaRPr lang="en-US"/>
          </a:p>
        </p:txBody>
      </p:sp>
      <p:pic>
        <p:nvPicPr>
          <p:cNvPr id="2050" name="Picture 2" descr="Business Analytics, Data Exploration">
            <a:extLst>
              <a:ext uri="{FF2B5EF4-FFF2-40B4-BE49-F238E27FC236}">
                <a16:creationId xmlns:a16="http://schemas.microsoft.com/office/drawing/2014/main" id="{9C37B066-377C-4306-B889-0C4438E034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140" y="2105024"/>
            <a:ext cx="8693623" cy="4172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03908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7E3A7-DE14-4B05-8821-CDF65B3CA393}"/>
              </a:ext>
            </a:extLst>
          </p:cNvPr>
          <p:cNvSpPr>
            <a:spLocks noGrp="1"/>
          </p:cNvSpPr>
          <p:nvPr>
            <p:ph type="title"/>
          </p:nvPr>
        </p:nvSpPr>
        <p:spPr/>
        <p:txBody>
          <a:bodyPr/>
          <a:lstStyle/>
          <a:p>
            <a:pPr algn="ctr"/>
            <a:r>
              <a:rPr lang="en-US"/>
              <a:t>Steps of Data Exploration and Preparation</a:t>
            </a:r>
            <a:endParaRPr lang="en-IN"/>
          </a:p>
        </p:txBody>
      </p:sp>
      <p:sp>
        <p:nvSpPr>
          <p:cNvPr id="3" name="Slide Number Placeholder 2">
            <a:extLst>
              <a:ext uri="{FF2B5EF4-FFF2-40B4-BE49-F238E27FC236}">
                <a16:creationId xmlns:a16="http://schemas.microsoft.com/office/drawing/2014/main" id="{941BC47B-5162-4ADA-943A-646DB6619D9F}"/>
              </a:ext>
            </a:extLst>
          </p:cNvPr>
          <p:cNvSpPr>
            <a:spLocks noGrp="1"/>
          </p:cNvSpPr>
          <p:nvPr>
            <p:ph type="sldNum" sz="quarter" idx="12"/>
          </p:nvPr>
        </p:nvSpPr>
        <p:spPr/>
        <p:txBody>
          <a:bodyPr/>
          <a:lstStyle/>
          <a:p>
            <a:fld id="{03DC2DEF-D2FE-4B45-ABA4-9F153FD1C98A}" type="slidenum">
              <a:rPr lang="en-US" smtClean="0"/>
              <a:t>32</a:t>
            </a:fld>
            <a:endParaRPr lang="en-US"/>
          </a:p>
        </p:txBody>
      </p:sp>
      <p:sp>
        <p:nvSpPr>
          <p:cNvPr id="5" name="Text Placeholder 4">
            <a:extLst>
              <a:ext uri="{FF2B5EF4-FFF2-40B4-BE49-F238E27FC236}">
                <a16:creationId xmlns:a16="http://schemas.microsoft.com/office/drawing/2014/main" id="{442C89B6-0DBD-4A11-9885-7DB0152C241C}"/>
              </a:ext>
            </a:extLst>
          </p:cNvPr>
          <p:cNvSpPr>
            <a:spLocks noGrp="1"/>
          </p:cNvSpPr>
          <p:nvPr>
            <p:ph type="body" idx="1"/>
          </p:nvPr>
        </p:nvSpPr>
        <p:spPr/>
        <p:txBody>
          <a:bodyPr>
            <a:normAutofit lnSpcReduction="10000"/>
          </a:bodyPr>
          <a:lstStyle/>
          <a:p>
            <a:r>
              <a:rPr lang="en-US"/>
              <a:t>Steps of Data Exploration and Preparation</a:t>
            </a:r>
            <a:endParaRPr lang="en-IN"/>
          </a:p>
        </p:txBody>
      </p:sp>
      <p:sp>
        <p:nvSpPr>
          <p:cNvPr id="6" name="Content Placeholder 5">
            <a:extLst>
              <a:ext uri="{FF2B5EF4-FFF2-40B4-BE49-F238E27FC236}">
                <a16:creationId xmlns:a16="http://schemas.microsoft.com/office/drawing/2014/main" id="{EC52F56F-7F97-49F8-9EB5-FE8A720ED814}"/>
              </a:ext>
            </a:extLst>
          </p:cNvPr>
          <p:cNvSpPr>
            <a:spLocks noGrp="1"/>
          </p:cNvSpPr>
          <p:nvPr>
            <p:ph sz="half" idx="2"/>
          </p:nvPr>
        </p:nvSpPr>
        <p:spPr>
          <a:xfrm>
            <a:off x="3080645" y="2623930"/>
            <a:ext cx="2986019" cy="3448880"/>
          </a:xfrm>
        </p:spPr>
        <p:txBody>
          <a:bodyPr/>
          <a:lstStyle/>
          <a:p>
            <a:pPr>
              <a:buFont typeface="+mj-lt"/>
              <a:buAutoNum type="arabicPeriod"/>
            </a:pPr>
            <a:r>
              <a:rPr lang="en-IN" b="0" i="0">
                <a:solidFill>
                  <a:srgbClr val="383838"/>
                </a:solidFill>
                <a:effectLst/>
                <a:latin typeface="Inter"/>
              </a:rPr>
              <a:t>Variable Identification</a:t>
            </a:r>
          </a:p>
          <a:p>
            <a:pPr algn="l">
              <a:buFont typeface="+mj-lt"/>
              <a:buAutoNum type="arabicPeriod"/>
            </a:pPr>
            <a:r>
              <a:rPr lang="en-IN" b="0" i="0">
                <a:solidFill>
                  <a:srgbClr val="383838"/>
                </a:solidFill>
                <a:effectLst/>
                <a:latin typeface="Inter"/>
              </a:rPr>
              <a:t>Univariate Analysis</a:t>
            </a:r>
          </a:p>
          <a:p>
            <a:pPr algn="l">
              <a:buFont typeface="+mj-lt"/>
              <a:buAutoNum type="arabicPeriod"/>
            </a:pPr>
            <a:r>
              <a:rPr lang="en-IN" b="0" i="0">
                <a:solidFill>
                  <a:srgbClr val="383838"/>
                </a:solidFill>
                <a:effectLst/>
                <a:latin typeface="Inter"/>
              </a:rPr>
              <a:t>Bi-variate Analysis</a:t>
            </a:r>
          </a:p>
          <a:p>
            <a:pPr algn="l">
              <a:buFont typeface="+mj-lt"/>
              <a:buAutoNum type="arabicPeriod"/>
            </a:pPr>
            <a:r>
              <a:rPr lang="en-IN" b="0" i="0">
                <a:solidFill>
                  <a:srgbClr val="383838"/>
                </a:solidFill>
                <a:effectLst/>
                <a:latin typeface="Inter"/>
              </a:rPr>
              <a:t>Missing values treatment</a:t>
            </a:r>
          </a:p>
          <a:p>
            <a:pPr algn="l">
              <a:buFont typeface="+mj-lt"/>
              <a:buAutoNum type="arabicPeriod"/>
            </a:pPr>
            <a:r>
              <a:rPr lang="en-IN" b="0" i="0">
                <a:solidFill>
                  <a:srgbClr val="383838"/>
                </a:solidFill>
                <a:effectLst/>
                <a:latin typeface="Inter"/>
              </a:rPr>
              <a:t>Outlier treatment</a:t>
            </a:r>
          </a:p>
          <a:p>
            <a:pPr algn="l">
              <a:buFont typeface="+mj-lt"/>
              <a:buAutoNum type="arabicPeriod"/>
            </a:pPr>
            <a:r>
              <a:rPr lang="en-IN" b="0" i="0">
                <a:solidFill>
                  <a:srgbClr val="383838"/>
                </a:solidFill>
                <a:effectLst/>
                <a:latin typeface="Inter"/>
              </a:rPr>
              <a:t>Variable transformation</a:t>
            </a:r>
          </a:p>
          <a:p>
            <a:pPr algn="l">
              <a:buFont typeface="+mj-lt"/>
              <a:buAutoNum type="arabicPeriod"/>
            </a:pPr>
            <a:r>
              <a:rPr lang="en-IN" b="0" i="0">
                <a:solidFill>
                  <a:srgbClr val="383838"/>
                </a:solidFill>
                <a:effectLst/>
                <a:latin typeface="Inter"/>
              </a:rPr>
              <a:t>Variable creation</a:t>
            </a:r>
          </a:p>
          <a:p>
            <a:endParaRPr lang="en-IN"/>
          </a:p>
        </p:txBody>
      </p:sp>
      <p:sp>
        <p:nvSpPr>
          <p:cNvPr id="8" name="Text Placeholder 7">
            <a:extLst>
              <a:ext uri="{FF2B5EF4-FFF2-40B4-BE49-F238E27FC236}">
                <a16:creationId xmlns:a16="http://schemas.microsoft.com/office/drawing/2014/main" id="{866326B7-A418-43FD-B8A8-0BB17D1F7F3A}"/>
              </a:ext>
            </a:extLst>
          </p:cNvPr>
          <p:cNvSpPr>
            <a:spLocks noGrp="1"/>
          </p:cNvSpPr>
          <p:nvPr>
            <p:ph type="body" sz="quarter" idx="3"/>
          </p:nvPr>
        </p:nvSpPr>
        <p:spPr>
          <a:xfrm>
            <a:off x="8786099" y="1333189"/>
            <a:ext cx="2984400" cy="1074410"/>
          </a:xfrm>
        </p:spPr>
        <p:txBody>
          <a:bodyPr>
            <a:normAutofit fontScale="92500" lnSpcReduction="20000"/>
          </a:bodyPr>
          <a:lstStyle/>
          <a:p>
            <a:r>
              <a:rPr lang="en-US"/>
              <a:t>Remember, the quality of your inputs decides the quality of your output</a:t>
            </a:r>
            <a:endParaRPr lang="en-IN"/>
          </a:p>
        </p:txBody>
      </p:sp>
      <p:sp>
        <p:nvSpPr>
          <p:cNvPr id="9" name="Content Placeholder 8">
            <a:extLst>
              <a:ext uri="{FF2B5EF4-FFF2-40B4-BE49-F238E27FC236}">
                <a16:creationId xmlns:a16="http://schemas.microsoft.com/office/drawing/2014/main" id="{1D5714A6-0693-4534-B2BA-FD641E777875}"/>
              </a:ext>
            </a:extLst>
          </p:cNvPr>
          <p:cNvSpPr>
            <a:spLocks noGrp="1"/>
          </p:cNvSpPr>
          <p:nvPr>
            <p:ph sz="quarter" idx="4"/>
          </p:nvPr>
        </p:nvSpPr>
        <p:spPr/>
        <p:txBody>
          <a:bodyPr>
            <a:normAutofit lnSpcReduction="10000"/>
          </a:bodyPr>
          <a:lstStyle/>
          <a:p>
            <a:pPr>
              <a:lnSpc>
                <a:spcPct val="150000"/>
              </a:lnSpc>
            </a:pPr>
            <a:r>
              <a:rPr lang="en-US">
                <a:solidFill>
                  <a:srgbClr val="383838"/>
                </a:solidFill>
                <a:latin typeface="Inter"/>
              </a:rPr>
              <a:t>Data Exploration, Cleaning, And Preparation Can Take Up To 70% Of Your Total Project Time.</a:t>
            </a:r>
          </a:p>
          <a:p>
            <a:pPr>
              <a:lnSpc>
                <a:spcPct val="150000"/>
              </a:lnSpc>
            </a:pPr>
            <a:r>
              <a:rPr lang="en-US">
                <a:solidFill>
                  <a:srgbClr val="383838"/>
                </a:solidFill>
                <a:latin typeface="Inter"/>
              </a:rPr>
              <a:t>once your business hypothesis is ready, spending a lot of time and effort here makes sense</a:t>
            </a:r>
            <a:endParaRPr lang="en-IN">
              <a:solidFill>
                <a:srgbClr val="383838"/>
              </a:solidFill>
              <a:latin typeface="Inter"/>
            </a:endParaRPr>
          </a:p>
        </p:txBody>
      </p:sp>
      <p:pic>
        <p:nvPicPr>
          <p:cNvPr id="14" name="Picture 13">
            <a:extLst>
              <a:ext uri="{FF2B5EF4-FFF2-40B4-BE49-F238E27FC236}">
                <a16:creationId xmlns:a16="http://schemas.microsoft.com/office/drawing/2014/main" id="{68058898-279E-4A57-9B8E-19FBD556005A}"/>
              </a:ext>
            </a:extLst>
          </p:cNvPr>
          <p:cNvPicPr>
            <a:picLocks noChangeAspect="1"/>
          </p:cNvPicPr>
          <p:nvPr/>
        </p:nvPicPr>
        <p:blipFill>
          <a:blip r:embed="rId2"/>
          <a:stretch>
            <a:fillRect/>
          </a:stretch>
        </p:blipFill>
        <p:spPr>
          <a:xfrm>
            <a:off x="4366232" y="2060172"/>
            <a:ext cx="6120300" cy="3313918"/>
          </a:xfrm>
          <a:prstGeom prst="rect">
            <a:avLst/>
          </a:prstGeom>
        </p:spPr>
      </p:pic>
      <p:pic>
        <p:nvPicPr>
          <p:cNvPr id="1030" name="Picture 6" descr="The Essential Steps to Approach a Data Science Problem: From Problem  Formulation to Result Validation | by Ochwada | Medium">
            <a:extLst>
              <a:ext uri="{FF2B5EF4-FFF2-40B4-BE49-F238E27FC236}">
                <a16:creationId xmlns:a16="http://schemas.microsoft.com/office/drawing/2014/main" id="{2DF4E4B5-3A75-4F51-A113-E2518A07732D}"/>
              </a:ext>
            </a:extLst>
          </p:cNvPr>
          <p:cNvPicPr>
            <a:picLocks noGrp="1" noChangeAspect="1" noChangeArrowheads="1"/>
          </p:cNvPicPr>
          <p:nvPr>
            <p:ph type="pic" sz="quarter" idx="13"/>
          </p:nvPr>
        </p:nvPicPr>
        <p:blipFill rotWithShape="1">
          <a:blip r:embed="rId3">
            <a:extLst>
              <a:ext uri="{28A0092B-C50C-407E-A947-70E740481C1C}">
                <a14:useLocalDpi xmlns:a14="http://schemas.microsoft.com/office/drawing/2010/main" val="0"/>
              </a:ext>
            </a:extLst>
          </a:blip>
          <a:srcRect l="36014" t="27992" r="36014" b="22627"/>
          <a:stretch/>
        </p:blipFill>
        <p:spPr bwMode="auto">
          <a:xfrm>
            <a:off x="371475" y="2623930"/>
            <a:ext cx="2466000" cy="2452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9712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Bivariate Analysis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r>
              <a:rPr lang="en-US" sz="3200" b="0" i="0">
                <a:solidFill>
                  <a:srgbClr val="383838"/>
                </a:solidFill>
                <a:effectLst/>
                <a:latin typeface="Inter"/>
              </a:rPr>
              <a:t>  Bivariate analysis  in data exploration refers to finding the relationship between two variables</a:t>
            </a:r>
          </a:p>
          <a:p>
            <a:pPr algn="l" fontAlgn="base">
              <a:lnSpc>
                <a:spcPct val="100000"/>
              </a:lnSpc>
              <a:buFont typeface="Arial" panose="020B0604020202020204" pitchFamily="34" charset="0"/>
              <a:buChar char="•"/>
            </a:pPr>
            <a:r>
              <a:rPr lang="en-US" sz="3200" b="0" i="0">
                <a:solidFill>
                  <a:srgbClr val="383838"/>
                </a:solidFill>
                <a:effectLst/>
                <a:latin typeface="Inter"/>
              </a:rPr>
              <a:t>  We can perform a bivariate analysis combination of</a:t>
            </a:r>
          </a:p>
          <a:p>
            <a:pPr lvl="1" fontAlgn="base">
              <a:lnSpc>
                <a:spcPct val="100000"/>
              </a:lnSpc>
              <a:buFont typeface="Arial" panose="020B0604020202020204" pitchFamily="34" charset="0"/>
              <a:buChar char="•"/>
            </a:pPr>
            <a:r>
              <a:rPr lang="en-US" sz="3000">
                <a:solidFill>
                  <a:srgbClr val="383838"/>
                </a:solidFill>
                <a:latin typeface="Inter"/>
              </a:rPr>
              <a:t> C</a:t>
            </a:r>
            <a:r>
              <a:rPr lang="en-US" sz="3000" b="0" i="0">
                <a:solidFill>
                  <a:srgbClr val="383838"/>
                </a:solidFill>
                <a:effectLst/>
                <a:latin typeface="Inter"/>
              </a:rPr>
              <a:t>ategorical and continuous variables</a:t>
            </a:r>
          </a:p>
          <a:p>
            <a:pPr lvl="1" fontAlgn="base">
              <a:lnSpc>
                <a:spcPct val="100000"/>
              </a:lnSpc>
              <a:buFont typeface="Arial" panose="020B0604020202020204" pitchFamily="34" charset="0"/>
              <a:buChar char="•"/>
            </a:pPr>
            <a:r>
              <a:rPr lang="en-US" sz="3000" b="0" i="0">
                <a:solidFill>
                  <a:srgbClr val="383838"/>
                </a:solidFill>
                <a:effectLst/>
                <a:latin typeface="Inter"/>
              </a:rPr>
              <a:t> Categorical and categorical</a:t>
            </a:r>
          </a:p>
          <a:p>
            <a:pPr lvl="1" fontAlgn="base">
              <a:lnSpc>
                <a:spcPct val="100000"/>
              </a:lnSpc>
              <a:buFont typeface="Arial" panose="020B0604020202020204" pitchFamily="34" charset="0"/>
              <a:buChar char="•"/>
            </a:pPr>
            <a:r>
              <a:rPr lang="en-US" sz="3000" b="0" i="0">
                <a:solidFill>
                  <a:srgbClr val="383838"/>
                </a:solidFill>
                <a:effectLst/>
                <a:latin typeface="Inter"/>
              </a:rPr>
              <a:t> Categorical and continuous</a:t>
            </a:r>
          </a:p>
          <a:p>
            <a:pPr lvl="1" fontAlgn="base">
              <a:lnSpc>
                <a:spcPct val="100000"/>
              </a:lnSpc>
              <a:buFont typeface="Arial" panose="020B0604020202020204" pitchFamily="34" charset="0"/>
              <a:buChar char="•"/>
            </a:pPr>
            <a:r>
              <a:rPr lang="en-US" sz="3000" b="0" i="0">
                <a:solidFill>
                  <a:srgbClr val="383838"/>
                </a:solidFill>
                <a:effectLst/>
                <a:latin typeface="Inter"/>
              </a:rPr>
              <a:t> Continuous and continuous</a:t>
            </a:r>
          </a:p>
          <a:p>
            <a:pPr lvl="1" fontAlgn="base">
              <a:lnSpc>
                <a:spcPct val="100000"/>
              </a:lnSpc>
              <a:buFont typeface="Arial" panose="020B0604020202020204" pitchFamily="34" charset="0"/>
              <a:buChar char="•"/>
            </a:pP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33</a:t>
            </a:fld>
            <a:endParaRPr lang="en-US"/>
          </a:p>
        </p:txBody>
      </p:sp>
    </p:spTree>
    <p:extLst>
      <p:ext uri="{BB962C8B-B14F-4D97-AF65-F5344CB8AC3E}">
        <p14:creationId xmlns:p14="http://schemas.microsoft.com/office/powerpoint/2010/main" val="1964087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D6DCF-D7C9-4CAA-9C12-1D9F64E7374F}"/>
              </a:ext>
            </a:extLst>
          </p:cNvPr>
          <p:cNvSpPr>
            <a:spLocks noGrp="1"/>
          </p:cNvSpPr>
          <p:nvPr>
            <p:ph type="ctrTitle"/>
          </p:nvPr>
        </p:nvSpPr>
        <p:spPr/>
        <p:txBody>
          <a:bodyPr/>
          <a:lstStyle/>
          <a:p>
            <a:r>
              <a:rPr lang="en-IN"/>
              <a:t>Continuous &amp; Continuous</a:t>
            </a:r>
          </a:p>
        </p:txBody>
      </p:sp>
      <p:sp>
        <p:nvSpPr>
          <p:cNvPr id="11" name="Picture Placeholder 10">
            <a:extLst>
              <a:ext uri="{FF2B5EF4-FFF2-40B4-BE49-F238E27FC236}">
                <a16:creationId xmlns:a16="http://schemas.microsoft.com/office/drawing/2014/main" id="{FB6E99AF-ED26-4FE4-8FB8-F9EEDD478764}"/>
              </a:ext>
            </a:extLst>
          </p:cNvPr>
          <p:cNvSpPr>
            <a:spLocks noGrp="1"/>
          </p:cNvSpPr>
          <p:nvPr>
            <p:ph type="pic" sz="quarter" idx="10"/>
          </p:nvPr>
        </p:nvSpPr>
        <p:spPr/>
      </p:sp>
      <p:pic>
        <p:nvPicPr>
          <p:cNvPr id="13" name="Picture 12">
            <a:extLst>
              <a:ext uri="{FF2B5EF4-FFF2-40B4-BE49-F238E27FC236}">
                <a16:creationId xmlns:a16="http://schemas.microsoft.com/office/drawing/2014/main" id="{BCDEC0EE-5635-48A5-BAD9-0AE7B64FC36C}"/>
              </a:ext>
            </a:extLst>
          </p:cNvPr>
          <p:cNvPicPr>
            <a:picLocks noChangeAspect="1"/>
          </p:cNvPicPr>
          <p:nvPr/>
        </p:nvPicPr>
        <p:blipFill>
          <a:blip r:embed="rId2"/>
          <a:stretch>
            <a:fillRect/>
          </a:stretch>
        </p:blipFill>
        <p:spPr>
          <a:xfrm>
            <a:off x="1484242" y="-109538"/>
            <a:ext cx="8719931" cy="4557713"/>
          </a:xfrm>
          <a:prstGeom prst="rect">
            <a:avLst/>
          </a:prstGeom>
        </p:spPr>
      </p:pic>
    </p:spTree>
    <p:extLst>
      <p:ext uri="{BB962C8B-B14F-4D97-AF65-F5344CB8AC3E}">
        <p14:creationId xmlns:p14="http://schemas.microsoft.com/office/powerpoint/2010/main" val="9767955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Continuous &amp; Continuous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fontScale="92500" lnSpcReduction="20000"/>
          </a:bodyPr>
          <a:lstStyle/>
          <a:p>
            <a:pPr algn="l"/>
            <a:r>
              <a:rPr lang="en-US" sz="3600" b="0" i="0">
                <a:solidFill>
                  <a:srgbClr val="383838"/>
                </a:solidFill>
                <a:effectLst/>
                <a:latin typeface="Inter"/>
              </a:rPr>
              <a:t>A scatter plot shows the relationship between two variables but does not indicate its strength. To find the strength of the relationship, we use Correlation, which varies between -1 and +1.</a:t>
            </a:r>
          </a:p>
          <a:p>
            <a:pPr algn="l">
              <a:buFont typeface="Arial" panose="020B0604020202020204" pitchFamily="34" charset="0"/>
              <a:buChar char="•"/>
            </a:pPr>
            <a:r>
              <a:rPr lang="en-US" sz="3600" b="0" i="0">
                <a:solidFill>
                  <a:srgbClr val="383838"/>
                </a:solidFill>
                <a:effectLst/>
                <a:latin typeface="Inter"/>
              </a:rPr>
              <a:t>-1: Perfect negative linear correlation</a:t>
            </a:r>
          </a:p>
          <a:p>
            <a:pPr algn="l">
              <a:buFont typeface="Arial" panose="020B0604020202020204" pitchFamily="34" charset="0"/>
              <a:buChar char="•"/>
            </a:pPr>
            <a:r>
              <a:rPr lang="en-US" sz="3600" b="0" i="0">
                <a:solidFill>
                  <a:srgbClr val="383838"/>
                </a:solidFill>
                <a:effectLst/>
                <a:latin typeface="Inter"/>
              </a:rPr>
              <a:t>+1: Perfect positive linear correlation</a:t>
            </a:r>
          </a:p>
          <a:p>
            <a:pPr algn="l">
              <a:buFont typeface="Arial" panose="020B0604020202020204" pitchFamily="34" charset="0"/>
              <a:buChar char="•"/>
            </a:pPr>
            <a:r>
              <a:rPr lang="en-US" sz="3600" b="0" i="0">
                <a:solidFill>
                  <a:srgbClr val="383838"/>
                </a:solidFill>
                <a:effectLst/>
                <a:latin typeface="Inter"/>
              </a:rPr>
              <a:t>0: No correlation</a:t>
            </a:r>
          </a:p>
          <a:p>
            <a:pPr algn="l"/>
            <a:r>
              <a:rPr lang="en-US" sz="3600" b="0" i="0">
                <a:solidFill>
                  <a:srgbClr val="383838"/>
                </a:solidFill>
                <a:effectLst/>
                <a:latin typeface="Inter"/>
              </a:rPr>
              <a:t>This correlation can be derived using the following formula:</a:t>
            </a:r>
          </a:p>
          <a:p>
            <a:pPr algn="l"/>
            <a:r>
              <a:rPr lang="en-US" sz="3600" b="1" i="0">
                <a:solidFill>
                  <a:srgbClr val="383838"/>
                </a:solidFill>
                <a:effectLst/>
                <a:latin typeface="Inter"/>
              </a:rPr>
              <a:t>Correlation = Covariance(X,Y) / SQRT( Var(X)* Var(Y))</a:t>
            </a:r>
            <a:endParaRPr lang="en-US" sz="3600" b="0" i="0">
              <a:solidFill>
                <a:srgbClr val="383838"/>
              </a:solidFill>
              <a:effectLst/>
              <a:latin typeface="Inter"/>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35</a:t>
            </a:fld>
            <a:endParaRPr lang="en-US"/>
          </a:p>
        </p:txBody>
      </p:sp>
    </p:spTree>
    <p:extLst>
      <p:ext uri="{BB962C8B-B14F-4D97-AF65-F5344CB8AC3E}">
        <p14:creationId xmlns:p14="http://schemas.microsoft.com/office/powerpoint/2010/main" val="669547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FD6DCF-D7C9-4CAA-9C12-1D9F64E7374F}"/>
              </a:ext>
            </a:extLst>
          </p:cNvPr>
          <p:cNvSpPr>
            <a:spLocks noGrp="1"/>
          </p:cNvSpPr>
          <p:nvPr>
            <p:ph type="ctrTitle"/>
          </p:nvPr>
        </p:nvSpPr>
        <p:spPr>
          <a:xfrm>
            <a:off x="335756" y="5068198"/>
            <a:ext cx="11520488" cy="1176337"/>
          </a:xfrm>
        </p:spPr>
        <p:txBody>
          <a:bodyPr>
            <a:normAutofit fontScale="90000"/>
          </a:bodyPr>
          <a:lstStyle/>
          <a:p>
            <a:r>
              <a:rPr lang="en-US"/>
              <a:t>In above example, we have good positive relationship(0.65) between two variables X and Y</a:t>
            </a:r>
            <a:endParaRPr lang="en-IN"/>
          </a:p>
        </p:txBody>
      </p:sp>
      <p:sp>
        <p:nvSpPr>
          <p:cNvPr id="11" name="Picture Placeholder 10">
            <a:extLst>
              <a:ext uri="{FF2B5EF4-FFF2-40B4-BE49-F238E27FC236}">
                <a16:creationId xmlns:a16="http://schemas.microsoft.com/office/drawing/2014/main" id="{FB6E99AF-ED26-4FE4-8FB8-F9EEDD478764}"/>
              </a:ext>
            </a:extLst>
          </p:cNvPr>
          <p:cNvSpPr>
            <a:spLocks noGrp="1"/>
          </p:cNvSpPr>
          <p:nvPr>
            <p:ph type="pic" sz="quarter" idx="10"/>
          </p:nvPr>
        </p:nvSpPr>
        <p:spPr/>
      </p:sp>
      <p:pic>
        <p:nvPicPr>
          <p:cNvPr id="4" name="Picture 3">
            <a:extLst>
              <a:ext uri="{FF2B5EF4-FFF2-40B4-BE49-F238E27FC236}">
                <a16:creationId xmlns:a16="http://schemas.microsoft.com/office/drawing/2014/main" id="{EBB01188-C344-4455-B31E-5F1A3A2ACAC9}"/>
              </a:ext>
            </a:extLst>
          </p:cNvPr>
          <p:cNvPicPr>
            <a:picLocks noChangeAspect="1"/>
          </p:cNvPicPr>
          <p:nvPr/>
        </p:nvPicPr>
        <p:blipFill>
          <a:blip r:embed="rId2"/>
          <a:stretch>
            <a:fillRect/>
          </a:stretch>
        </p:blipFill>
        <p:spPr>
          <a:xfrm>
            <a:off x="0" y="0"/>
            <a:ext cx="12192000" cy="4448175"/>
          </a:xfrm>
          <a:prstGeom prst="rect">
            <a:avLst/>
          </a:prstGeom>
        </p:spPr>
      </p:pic>
    </p:spTree>
    <p:extLst>
      <p:ext uri="{BB962C8B-B14F-4D97-AF65-F5344CB8AC3E}">
        <p14:creationId xmlns:p14="http://schemas.microsoft.com/office/powerpoint/2010/main" val="26632316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Categorical &amp; Categorical</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fontScale="92500"/>
          </a:bodyPr>
          <a:lstStyle/>
          <a:p>
            <a:pPr algn="l" fontAlgn="base">
              <a:lnSpc>
                <a:spcPct val="100000"/>
              </a:lnSpc>
              <a:buFont typeface="Arial" panose="020B0604020202020204" pitchFamily="34" charset="0"/>
              <a:buChar char="•"/>
            </a:pPr>
            <a:r>
              <a:rPr lang="en-IN" sz="4000" b="1" i="0">
                <a:solidFill>
                  <a:srgbClr val="383838"/>
                </a:solidFill>
                <a:effectLst/>
                <a:latin typeface="Inter"/>
              </a:rPr>
              <a:t>Two-way table</a:t>
            </a:r>
            <a:endParaRPr lang="en-US" sz="3600" b="0" i="0">
              <a:solidFill>
                <a:srgbClr val="383838"/>
              </a:solidFill>
              <a:effectLst/>
              <a:latin typeface="Inter"/>
            </a:endParaRPr>
          </a:p>
          <a:p>
            <a:pPr algn="l" fontAlgn="base">
              <a:lnSpc>
                <a:spcPct val="100000"/>
              </a:lnSpc>
              <a:buFont typeface="Arial" panose="020B0604020202020204" pitchFamily="34" charset="0"/>
              <a:buChar char="•"/>
            </a:pPr>
            <a:r>
              <a:rPr lang="en-US" sz="3600" b="0" i="0">
                <a:solidFill>
                  <a:srgbClr val="383838"/>
                </a:solidFill>
                <a:effectLst/>
                <a:latin typeface="Inter"/>
              </a:rPr>
              <a:t>We can start analyzing the relationship by creating a two-way table of count and count%. </a:t>
            </a:r>
          </a:p>
          <a:p>
            <a:pPr algn="l" fontAlgn="base">
              <a:lnSpc>
                <a:spcPct val="100000"/>
              </a:lnSpc>
              <a:buFont typeface="Arial" panose="020B0604020202020204" pitchFamily="34" charset="0"/>
              <a:buChar char="•"/>
            </a:pPr>
            <a:r>
              <a:rPr lang="en-US" sz="3600" b="0" i="0">
                <a:solidFill>
                  <a:srgbClr val="383838"/>
                </a:solidFill>
                <a:effectLst/>
                <a:latin typeface="Inter"/>
              </a:rPr>
              <a:t>The rows represent the category of one variable, and the columns represent the categories of the other variable. </a:t>
            </a:r>
          </a:p>
          <a:p>
            <a:pPr algn="l" fontAlgn="base">
              <a:lnSpc>
                <a:spcPct val="100000"/>
              </a:lnSpc>
              <a:buFont typeface="Arial" panose="020B0604020202020204" pitchFamily="34" charset="0"/>
              <a:buChar char="•"/>
            </a:pPr>
            <a:r>
              <a:rPr lang="en-US" sz="3600" b="0" i="0">
                <a:solidFill>
                  <a:srgbClr val="383838"/>
                </a:solidFill>
                <a:effectLst/>
                <a:latin typeface="Inter"/>
              </a:rPr>
              <a:t>The count or count% of observations available in each combination of row and column categories.</a:t>
            </a: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37</a:t>
            </a:fld>
            <a:endParaRPr lang="en-US"/>
          </a:p>
        </p:txBody>
      </p:sp>
    </p:spTree>
    <p:extLst>
      <p:ext uri="{BB962C8B-B14F-4D97-AF65-F5344CB8AC3E}">
        <p14:creationId xmlns:p14="http://schemas.microsoft.com/office/powerpoint/2010/main" val="33472057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E38C-88D4-4667-AED2-AB7C8CEC4D2D}"/>
              </a:ext>
            </a:extLst>
          </p:cNvPr>
          <p:cNvSpPr>
            <a:spLocks noGrp="1"/>
          </p:cNvSpPr>
          <p:nvPr>
            <p:ph type="ctrTitle"/>
          </p:nvPr>
        </p:nvSpPr>
        <p:spPr/>
        <p:txBody>
          <a:bodyPr>
            <a:normAutofit/>
          </a:bodyPr>
          <a:lstStyle/>
          <a:p>
            <a:r>
              <a:rPr lang="en-US"/>
              <a:t>Two-way table</a:t>
            </a:r>
            <a:endParaRPr lang="en-IN"/>
          </a:p>
        </p:txBody>
      </p:sp>
      <p:sp>
        <p:nvSpPr>
          <p:cNvPr id="8" name="Picture Placeholder 7">
            <a:extLst>
              <a:ext uri="{FF2B5EF4-FFF2-40B4-BE49-F238E27FC236}">
                <a16:creationId xmlns:a16="http://schemas.microsoft.com/office/drawing/2014/main" id="{721CF558-E284-4485-8113-87331F0E6417}"/>
              </a:ext>
            </a:extLst>
          </p:cNvPr>
          <p:cNvSpPr>
            <a:spLocks noGrp="1"/>
          </p:cNvSpPr>
          <p:nvPr>
            <p:ph type="pic" sz="quarter" idx="10"/>
          </p:nvPr>
        </p:nvSpPr>
        <p:spPr/>
      </p:sp>
      <p:pic>
        <p:nvPicPr>
          <p:cNvPr id="3074" name="Picture 2" descr="How Can A Two Way Table Be Created In R ...">
            <a:extLst>
              <a:ext uri="{FF2B5EF4-FFF2-40B4-BE49-F238E27FC236}">
                <a16:creationId xmlns:a16="http://schemas.microsoft.com/office/drawing/2014/main" id="{CC3E68FB-4084-40D9-A699-B0115F54D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298017" cy="4551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588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Categorical &amp; Categorical</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fontScale="92500"/>
          </a:bodyPr>
          <a:lstStyle/>
          <a:p>
            <a:pPr algn="l" fontAlgn="base">
              <a:lnSpc>
                <a:spcPct val="100000"/>
              </a:lnSpc>
              <a:buFont typeface="Arial" panose="020B0604020202020204" pitchFamily="34" charset="0"/>
              <a:buChar char="•"/>
            </a:pPr>
            <a:r>
              <a:rPr lang="en-IN" sz="4000" b="1" i="0">
                <a:solidFill>
                  <a:srgbClr val="383838"/>
                </a:solidFill>
                <a:effectLst/>
                <a:latin typeface="Inter"/>
              </a:rPr>
              <a:t>Two-way table</a:t>
            </a:r>
            <a:endParaRPr lang="en-US" sz="3600" b="0" i="0">
              <a:solidFill>
                <a:srgbClr val="383838"/>
              </a:solidFill>
              <a:effectLst/>
              <a:latin typeface="Inter"/>
            </a:endParaRPr>
          </a:p>
          <a:p>
            <a:pPr algn="l" fontAlgn="base">
              <a:lnSpc>
                <a:spcPct val="100000"/>
              </a:lnSpc>
              <a:buFont typeface="Arial" panose="020B0604020202020204" pitchFamily="34" charset="0"/>
              <a:buChar char="•"/>
            </a:pPr>
            <a:r>
              <a:rPr lang="en-US" sz="3600" b="0" i="0">
                <a:solidFill>
                  <a:srgbClr val="383838"/>
                </a:solidFill>
                <a:effectLst/>
                <a:latin typeface="Inter"/>
              </a:rPr>
              <a:t>We can start analyzing the relationship by creating a two-way table of count and count%. </a:t>
            </a:r>
          </a:p>
          <a:p>
            <a:pPr algn="l" fontAlgn="base">
              <a:lnSpc>
                <a:spcPct val="100000"/>
              </a:lnSpc>
              <a:buFont typeface="Arial" panose="020B0604020202020204" pitchFamily="34" charset="0"/>
              <a:buChar char="•"/>
            </a:pPr>
            <a:r>
              <a:rPr lang="en-US" sz="3600" b="0" i="0">
                <a:solidFill>
                  <a:srgbClr val="383838"/>
                </a:solidFill>
                <a:effectLst/>
                <a:latin typeface="Inter"/>
              </a:rPr>
              <a:t>The rows represent the category of one variable, and the columns represent the categories of the other variable. </a:t>
            </a:r>
          </a:p>
          <a:p>
            <a:pPr algn="l" fontAlgn="base">
              <a:lnSpc>
                <a:spcPct val="100000"/>
              </a:lnSpc>
              <a:buFont typeface="Arial" panose="020B0604020202020204" pitchFamily="34" charset="0"/>
              <a:buChar char="•"/>
            </a:pPr>
            <a:r>
              <a:rPr lang="en-US" sz="3600" b="0" i="0">
                <a:solidFill>
                  <a:srgbClr val="383838"/>
                </a:solidFill>
                <a:effectLst/>
                <a:latin typeface="Inter"/>
              </a:rPr>
              <a:t>The count or count% of observations available in each combination of row and column categories.</a:t>
            </a: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39</a:t>
            </a:fld>
            <a:endParaRPr lang="en-US"/>
          </a:p>
        </p:txBody>
      </p:sp>
    </p:spTree>
    <p:extLst>
      <p:ext uri="{BB962C8B-B14F-4D97-AF65-F5344CB8AC3E}">
        <p14:creationId xmlns:p14="http://schemas.microsoft.com/office/powerpoint/2010/main" val="1406151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Categorical &amp; Continuous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endParaRPr lang="en-US" sz="2800" b="0" i="0">
              <a:solidFill>
                <a:srgbClr val="383838"/>
              </a:solidFill>
              <a:effectLst/>
              <a:latin typeface="Inter"/>
            </a:endParaRPr>
          </a:p>
          <a:p>
            <a:pPr algn="l" fontAlgn="base">
              <a:lnSpc>
                <a:spcPct val="100000"/>
              </a:lnSpc>
              <a:buFont typeface="Arial" panose="020B0604020202020204" pitchFamily="34" charset="0"/>
              <a:buChar char="•"/>
            </a:pPr>
            <a:endParaRPr lang="en-US" sz="2800">
              <a:solidFill>
                <a:srgbClr val="383838"/>
              </a:solidFill>
              <a:latin typeface="Inter"/>
            </a:endParaRPr>
          </a:p>
          <a:p>
            <a:pPr algn="l" fontAlgn="base">
              <a:lnSpc>
                <a:spcPct val="100000"/>
              </a:lnSpc>
              <a:buFont typeface="Arial" panose="020B0604020202020204" pitchFamily="34" charset="0"/>
              <a:buChar char="•"/>
            </a:pPr>
            <a:r>
              <a:rPr lang="en-US" sz="2800" b="0" i="0">
                <a:solidFill>
                  <a:srgbClr val="383838"/>
                </a:solidFill>
                <a:effectLst/>
                <a:latin typeface="Inter"/>
              </a:rPr>
              <a:t>To explore the relation between categorical and continuous variables, we can draw box plots for each level of categorical variables</a:t>
            </a: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40</a:t>
            </a:fld>
            <a:endParaRPr lang="en-US"/>
          </a:p>
        </p:txBody>
      </p:sp>
    </p:spTree>
    <p:extLst>
      <p:ext uri="{BB962C8B-B14F-4D97-AF65-F5344CB8AC3E}">
        <p14:creationId xmlns:p14="http://schemas.microsoft.com/office/powerpoint/2010/main" val="23570798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E38C-88D4-4667-AED2-AB7C8CEC4D2D}"/>
              </a:ext>
            </a:extLst>
          </p:cNvPr>
          <p:cNvSpPr>
            <a:spLocks noGrp="1"/>
          </p:cNvSpPr>
          <p:nvPr>
            <p:ph type="ctrTitle"/>
          </p:nvPr>
        </p:nvSpPr>
        <p:spPr/>
        <p:txBody>
          <a:bodyPr>
            <a:normAutofit/>
          </a:bodyPr>
          <a:lstStyle/>
          <a:p>
            <a:r>
              <a:rPr lang="en-IN"/>
              <a:t>Box Plots</a:t>
            </a:r>
          </a:p>
        </p:txBody>
      </p:sp>
      <p:sp>
        <p:nvSpPr>
          <p:cNvPr id="8" name="Picture Placeholder 7">
            <a:extLst>
              <a:ext uri="{FF2B5EF4-FFF2-40B4-BE49-F238E27FC236}">
                <a16:creationId xmlns:a16="http://schemas.microsoft.com/office/drawing/2014/main" id="{721CF558-E284-4485-8113-87331F0E6417}"/>
              </a:ext>
            </a:extLst>
          </p:cNvPr>
          <p:cNvSpPr>
            <a:spLocks noGrp="1"/>
          </p:cNvSpPr>
          <p:nvPr>
            <p:ph type="pic" sz="quarter" idx="10"/>
          </p:nvPr>
        </p:nvSpPr>
        <p:spPr/>
      </p:sp>
      <p:pic>
        <p:nvPicPr>
          <p:cNvPr id="5122" name="Picture 2">
            <a:extLst>
              <a:ext uri="{FF2B5EF4-FFF2-40B4-BE49-F238E27FC236}">
                <a16:creationId xmlns:a16="http://schemas.microsoft.com/office/drawing/2014/main" id="{8599E652-B96B-42AD-9560-851CB50AF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4" y="103189"/>
            <a:ext cx="12182475" cy="444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0911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E38C-88D4-4667-AED2-AB7C8CEC4D2D}"/>
              </a:ext>
            </a:extLst>
          </p:cNvPr>
          <p:cNvSpPr>
            <a:spLocks noGrp="1"/>
          </p:cNvSpPr>
          <p:nvPr>
            <p:ph type="ctrTitle"/>
          </p:nvPr>
        </p:nvSpPr>
        <p:spPr/>
        <p:txBody>
          <a:bodyPr>
            <a:normAutofit/>
          </a:bodyPr>
          <a:lstStyle/>
          <a:p>
            <a:r>
              <a:rPr lang="en-IN"/>
              <a:t>Box Plots</a:t>
            </a:r>
          </a:p>
        </p:txBody>
      </p:sp>
      <p:sp>
        <p:nvSpPr>
          <p:cNvPr id="8" name="Picture Placeholder 7">
            <a:extLst>
              <a:ext uri="{FF2B5EF4-FFF2-40B4-BE49-F238E27FC236}">
                <a16:creationId xmlns:a16="http://schemas.microsoft.com/office/drawing/2014/main" id="{721CF558-E284-4485-8113-87331F0E6417}"/>
              </a:ext>
            </a:extLst>
          </p:cNvPr>
          <p:cNvSpPr>
            <a:spLocks noGrp="1"/>
          </p:cNvSpPr>
          <p:nvPr>
            <p:ph type="pic" sz="quarter" idx="10"/>
          </p:nvPr>
        </p:nvSpPr>
        <p:spPr/>
      </p:sp>
      <p:pic>
        <p:nvPicPr>
          <p:cNvPr id="6146" name="Picture 2" descr="Box Plot Quartiles">
            <a:extLst>
              <a:ext uri="{FF2B5EF4-FFF2-40B4-BE49-F238E27FC236}">
                <a16:creationId xmlns:a16="http://schemas.microsoft.com/office/drawing/2014/main" id="{AE84DD2C-3D4B-4A30-B8D1-48DCE337B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444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6906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Missing Value Treatment</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algn="l" fontAlgn="base">
              <a:lnSpc>
                <a:spcPct val="100000"/>
              </a:lnSpc>
              <a:buFont typeface="Arial" panose="020B0604020202020204" pitchFamily="34" charset="0"/>
              <a:buChar char="•"/>
            </a:pPr>
            <a:endParaRPr lang="en-US" sz="2800" b="0" i="0">
              <a:solidFill>
                <a:srgbClr val="383838"/>
              </a:solidFill>
              <a:effectLst/>
              <a:latin typeface="Inter"/>
            </a:endParaRPr>
          </a:p>
          <a:p>
            <a:pPr algn="l" fontAlgn="base">
              <a:lnSpc>
                <a:spcPct val="100000"/>
              </a:lnSpc>
              <a:buFont typeface="Arial" panose="020B0604020202020204" pitchFamily="34" charset="0"/>
              <a:buChar char="•"/>
            </a:pPr>
            <a:endParaRPr lang="en-US" sz="2800">
              <a:solidFill>
                <a:srgbClr val="383838"/>
              </a:solidFill>
              <a:latin typeface="Inter"/>
            </a:endParaRPr>
          </a:p>
          <a:p>
            <a:pPr algn="l" fontAlgn="base">
              <a:lnSpc>
                <a:spcPct val="100000"/>
              </a:lnSpc>
              <a:buFont typeface="Arial" panose="020B0604020202020204" pitchFamily="34" charset="0"/>
              <a:buChar char="•"/>
            </a:pPr>
            <a:r>
              <a:rPr lang="en-US" sz="2800" b="0" i="0">
                <a:solidFill>
                  <a:srgbClr val="383838"/>
                </a:solidFill>
                <a:effectLst/>
                <a:latin typeface="Inter"/>
              </a:rPr>
              <a:t>To explore the relation between categorical and continuous variables, we can draw box plots for each level of categorical variables</a:t>
            </a: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43</a:t>
            </a:fld>
            <a:endParaRPr lang="en-US"/>
          </a:p>
        </p:txBody>
      </p:sp>
    </p:spTree>
    <p:extLst>
      <p:ext uri="{BB962C8B-B14F-4D97-AF65-F5344CB8AC3E}">
        <p14:creationId xmlns:p14="http://schemas.microsoft.com/office/powerpoint/2010/main" val="3940586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E38C-88D4-4667-AED2-AB7C8CEC4D2D}"/>
              </a:ext>
            </a:extLst>
          </p:cNvPr>
          <p:cNvSpPr>
            <a:spLocks noGrp="1"/>
          </p:cNvSpPr>
          <p:nvPr>
            <p:ph type="ctrTitle"/>
          </p:nvPr>
        </p:nvSpPr>
        <p:spPr>
          <a:xfrm>
            <a:off x="335756" y="4803154"/>
            <a:ext cx="11520488" cy="1176337"/>
          </a:xfrm>
        </p:spPr>
        <p:txBody>
          <a:bodyPr>
            <a:normAutofit fontScale="90000"/>
          </a:bodyPr>
          <a:lstStyle/>
          <a:p>
            <a:r>
              <a:rPr lang="en-US"/>
              <a:t>Why is Missing Values Treatment Required?</a:t>
            </a:r>
            <a:endParaRPr lang="en-IN"/>
          </a:p>
        </p:txBody>
      </p:sp>
      <p:sp>
        <p:nvSpPr>
          <p:cNvPr id="8" name="Picture Placeholder 7">
            <a:extLst>
              <a:ext uri="{FF2B5EF4-FFF2-40B4-BE49-F238E27FC236}">
                <a16:creationId xmlns:a16="http://schemas.microsoft.com/office/drawing/2014/main" id="{721CF558-E284-4485-8113-87331F0E6417}"/>
              </a:ext>
            </a:extLst>
          </p:cNvPr>
          <p:cNvSpPr>
            <a:spLocks noGrp="1"/>
          </p:cNvSpPr>
          <p:nvPr>
            <p:ph type="pic" sz="quarter" idx="10"/>
          </p:nvPr>
        </p:nvSpPr>
        <p:spPr/>
      </p:sp>
      <p:pic>
        <p:nvPicPr>
          <p:cNvPr id="7170" name="Picture 2" descr="Data Exploration | Missing Values | | Outliers">
            <a:extLst>
              <a:ext uri="{FF2B5EF4-FFF2-40B4-BE49-F238E27FC236}">
                <a16:creationId xmlns:a16="http://schemas.microsoft.com/office/drawing/2014/main" id="{3BB05E3B-634D-4985-A6E3-1A269980E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444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0998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E46E5-DD8C-423E-B22E-FF1DC973C8C1}"/>
              </a:ext>
            </a:extLst>
          </p:cNvPr>
          <p:cNvSpPr>
            <a:spLocks noGrp="1"/>
          </p:cNvSpPr>
          <p:nvPr>
            <p:ph type="title"/>
          </p:nvPr>
        </p:nvSpPr>
        <p:spPr/>
        <p:txBody>
          <a:bodyPr/>
          <a:lstStyle/>
          <a:p>
            <a:r>
              <a:rPr lang="en-IN" b="0" i="0">
                <a:solidFill>
                  <a:srgbClr val="383838"/>
                </a:solidFill>
                <a:effectLst/>
                <a:latin typeface="Inter"/>
              </a:rPr>
              <a:t>Deletion</a:t>
            </a:r>
            <a:br>
              <a:rPr lang="en-IN" b="0" i="0">
                <a:solidFill>
                  <a:srgbClr val="383838"/>
                </a:solidFill>
                <a:effectLst/>
                <a:latin typeface="Inter"/>
              </a:rPr>
            </a:br>
            <a:endParaRPr lang="en-IN"/>
          </a:p>
        </p:txBody>
      </p:sp>
      <p:sp>
        <p:nvSpPr>
          <p:cNvPr id="4" name="Text Placeholder 3">
            <a:extLst>
              <a:ext uri="{FF2B5EF4-FFF2-40B4-BE49-F238E27FC236}">
                <a16:creationId xmlns:a16="http://schemas.microsoft.com/office/drawing/2014/main" id="{76546AAE-4935-4D61-8283-CB7701B0C488}"/>
              </a:ext>
            </a:extLst>
          </p:cNvPr>
          <p:cNvSpPr>
            <a:spLocks noGrp="1"/>
          </p:cNvSpPr>
          <p:nvPr>
            <p:ph type="body" sz="half" idx="2"/>
          </p:nvPr>
        </p:nvSpPr>
        <p:spPr/>
        <p:txBody>
          <a:bodyPr/>
          <a:lstStyle/>
          <a:p>
            <a:endParaRPr lang="en-IN"/>
          </a:p>
        </p:txBody>
      </p:sp>
      <p:sp>
        <p:nvSpPr>
          <p:cNvPr id="5" name="Slide Number Placeholder 4">
            <a:extLst>
              <a:ext uri="{FF2B5EF4-FFF2-40B4-BE49-F238E27FC236}">
                <a16:creationId xmlns:a16="http://schemas.microsoft.com/office/drawing/2014/main" id="{24A29B6F-70CD-47FF-B22E-6D73799FEC48}"/>
              </a:ext>
            </a:extLst>
          </p:cNvPr>
          <p:cNvSpPr>
            <a:spLocks noGrp="1"/>
          </p:cNvSpPr>
          <p:nvPr>
            <p:ph type="sldNum" sz="quarter" idx="12"/>
          </p:nvPr>
        </p:nvSpPr>
        <p:spPr/>
        <p:txBody>
          <a:bodyPr/>
          <a:lstStyle/>
          <a:p>
            <a:fld id="{03DC2DEF-D2FE-4B45-ABA4-9F153FD1C98A}" type="slidenum">
              <a:rPr lang="en-US" smtClean="0"/>
              <a:t>45</a:t>
            </a:fld>
            <a:endParaRPr lang="en-US"/>
          </a:p>
        </p:txBody>
      </p:sp>
      <p:pic>
        <p:nvPicPr>
          <p:cNvPr id="8194" name="Picture 2" descr="Data Exploration, Missing Values, Deletion Methods">
            <a:extLst>
              <a:ext uri="{FF2B5EF4-FFF2-40B4-BE49-F238E27FC236}">
                <a16:creationId xmlns:a16="http://schemas.microsoft.com/office/drawing/2014/main" id="{7C202F04-A596-45F8-83C5-0C35B93FE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57400"/>
            <a:ext cx="4857747" cy="380365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8">
            <a:extLst>
              <a:ext uri="{FF2B5EF4-FFF2-40B4-BE49-F238E27FC236}">
                <a16:creationId xmlns:a16="http://schemas.microsoft.com/office/drawing/2014/main" id="{4BEF11D0-F820-46EF-9B37-4D777F93EBD0}"/>
              </a:ext>
            </a:extLst>
          </p:cNvPr>
          <p:cNvSpPr txBox="1">
            <a:spLocks/>
          </p:cNvSpPr>
          <p:nvPr/>
        </p:nvSpPr>
        <p:spPr>
          <a:xfrm>
            <a:off x="6374204" y="861391"/>
            <a:ext cx="5685274" cy="5459896"/>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1" i="0">
                <a:solidFill>
                  <a:srgbClr val="383838"/>
                </a:solidFill>
                <a:effectLst/>
                <a:latin typeface="Inter"/>
              </a:rPr>
              <a:t>It is of two types: List Wise Deletion and Pair Wise Deletion.</a:t>
            </a:r>
          </a:p>
          <a:p>
            <a:pPr algn="l">
              <a:lnSpc>
                <a:spcPct val="200000"/>
              </a:lnSpc>
              <a:buFont typeface="Arial" panose="020B0604020202020204" pitchFamily="34" charset="0"/>
              <a:buChar char="•"/>
            </a:pPr>
            <a:r>
              <a:rPr lang="en-US" sz="2000" i="0">
                <a:solidFill>
                  <a:srgbClr val="383838"/>
                </a:solidFill>
                <a:effectLst/>
                <a:latin typeface="Inter"/>
              </a:rPr>
              <a:t>In list-wise deletion, we delete observations where any variable is missing. Simplicity is one major advantage of this method, but this method reduces the power of the model because it reduces the sample size.</a:t>
            </a:r>
          </a:p>
          <a:p>
            <a:pPr algn="l">
              <a:lnSpc>
                <a:spcPct val="200000"/>
              </a:lnSpc>
              <a:buFont typeface="Arial" panose="020B0604020202020204" pitchFamily="34" charset="0"/>
              <a:buChar char="•"/>
            </a:pPr>
            <a:r>
              <a:rPr lang="en-US" sz="2000" i="0">
                <a:solidFill>
                  <a:srgbClr val="383838"/>
                </a:solidFill>
                <a:effectLst/>
                <a:latin typeface="Inter"/>
              </a:rPr>
              <a:t>In pair-wise deletion, we analyze all cases where the variables of interest are present. This method has the advantage of keeping as many cases available for analysis as possible. One disadvantage is that it uses different sample sizes for other variables.</a:t>
            </a:r>
          </a:p>
        </p:txBody>
      </p:sp>
    </p:spTree>
    <p:extLst>
      <p:ext uri="{BB962C8B-B14F-4D97-AF65-F5344CB8AC3E}">
        <p14:creationId xmlns:p14="http://schemas.microsoft.com/office/powerpoint/2010/main" val="18559182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ctr"/>
            <a:r>
              <a:rPr lang="en-IN" sz="6000"/>
              <a:t>Other Methods For Missing Value Treatment</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fontAlgn="base">
              <a:lnSpc>
                <a:spcPct val="100000"/>
              </a:lnSpc>
              <a:buFont typeface="Arial" panose="020B0604020202020204" pitchFamily="34" charset="0"/>
              <a:buChar char="•"/>
            </a:pPr>
            <a:r>
              <a:rPr lang="en-IN" sz="2800" b="0" i="0">
                <a:solidFill>
                  <a:srgbClr val="383838"/>
                </a:solidFill>
                <a:effectLst/>
                <a:latin typeface="Inter"/>
              </a:rPr>
              <a:t>Mean/ Mode/ Median Imputation</a:t>
            </a:r>
          </a:p>
          <a:p>
            <a:pPr fontAlgn="base">
              <a:lnSpc>
                <a:spcPct val="100000"/>
              </a:lnSpc>
              <a:buFont typeface="Arial" panose="020B0604020202020204" pitchFamily="34" charset="0"/>
              <a:buChar char="•"/>
            </a:pPr>
            <a:r>
              <a:rPr lang="en-IN" sz="2800" b="0" i="0">
                <a:solidFill>
                  <a:srgbClr val="383838"/>
                </a:solidFill>
                <a:effectLst/>
                <a:latin typeface="Inter"/>
              </a:rPr>
              <a:t>Similar Case Imputation</a:t>
            </a:r>
          </a:p>
          <a:p>
            <a:pPr fontAlgn="base">
              <a:lnSpc>
                <a:spcPct val="100000"/>
              </a:lnSpc>
              <a:buFont typeface="Arial" panose="020B0604020202020204" pitchFamily="34" charset="0"/>
              <a:buChar char="•"/>
            </a:pPr>
            <a:r>
              <a:rPr lang="en-IN" sz="2800" b="0" i="0">
                <a:solidFill>
                  <a:srgbClr val="383838"/>
                </a:solidFill>
                <a:effectLst/>
                <a:latin typeface="Inter"/>
              </a:rPr>
              <a:t>Prediction Model</a:t>
            </a:r>
          </a:p>
          <a:p>
            <a:pPr algn="l" fontAlgn="base">
              <a:lnSpc>
                <a:spcPct val="100000"/>
              </a:lnSpc>
              <a:buFont typeface="Arial" panose="020B0604020202020204" pitchFamily="34" charset="0"/>
              <a:buChar char="•"/>
            </a:pP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46</a:t>
            </a:fld>
            <a:endParaRPr lang="en-US"/>
          </a:p>
        </p:txBody>
      </p:sp>
    </p:spTree>
    <p:extLst>
      <p:ext uri="{BB962C8B-B14F-4D97-AF65-F5344CB8AC3E}">
        <p14:creationId xmlns:p14="http://schemas.microsoft.com/office/powerpoint/2010/main" val="1099681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FC04-C7B7-4BC0-AE83-185D7815A93A}"/>
              </a:ext>
            </a:extLst>
          </p:cNvPr>
          <p:cNvSpPr>
            <a:spLocks noGrp="1"/>
          </p:cNvSpPr>
          <p:nvPr>
            <p:ph type="title"/>
          </p:nvPr>
        </p:nvSpPr>
        <p:spPr>
          <a:xfrm>
            <a:off x="371475" y="260350"/>
            <a:ext cx="11520488" cy="758824"/>
          </a:xfrm>
        </p:spPr>
        <p:txBody>
          <a:bodyPr>
            <a:normAutofit fontScale="90000"/>
          </a:bodyPr>
          <a:lstStyle/>
          <a:p>
            <a:pPr algn="ctr"/>
            <a:r>
              <a:rPr lang="en-US"/>
              <a:t>An Outlier Is A Data Point That Differs Significantly From Other Observations</a:t>
            </a:r>
            <a:endParaRPr lang="en-IN"/>
          </a:p>
        </p:txBody>
      </p:sp>
      <p:sp>
        <p:nvSpPr>
          <p:cNvPr id="3" name="Slide Number Placeholder 2">
            <a:extLst>
              <a:ext uri="{FF2B5EF4-FFF2-40B4-BE49-F238E27FC236}">
                <a16:creationId xmlns:a16="http://schemas.microsoft.com/office/drawing/2014/main" id="{58E58E91-A7D7-48D1-BA97-2C707FC6F2ED}"/>
              </a:ext>
            </a:extLst>
          </p:cNvPr>
          <p:cNvSpPr>
            <a:spLocks noGrp="1"/>
          </p:cNvSpPr>
          <p:nvPr>
            <p:ph type="sldNum" sz="quarter" idx="12"/>
          </p:nvPr>
        </p:nvSpPr>
        <p:spPr/>
        <p:txBody>
          <a:bodyPr/>
          <a:lstStyle/>
          <a:p>
            <a:fld id="{03DC2DEF-D2FE-4B45-ABA4-9F153FD1C98A}" type="slidenum">
              <a:rPr lang="en-US" smtClean="0"/>
              <a:t>47</a:t>
            </a:fld>
            <a:endParaRPr lang="en-US"/>
          </a:p>
        </p:txBody>
      </p:sp>
      <p:sp>
        <p:nvSpPr>
          <p:cNvPr id="4" name="Chart Placeholder 3">
            <a:extLst>
              <a:ext uri="{FF2B5EF4-FFF2-40B4-BE49-F238E27FC236}">
                <a16:creationId xmlns:a16="http://schemas.microsoft.com/office/drawing/2014/main" id="{AB836B2D-2E26-4546-B7CA-32333B93FAE2}"/>
              </a:ext>
            </a:extLst>
          </p:cNvPr>
          <p:cNvSpPr>
            <a:spLocks noGrp="1"/>
          </p:cNvSpPr>
          <p:nvPr>
            <p:ph type="chart" sz="quarter" idx="13"/>
          </p:nvPr>
        </p:nvSpPr>
        <p:spPr>
          <a:xfrm>
            <a:off x="371475" y="1313619"/>
            <a:ext cx="11520488" cy="4967287"/>
          </a:xfrm>
        </p:spPr>
      </p:sp>
      <p:pic>
        <p:nvPicPr>
          <p:cNvPr id="9218" name="Picture 2" descr="What is an Outlier in Statistics and How to Find it?">
            <a:extLst>
              <a:ext uri="{FF2B5EF4-FFF2-40B4-BE49-F238E27FC236}">
                <a16:creationId xmlns:a16="http://schemas.microsoft.com/office/drawing/2014/main" id="{101CD746-CB05-4E4D-B9BB-53E48EA6B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 y="1313619"/>
            <a:ext cx="11591925" cy="50265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283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96AB6-4D2F-48EF-AF06-3AD9B3D2623A}"/>
              </a:ext>
            </a:extLst>
          </p:cNvPr>
          <p:cNvSpPr>
            <a:spLocks noGrp="1"/>
          </p:cNvSpPr>
          <p:nvPr>
            <p:ph type="title"/>
          </p:nvPr>
        </p:nvSpPr>
        <p:spPr/>
        <p:txBody>
          <a:bodyPr/>
          <a:lstStyle/>
          <a:p>
            <a:pPr algn="ctr"/>
            <a:r>
              <a:rPr lang="en-IN" i="0">
                <a:solidFill>
                  <a:srgbClr val="383838"/>
                </a:solidFill>
                <a:effectLst/>
                <a:latin typeface="Inter"/>
              </a:rPr>
              <a:t>Univariate and Multivariate Outliers</a:t>
            </a:r>
            <a:endParaRPr lang="en-IN"/>
          </a:p>
        </p:txBody>
      </p:sp>
      <p:sp>
        <p:nvSpPr>
          <p:cNvPr id="3" name="Slide Number Placeholder 2">
            <a:extLst>
              <a:ext uri="{FF2B5EF4-FFF2-40B4-BE49-F238E27FC236}">
                <a16:creationId xmlns:a16="http://schemas.microsoft.com/office/drawing/2014/main" id="{D9209391-9EE5-4C51-9E15-FA3971C720CF}"/>
              </a:ext>
            </a:extLst>
          </p:cNvPr>
          <p:cNvSpPr>
            <a:spLocks noGrp="1"/>
          </p:cNvSpPr>
          <p:nvPr>
            <p:ph type="sldNum" sz="quarter" idx="12"/>
          </p:nvPr>
        </p:nvSpPr>
        <p:spPr/>
        <p:txBody>
          <a:bodyPr/>
          <a:lstStyle/>
          <a:p>
            <a:fld id="{03DC2DEF-D2FE-4B45-ABA4-9F153FD1C98A}" type="slidenum">
              <a:rPr lang="en-US" smtClean="0"/>
              <a:t>48</a:t>
            </a:fld>
            <a:endParaRPr lang="en-US"/>
          </a:p>
        </p:txBody>
      </p:sp>
      <p:sp>
        <p:nvSpPr>
          <p:cNvPr id="4" name="Chart Placeholder 3">
            <a:extLst>
              <a:ext uri="{FF2B5EF4-FFF2-40B4-BE49-F238E27FC236}">
                <a16:creationId xmlns:a16="http://schemas.microsoft.com/office/drawing/2014/main" id="{79366BE5-1604-495A-AEB1-C95A692C90F8}"/>
              </a:ext>
            </a:extLst>
          </p:cNvPr>
          <p:cNvSpPr>
            <a:spLocks noGrp="1"/>
          </p:cNvSpPr>
          <p:nvPr>
            <p:ph type="chart" sz="quarter" idx="13"/>
          </p:nvPr>
        </p:nvSpPr>
        <p:spPr/>
      </p:sp>
      <p:pic>
        <p:nvPicPr>
          <p:cNvPr id="10242" name="Picture 2" descr="Outlier | Multivariate Outlier | Outliers">
            <a:extLst>
              <a:ext uri="{FF2B5EF4-FFF2-40B4-BE49-F238E27FC236}">
                <a16:creationId xmlns:a16="http://schemas.microsoft.com/office/drawing/2014/main" id="{C9706FB6-436B-450D-8BBC-38A340C4F8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 y="1241372"/>
            <a:ext cx="11520487" cy="4967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4590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Types of Outliers</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fontAlgn="base">
              <a:lnSpc>
                <a:spcPct val="100000"/>
              </a:lnSpc>
              <a:buFont typeface="Arial" panose="020B0604020202020204" pitchFamily="34" charset="0"/>
              <a:buChar char="•"/>
            </a:pPr>
            <a:r>
              <a:rPr lang="en-IN" sz="2800" b="0" i="0">
                <a:solidFill>
                  <a:srgbClr val="383838"/>
                </a:solidFill>
                <a:effectLst/>
                <a:latin typeface="Inter"/>
              </a:rPr>
              <a:t>Data Entry Errors</a:t>
            </a:r>
          </a:p>
          <a:p>
            <a:pPr fontAlgn="base">
              <a:lnSpc>
                <a:spcPct val="100000"/>
              </a:lnSpc>
              <a:buFont typeface="Arial" panose="020B0604020202020204" pitchFamily="34" charset="0"/>
              <a:buChar char="•"/>
            </a:pPr>
            <a:r>
              <a:rPr lang="en-IN" sz="2800" b="0" i="0">
                <a:solidFill>
                  <a:srgbClr val="383838"/>
                </a:solidFill>
                <a:effectLst/>
                <a:latin typeface="Inter"/>
              </a:rPr>
              <a:t>Measurement Error</a:t>
            </a:r>
          </a:p>
          <a:p>
            <a:pPr fontAlgn="base">
              <a:lnSpc>
                <a:spcPct val="100000"/>
              </a:lnSpc>
              <a:buFont typeface="Arial" panose="020B0604020202020204" pitchFamily="34" charset="0"/>
              <a:buChar char="•"/>
            </a:pPr>
            <a:r>
              <a:rPr lang="en-IN" sz="2800">
                <a:solidFill>
                  <a:srgbClr val="383838"/>
                </a:solidFill>
                <a:latin typeface="Inter"/>
              </a:rPr>
              <a:t>Experimental Error</a:t>
            </a:r>
          </a:p>
          <a:p>
            <a:pPr fontAlgn="base">
              <a:lnSpc>
                <a:spcPct val="100000"/>
              </a:lnSpc>
              <a:buFont typeface="Arial" panose="020B0604020202020204" pitchFamily="34" charset="0"/>
              <a:buChar char="•"/>
            </a:pPr>
            <a:r>
              <a:rPr lang="en-US" sz="2800">
                <a:solidFill>
                  <a:srgbClr val="383838"/>
                </a:solidFill>
                <a:latin typeface="Inter"/>
              </a:rPr>
              <a:t>Intentional Outlier</a:t>
            </a:r>
          </a:p>
          <a:p>
            <a:pPr fontAlgn="base">
              <a:lnSpc>
                <a:spcPct val="100000"/>
              </a:lnSpc>
              <a:buFont typeface="Arial" panose="020B0604020202020204" pitchFamily="34" charset="0"/>
              <a:buChar char="•"/>
            </a:pPr>
            <a:r>
              <a:rPr lang="en-US" sz="2800">
                <a:solidFill>
                  <a:srgbClr val="383838"/>
                </a:solidFill>
                <a:latin typeface="Inter"/>
              </a:rPr>
              <a:t>Data Processing Error</a:t>
            </a:r>
          </a:p>
          <a:p>
            <a:pPr fontAlgn="base">
              <a:lnSpc>
                <a:spcPct val="100000"/>
              </a:lnSpc>
              <a:buFont typeface="Arial" panose="020B0604020202020204" pitchFamily="34" charset="0"/>
              <a:buChar char="•"/>
            </a:pPr>
            <a:r>
              <a:rPr lang="en-IN" sz="2800">
                <a:solidFill>
                  <a:srgbClr val="383838"/>
                </a:solidFill>
                <a:latin typeface="Inter"/>
              </a:rPr>
              <a:t>Sampling error</a:t>
            </a:r>
            <a:endParaRPr lang="en-US" sz="2800">
              <a:solidFill>
                <a:srgbClr val="383838"/>
              </a:solidFill>
              <a:latin typeface="Inter"/>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49</a:t>
            </a:fld>
            <a:endParaRPr lang="en-US"/>
          </a:p>
        </p:txBody>
      </p:sp>
    </p:spTree>
    <p:extLst>
      <p:ext uri="{BB962C8B-B14F-4D97-AF65-F5344CB8AC3E}">
        <p14:creationId xmlns:p14="http://schemas.microsoft.com/office/powerpoint/2010/main" val="30375405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E38C-88D4-4667-AED2-AB7C8CEC4D2D}"/>
              </a:ext>
            </a:extLst>
          </p:cNvPr>
          <p:cNvSpPr>
            <a:spLocks noGrp="1"/>
          </p:cNvSpPr>
          <p:nvPr>
            <p:ph type="ctrTitle"/>
          </p:nvPr>
        </p:nvSpPr>
        <p:spPr>
          <a:xfrm>
            <a:off x="335756" y="4803154"/>
            <a:ext cx="11520488" cy="1176337"/>
          </a:xfrm>
        </p:spPr>
        <p:txBody>
          <a:bodyPr>
            <a:normAutofit fontScale="90000"/>
          </a:bodyPr>
          <a:lstStyle/>
          <a:p>
            <a:r>
              <a:rPr lang="en-US"/>
              <a:t>What is the Impact of Outliers on a Dataset?</a:t>
            </a:r>
            <a:endParaRPr lang="en-IN"/>
          </a:p>
        </p:txBody>
      </p:sp>
      <p:sp>
        <p:nvSpPr>
          <p:cNvPr id="8" name="Picture Placeholder 7">
            <a:extLst>
              <a:ext uri="{FF2B5EF4-FFF2-40B4-BE49-F238E27FC236}">
                <a16:creationId xmlns:a16="http://schemas.microsoft.com/office/drawing/2014/main" id="{721CF558-E284-4485-8113-87331F0E6417}"/>
              </a:ext>
            </a:extLst>
          </p:cNvPr>
          <p:cNvSpPr>
            <a:spLocks noGrp="1"/>
          </p:cNvSpPr>
          <p:nvPr>
            <p:ph type="pic" sz="quarter" idx="10"/>
          </p:nvPr>
        </p:nvSpPr>
        <p:spPr/>
      </p:sp>
      <p:pic>
        <p:nvPicPr>
          <p:cNvPr id="11266" name="Picture 2" descr="Outlier | Mean | Median | Mode | Outliers">
            <a:extLst>
              <a:ext uri="{FF2B5EF4-FFF2-40B4-BE49-F238E27FC236}">
                <a16:creationId xmlns:a16="http://schemas.microsoft.com/office/drawing/2014/main" id="{366DBCD3-2D70-48EE-B535-0F8E8BAE43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68"/>
            <a:ext cx="12192000" cy="4448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729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91F3A70-CBAA-4F31-B020-B49D4D02C59B}"/>
              </a:ext>
            </a:extLst>
          </p:cNvPr>
          <p:cNvSpPr>
            <a:spLocks noGrp="1"/>
          </p:cNvSpPr>
          <p:nvPr>
            <p:ph type="pic" sz="quarter" idx="10"/>
          </p:nvPr>
        </p:nvSpPr>
        <p:spPr/>
      </p:sp>
      <p:sp>
        <p:nvSpPr>
          <p:cNvPr id="3" name="Title 2">
            <a:extLst>
              <a:ext uri="{FF2B5EF4-FFF2-40B4-BE49-F238E27FC236}">
                <a16:creationId xmlns:a16="http://schemas.microsoft.com/office/drawing/2014/main" id="{9959BFA7-488C-489B-9D45-9ABBD9AEC7F6}"/>
              </a:ext>
            </a:extLst>
          </p:cNvPr>
          <p:cNvSpPr>
            <a:spLocks noGrp="1"/>
          </p:cNvSpPr>
          <p:nvPr>
            <p:ph type="ctrTitle"/>
          </p:nvPr>
        </p:nvSpPr>
        <p:spPr/>
        <p:txBody>
          <a:bodyPr>
            <a:normAutofit fontScale="90000"/>
          </a:bodyPr>
          <a:lstStyle/>
          <a:p>
            <a:pPr>
              <a:lnSpc>
                <a:spcPct val="200000"/>
              </a:lnSpc>
              <a:spcBef>
                <a:spcPts val="1000"/>
              </a:spcBef>
            </a:pPr>
            <a:r>
              <a:rPr lang="en-IN" sz="2800">
                <a:latin typeface="Inter"/>
                <a:ea typeface="+mn-ea"/>
                <a:cs typeface="+mn-cs"/>
              </a:rPr>
              <a:t>1. Deleting observations</a:t>
            </a:r>
            <a:br>
              <a:rPr lang="en-IN" sz="2800">
                <a:latin typeface="Inter"/>
                <a:ea typeface="+mn-ea"/>
                <a:cs typeface="+mn-cs"/>
              </a:rPr>
            </a:br>
            <a:r>
              <a:rPr lang="en-IN" sz="2800">
                <a:latin typeface="Inter"/>
                <a:ea typeface="+mn-ea"/>
                <a:cs typeface="+mn-cs"/>
              </a:rPr>
              <a:t>2. Transforming and binning        </a:t>
            </a:r>
            <a:br>
              <a:rPr lang="en-IN" sz="2800">
                <a:latin typeface="Inter"/>
                <a:ea typeface="+mn-ea"/>
                <a:cs typeface="+mn-cs"/>
              </a:rPr>
            </a:br>
            <a:r>
              <a:rPr lang="en-IN" sz="2800">
                <a:latin typeface="Inter"/>
                <a:ea typeface="+mn-ea"/>
                <a:cs typeface="+mn-cs"/>
              </a:rPr>
              <a:t>3. Imputing</a:t>
            </a:r>
            <a:br>
              <a:rPr lang="en-IN" sz="2800">
                <a:latin typeface="Inter"/>
                <a:ea typeface="+mn-ea"/>
                <a:cs typeface="+mn-cs"/>
              </a:rPr>
            </a:br>
            <a:r>
              <a:rPr lang="en-IN" sz="2800">
                <a:latin typeface="Inter"/>
                <a:ea typeface="+mn-ea"/>
                <a:cs typeface="+mn-cs"/>
              </a:rPr>
              <a:t>4. Treat separately</a:t>
            </a:r>
          </a:p>
        </p:txBody>
      </p:sp>
      <p:sp>
        <p:nvSpPr>
          <p:cNvPr id="4" name="Subtitle 3">
            <a:extLst>
              <a:ext uri="{FF2B5EF4-FFF2-40B4-BE49-F238E27FC236}">
                <a16:creationId xmlns:a16="http://schemas.microsoft.com/office/drawing/2014/main" id="{25CC9DB1-059C-40AF-8AFF-C1447D02F929}"/>
              </a:ext>
            </a:extLst>
          </p:cNvPr>
          <p:cNvSpPr>
            <a:spLocks noGrp="1"/>
          </p:cNvSpPr>
          <p:nvPr>
            <p:ph type="subTitle" idx="1"/>
          </p:nvPr>
        </p:nvSpPr>
        <p:spPr>
          <a:xfrm>
            <a:off x="6905625" y="223079"/>
            <a:ext cx="4986338" cy="976311"/>
          </a:xfrm>
        </p:spPr>
        <p:txBody>
          <a:bodyPr/>
          <a:lstStyle/>
          <a:p>
            <a:r>
              <a:rPr lang="en-IN" sz="2800">
                <a:latin typeface="Inter"/>
              </a:rPr>
              <a:t>How to Remove Outliers?</a:t>
            </a:r>
          </a:p>
        </p:txBody>
      </p:sp>
      <p:pic>
        <p:nvPicPr>
          <p:cNvPr id="12290" name="Picture 2" descr="Variable Transformation, LOG | Ouliers">
            <a:extLst>
              <a:ext uri="{FF2B5EF4-FFF2-40B4-BE49-F238E27FC236}">
                <a16:creationId xmlns:a16="http://schemas.microsoft.com/office/drawing/2014/main" id="{8FD449D0-5E25-4D15-81B5-CAE5CB407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435496"/>
            <a:ext cx="6034087" cy="3987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3298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IN" sz="6000"/>
              <a:t>What is Variable Transformation?</a:t>
            </a:r>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fontAlgn="base">
              <a:lnSpc>
                <a:spcPct val="100000"/>
              </a:lnSpc>
              <a:buFont typeface="Arial" panose="020B0604020202020204" pitchFamily="34" charset="0"/>
              <a:buChar char="•"/>
            </a:pPr>
            <a:r>
              <a:rPr lang="en-US" sz="3200" b="0" i="0">
                <a:solidFill>
                  <a:srgbClr val="383838"/>
                </a:solidFill>
                <a:effectLst/>
                <a:latin typeface="Inter"/>
              </a:rPr>
              <a:t>In data modeling, transformation refers to replacing a variable with a function</a:t>
            </a:r>
            <a:endParaRPr lang="en-IN" sz="2800">
              <a:solidFill>
                <a:srgbClr val="383838"/>
              </a:solidFill>
              <a:latin typeface="Inter"/>
            </a:endParaRPr>
          </a:p>
          <a:p>
            <a:pPr fontAlgn="base">
              <a:lnSpc>
                <a:spcPct val="100000"/>
              </a:lnSpc>
              <a:buFont typeface="Arial" panose="020B0604020202020204" pitchFamily="34" charset="0"/>
              <a:buChar char="•"/>
            </a:pPr>
            <a:r>
              <a:rPr lang="en-US" sz="2800" b="0" i="0">
                <a:solidFill>
                  <a:srgbClr val="383838"/>
                </a:solidFill>
                <a:effectLst/>
                <a:latin typeface="Inter"/>
              </a:rPr>
              <a:t>For instance, replacing a variable x by the square/cube root or logarithm x is a transformation. In other words, transformation is a process that changes the distribution or relationship of a variable with others</a:t>
            </a:r>
            <a:endParaRPr lang="en-IN" sz="2800" b="0" i="0">
              <a:solidFill>
                <a:srgbClr val="383838"/>
              </a:solidFill>
              <a:effectLst/>
              <a:latin typeface="Inter"/>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52</a:t>
            </a:fld>
            <a:endParaRPr lang="en-US"/>
          </a:p>
        </p:txBody>
      </p:sp>
    </p:spTree>
    <p:extLst>
      <p:ext uri="{BB962C8B-B14F-4D97-AF65-F5344CB8AC3E}">
        <p14:creationId xmlns:p14="http://schemas.microsoft.com/office/powerpoint/2010/main" val="1244945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ctr"/>
            <a:r>
              <a:rPr lang="en-US" sz="6000"/>
              <a:t>What is Feature / Variable Creation &amp; What Are Its Benefits?</a:t>
            </a:r>
            <a:endParaRPr lang="en-IN" sz="6000"/>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fontAlgn="base">
              <a:lnSpc>
                <a:spcPct val="100000"/>
              </a:lnSpc>
              <a:buFont typeface="Arial" panose="020B0604020202020204" pitchFamily="34" charset="0"/>
              <a:buChar char="•"/>
            </a:pPr>
            <a:endParaRPr lang="en-IN" sz="2800" b="0" i="0">
              <a:solidFill>
                <a:srgbClr val="383838"/>
              </a:solidFill>
              <a:effectLst/>
              <a:latin typeface="Inter"/>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53</a:t>
            </a:fld>
            <a:endParaRPr lang="en-US"/>
          </a:p>
        </p:txBody>
      </p:sp>
      <p:pic>
        <p:nvPicPr>
          <p:cNvPr id="13314" name="Picture 2" descr="Derived Variables | New Variables | feature engineering  | Outliers ">
            <a:extLst>
              <a:ext uri="{FF2B5EF4-FFF2-40B4-BE49-F238E27FC236}">
                <a16:creationId xmlns:a16="http://schemas.microsoft.com/office/drawing/2014/main" id="{D6845FBE-2060-46E7-BD82-EF2C12262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122" y="2057397"/>
            <a:ext cx="10776778" cy="4250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3781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pPr algn="ctr"/>
            <a:r>
              <a:rPr lang="en-US" sz="6000"/>
              <a:t>What is Feature / Variable Creation &amp; What Are Its Benefits?</a:t>
            </a:r>
            <a:endParaRPr lang="en-IN" sz="6000"/>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fontAlgn="base">
              <a:lnSpc>
                <a:spcPct val="100000"/>
              </a:lnSpc>
              <a:buFont typeface="Arial" panose="020B0604020202020204" pitchFamily="34" charset="0"/>
              <a:buChar char="•"/>
            </a:pPr>
            <a:endParaRPr lang="en-IN" sz="2800" b="0" i="0">
              <a:solidFill>
                <a:srgbClr val="383838"/>
              </a:solidFill>
              <a:effectLst/>
              <a:latin typeface="Inter"/>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54</a:t>
            </a:fld>
            <a:endParaRPr lang="en-US"/>
          </a:p>
        </p:txBody>
      </p:sp>
      <p:pic>
        <p:nvPicPr>
          <p:cNvPr id="14340" name="Picture 4" descr="Dummy Variable | Data Exploration | feature engineering | Outliers ">
            <a:extLst>
              <a:ext uri="{FF2B5EF4-FFF2-40B4-BE49-F238E27FC236}">
                <a16:creationId xmlns:a16="http://schemas.microsoft.com/office/drawing/2014/main" id="{7C4EF5D4-136F-41D3-A10A-DE4EA7B7FB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120" y="2057399"/>
            <a:ext cx="10776779" cy="4144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2884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A4E38C-88D4-4667-AED2-AB7C8CEC4D2D}"/>
              </a:ext>
            </a:extLst>
          </p:cNvPr>
          <p:cNvSpPr>
            <a:spLocks noGrp="1"/>
          </p:cNvSpPr>
          <p:nvPr>
            <p:ph type="ctrTitle"/>
          </p:nvPr>
        </p:nvSpPr>
        <p:spPr>
          <a:xfrm>
            <a:off x="335756" y="4803154"/>
            <a:ext cx="11520488" cy="1176337"/>
          </a:xfrm>
        </p:spPr>
        <p:txBody>
          <a:bodyPr>
            <a:normAutofit/>
          </a:bodyPr>
          <a:lstStyle/>
          <a:p>
            <a:r>
              <a:rPr lang="en-US"/>
              <a:t>EVOLUTION OF BIG DATA</a:t>
            </a:r>
            <a:endParaRPr lang="en-IN"/>
          </a:p>
        </p:txBody>
      </p:sp>
      <p:sp>
        <p:nvSpPr>
          <p:cNvPr id="8" name="Picture Placeholder 7">
            <a:extLst>
              <a:ext uri="{FF2B5EF4-FFF2-40B4-BE49-F238E27FC236}">
                <a16:creationId xmlns:a16="http://schemas.microsoft.com/office/drawing/2014/main" id="{721CF558-E284-4485-8113-87331F0E6417}"/>
              </a:ext>
            </a:extLst>
          </p:cNvPr>
          <p:cNvSpPr>
            <a:spLocks noGrp="1"/>
          </p:cNvSpPr>
          <p:nvPr>
            <p:ph type="pic" sz="quarter" idx="10"/>
          </p:nvPr>
        </p:nvSpPr>
        <p:spPr/>
      </p:sp>
      <p:pic>
        <p:nvPicPr>
          <p:cNvPr id="15362" name="Picture 2" descr="Three Phases in the Evolution of Big Data">
            <a:extLst>
              <a:ext uri="{FF2B5EF4-FFF2-40B4-BE49-F238E27FC236}">
                <a16:creationId xmlns:a16="http://schemas.microsoft.com/office/drawing/2014/main" id="{8D4A371D-E262-4FB4-A8AD-FCE63535E7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65" y="-92765"/>
            <a:ext cx="12417287" cy="4540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1947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1F264-45CA-4AA0-880E-143FB6D9812F}"/>
              </a:ext>
            </a:extLst>
          </p:cNvPr>
          <p:cNvSpPr>
            <a:spLocks noGrp="1"/>
          </p:cNvSpPr>
          <p:nvPr>
            <p:ph type="title"/>
          </p:nvPr>
        </p:nvSpPr>
        <p:spPr>
          <a:xfrm>
            <a:off x="587997" y="457200"/>
            <a:ext cx="10512424" cy="1600200"/>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pPr algn="ctr"/>
            <a:r>
              <a:rPr lang="en-US" sz="6000"/>
              <a:t>7 Essential Big Data Best Practices</a:t>
            </a:r>
            <a:endParaRPr lang="en-IN" sz="6000"/>
          </a:p>
        </p:txBody>
      </p:sp>
      <p:sp>
        <p:nvSpPr>
          <p:cNvPr id="4" name="Text Placeholder 3">
            <a:extLst>
              <a:ext uri="{FF2B5EF4-FFF2-40B4-BE49-F238E27FC236}">
                <a16:creationId xmlns:a16="http://schemas.microsoft.com/office/drawing/2014/main" id="{89E4E6EB-479F-4025-8782-3E7C14396F33}"/>
              </a:ext>
            </a:extLst>
          </p:cNvPr>
          <p:cNvSpPr>
            <a:spLocks noGrp="1"/>
          </p:cNvSpPr>
          <p:nvPr>
            <p:ph type="body" sz="half" idx="2"/>
          </p:nvPr>
        </p:nvSpPr>
        <p:spPr>
          <a:xfrm>
            <a:off x="839788" y="2057399"/>
            <a:ext cx="10512424" cy="4144617"/>
          </a:xfrm>
        </p:spPr>
        <p:txBody>
          <a:bodyPr>
            <a:normAutofit/>
          </a:bodyPr>
          <a:lstStyle/>
          <a:p>
            <a:pPr fontAlgn="base">
              <a:lnSpc>
                <a:spcPct val="100000"/>
              </a:lnSpc>
              <a:buFont typeface="Arial" panose="020B0604020202020204" pitchFamily="34" charset="0"/>
              <a:buChar char="•"/>
            </a:pPr>
            <a:r>
              <a:rPr lang="en-US" sz="2800" b="1">
                <a:solidFill>
                  <a:srgbClr val="2474BC"/>
                </a:solidFill>
                <a:latin typeface="omnes-cyrillic"/>
              </a:rPr>
              <a:t>Implement Data Quality Management Programs</a:t>
            </a:r>
          </a:p>
          <a:p>
            <a:pPr fontAlgn="base">
              <a:lnSpc>
                <a:spcPct val="100000"/>
              </a:lnSpc>
              <a:buFont typeface="Arial" panose="020B0604020202020204" pitchFamily="34" charset="0"/>
              <a:buChar char="•"/>
            </a:pPr>
            <a:r>
              <a:rPr lang="en-IN" sz="2800" b="1" i="0">
                <a:solidFill>
                  <a:srgbClr val="2474BC"/>
                </a:solidFill>
                <a:effectLst/>
                <a:latin typeface="omnes-cyrillic"/>
              </a:rPr>
              <a:t>Build More Scalable Infrastructures</a:t>
            </a:r>
          </a:p>
          <a:p>
            <a:pPr fontAlgn="base">
              <a:lnSpc>
                <a:spcPct val="100000"/>
              </a:lnSpc>
              <a:buFont typeface="Arial" panose="020B0604020202020204" pitchFamily="34" charset="0"/>
              <a:buChar char="•"/>
            </a:pPr>
            <a:r>
              <a:rPr lang="en-IN" sz="2800" b="1" i="0">
                <a:solidFill>
                  <a:srgbClr val="2474BC"/>
                </a:solidFill>
                <a:effectLst/>
                <a:latin typeface="omnes-cyrillic"/>
              </a:rPr>
              <a:t>Employ Agile Development Methodologies</a:t>
            </a:r>
          </a:p>
          <a:p>
            <a:pPr fontAlgn="base">
              <a:lnSpc>
                <a:spcPct val="100000"/>
              </a:lnSpc>
              <a:buFont typeface="Arial" panose="020B0604020202020204" pitchFamily="34" charset="0"/>
              <a:buChar char="•"/>
            </a:pPr>
            <a:r>
              <a:rPr lang="en-US" sz="2800" b="1" i="0">
                <a:solidFill>
                  <a:srgbClr val="2474BC"/>
                </a:solidFill>
                <a:effectLst/>
                <a:latin typeface="omnes-cyrillic"/>
              </a:rPr>
              <a:t>Safeguard Data With Robust Security Measures</a:t>
            </a:r>
          </a:p>
          <a:p>
            <a:pPr fontAlgn="base">
              <a:lnSpc>
                <a:spcPct val="100000"/>
              </a:lnSpc>
              <a:buFont typeface="Arial" panose="020B0604020202020204" pitchFamily="34" charset="0"/>
              <a:buChar char="•"/>
            </a:pPr>
            <a:r>
              <a:rPr lang="en-IN" sz="2800" b="1" i="0">
                <a:solidFill>
                  <a:srgbClr val="2474BC"/>
                </a:solidFill>
                <a:effectLst/>
                <a:latin typeface="omnes-cyrillic"/>
              </a:rPr>
              <a:t>Use Data Ethically</a:t>
            </a:r>
          </a:p>
          <a:p>
            <a:pPr fontAlgn="base">
              <a:lnSpc>
                <a:spcPct val="100000"/>
              </a:lnSpc>
              <a:buFont typeface="Arial" panose="020B0604020202020204" pitchFamily="34" charset="0"/>
              <a:buChar char="•"/>
            </a:pPr>
            <a:r>
              <a:rPr lang="en-IN" sz="2800" b="1" i="0">
                <a:solidFill>
                  <a:srgbClr val="2474BC"/>
                </a:solidFill>
                <a:effectLst/>
                <a:latin typeface="omnes-cyrillic"/>
              </a:rPr>
              <a:t>Monitor And Optimize Continuously</a:t>
            </a:r>
          </a:p>
          <a:p>
            <a:pPr fontAlgn="base">
              <a:lnSpc>
                <a:spcPct val="100000"/>
              </a:lnSpc>
              <a:buFont typeface="Arial" panose="020B0604020202020204" pitchFamily="34" charset="0"/>
              <a:buChar char="•"/>
            </a:pPr>
            <a:r>
              <a:rPr lang="en-IN" sz="2800" b="1" i="0">
                <a:solidFill>
                  <a:srgbClr val="2474BC"/>
                </a:solidFill>
                <a:effectLst/>
                <a:latin typeface="omnes-cyrillic"/>
              </a:rPr>
              <a:t>Provide Workforce Skill Development</a:t>
            </a:r>
          </a:p>
          <a:p>
            <a:pPr algn="l" fontAlgn="base">
              <a:lnSpc>
                <a:spcPct val="100000"/>
              </a:lnSpc>
              <a:buFont typeface="Arial" panose="020B0604020202020204" pitchFamily="34" charset="0"/>
              <a:buChar char="•"/>
            </a:pPr>
            <a:endParaRPr lang="en-US" sz="2300" b="0" i="0">
              <a:solidFill>
                <a:srgbClr val="273239"/>
              </a:solidFill>
              <a:effectLst/>
              <a:latin typeface="Nunito" pitchFamily="2" charset="0"/>
            </a:endParaRPr>
          </a:p>
        </p:txBody>
      </p:sp>
      <p:sp>
        <p:nvSpPr>
          <p:cNvPr id="5" name="Slide Number Placeholder 4">
            <a:extLst>
              <a:ext uri="{FF2B5EF4-FFF2-40B4-BE49-F238E27FC236}">
                <a16:creationId xmlns:a16="http://schemas.microsoft.com/office/drawing/2014/main" id="{97B4BB5B-D1D1-43FA-86C8-09FEF5C1D1E2}"/>
              </a:ext>
            </a:extLst>
          </p:cNvPr>
          <p:cNvSpPr>
            <a:spLocks noGrp="1"/>
          </p:cNvSpPr>
          <p:nvPr>
            <p:ph type="sldNum" sz="quarter" idx="12"/>
          </p:nvPr>
        </p:nvSpPr>
        <p:spPr/>
        <p:txBody>
          <a:bodyPr/>
          <a:lstStyle/>
          <a:p>
            <a:fld id="{03DC2DEF-D2FE-4B45-ABA4-9F153FD1C98A}" type="slidenum">
              <a:rPr lang="en-US" smtClean="0"/>
              <a:t>56</a:t>
            </a:fld>
            <a:endParaRPr lang="en-US"/>
          </a:p>
        </p:txBody>
      </p:sp>
    </p:spTree>
    <p:extLst>
      <p:ext uri="{BB962C8B-B14F-4D97-AF65-F5344CB8AC3E}">
        <p14:creationId xmlns:p14="http://schemas.microsoft.com/office/powerpoint/2010/main" val="567287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FC04-C7B7-4BC0-AE83-185D7815A93A}"/>
              </a:ext>
            </a:extLst>
          </p:cNvPr>
          <p:cNvSpPr>
            <a:spLocks noGrp="1"/>
          </p:cNvSpPr>
          <p:nvPr>
            <p:ph type="title"/>
          </p:nvPr>
        </p:nvSpPr>
        <p:spPr>
          <a:xfrm>
            <a:off x="371475" y="260350"/>
            <a:ext cx="11520488" cy="758824"/>
          </a:xfrm>
        </p:spPr>
        <p:txBody>
          <a:bodyPr>
            <a:normAutofit/>
          </a:bodyPr>
          <a:lstStyle/>
          <a:p>
            <a:pPr algn="ctr"/>
            <a:r>
              <a:rPr lang="en-US"/>
              <a:t>BIG DATA CHARACTERISTICS</a:t>
            </a:r>
            <a:endParaRPr lang="en-IN"/>
          </a:p>
        </p:txBody>
      </p:sp>
      <p:sp>
        <p:nvSpPr>
          <p:cNvPr id="3" name="Slide Number Placeholder 2">
            <a:extLst>
              <a:ext uri="{FF2B5EF4-FFF2-40B4-BE49-F238E27FC236}">
                <a16:creationId xmlns:a16="http://schemas.microsoft.com/office/drawing/2014/main" id="{58E58E91-A7D7-48D1-BA97-2C707FC6F2ED}"/>
              </a:ext>
            </a:extLst>
          </p:cNvPr>
          <p:cNvSpPr>
            <a:spLocks noGrp="1"/>
          </p:cNvSpPr>
          <p:nvPr>
            <p:ph type="sldNum" sz="quarter" idx="12"/>
          </p:nvPr>
        </p:nvSpPr>
        <p:spPr/>
        <p:txBody>
          <a:bodyPr/>
          <a:lstStyle/>
          <a:p>
            <a:fld id="{03DC2DEF-D2FE-4B45-ABA4-9F153FD1C98A}" type="slidenum">
              <a:rPr lang="en-US" smtClean="0"/>
              <a:t>57</a:t>
            </a:fld>
            <a:endParaRPr lang="en-US"/>
          </a:p>
        </p:txBody>
      </p:sp>
      <p:sp>
        <p:nvSpPr>
          <p:cNvPr id="4" name="Chart Placeholder 3">
            <a:extLst>
              <a:ext uri="{FF2B5EF4-FFF2-40B4-BE49-F238E27FC236}">
                <a16:creationId xmlns:a16="http://schemas.microsoft.com/office/drawing/2014/main" id="{AB836B2D-2E26-4546-B7CA-32333B93FAE2}"/>
              </a:ext>
            </a:extLst>
          </p:cNvPr>
          <p:cNvSpPr>
            <a:spLocks noGrp="1"/>
          </p:cNvSpPr>
          <p:nvPr>
            <p:ph type="chart" sz="quarter" idx="13"/>
          </p:nvPr>
        </p:nvSpPr>
        <p:spPr>
          <a:xfrm>
            <a:off x="371475" y="1313619"/>
            <a:ext cx="11520488" cy="4967287"/>
          </a:xfrm>
        </p:spPr>
      </p:sp>
      <p:pic>
        <p:nvPicPr>
          <p:cNvPr id="16386" name="Picture 2" descr="Five V's of Big Data - What is Big Data - Edureka">
            <a:extLst>
              <a:ext uri="{FF2B5EF4-FFF2-40B4-BE49-F238E27FC236}">
                <a16:creationId xmlns:a16="http://schemas.microsoft.com/office/drawing/2014/main" id="{18DB1BB4-EEC4-43AC-BB99-5FFF0AFF9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79442"/>
            <a:ext cx="12192000" cy="6188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3617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CE100345-E357-4563-B71A-3CDE1F6489AB}"/>
              </a:ext>
            </a:extLst>
          </p:cNvPr>
          <p:cNvSpPr>
            <a:spLocks noGrp="1"/>
          </p:cNvSpPr>
          <p:nvPr>
            <p:ph type="pic" sz="quarter" idx="10"/>
          </p:nvPr>
        </p:nvSpPr>
        <p:spPr/>
      </p:sp>
      <p:sp>
        <p:nvSpPr>
          <p:cNvPr id="3" name="Title 2">
            <a:extLst>
              <a:ext uri="{FF2B5EF4-FFF2-40B4-BE49-F238E27FC236}">
                <a16:creationId xmlns:a16="http://schemas.microsoft.com/office/drawing/2014/main" id="{2A830B02-DB3F-4345-8D9F-892ADB1BB07E}"/>
              </a:ext>
            </a:extLst>
          </p:cNvPr>
          <p:cNvSpPr>
            <a:spLocks noGrp="1"/>
          </p:cNvSpPr>
          <p:nvPr>
            <p:ph type="ctrTitle"/>
          </p:nvPr>
        </p:nvSpPr>
        <p:spPr>
          <a:xfrm>
            <a:off x="0" y="0"/>
            <a:ext cx="4416424" cy="2182811"/>
          </a:xfrm>
        </p:spPr>
        <p:txBody>
          <a:bodyPr/>
          <a:lstStyle/>
          <a:p>
            <a:r>
              <a:rPr lang="en-IN"/>
              <a:t>Volume</a:t>
            </a:r>
          </a:p>
        </p:txBody>
      </p:sp>
      <p:sp>
        <p:nvSpPr>
          <p:cNvPr id="4" name="Subtitle 3">
            <a:extLst>
              <a:ext uri="{FF2B5EF4-FFF2-40B4-BE49-F238E27FC236}">
                <a16:creationId xmlns:a16="http://schemas.microsoft.com/office/drawing/2014/main" id="{9C6071AA-58B0-4A7C-ACE0-38B67B0F93DC}"/>
              </a:ext>
            </a:extLst>
          </p:cNvPr>
          <p:cNvSpPr>
            <a:spLocks noGrp="1"/>
          </p:cNvSpPr>
          <p:nvPr>
            <p:ph type="subTitle" idx="1"/>
          </p:nvPr>
        </p:nvSpPr>
        <p:spPr>
          <a:xfrm>
            <a:off x="371476" y="2182811"/>
            <a:ext cx="4416424" cy="4549293"/>
          </a:xfrm>
        </p:spPr>
        <p:txBody>
          <a:bodyPr>
            <a:normAutofit fontScale="77500" lnSpcReduction="20000"/>
          </a:bodyPr>
          <a:lstStyle/>
          <a:p>
            <a:pPr marL="342900" indent="-342900">
              <a:lnSpc>
                <a:spcPct val="150000"/>
              </a:lnSpc>
              <a:buFont typeface="Arial" panose="020B0604020202020204" pitchFamily="34" charset="0"/>
              <a:buChar char="•"/>
            </a:pPr>
            <a:r>
              <a:rPr lang="en-US" b="1"/>
              <a:t>Big Data is a vast 'volumes' of data generated from many sources daily, such as business processes, machines, social media platforms, networks, human interactions, and many more.</a:t>
            </a:r>
          </a:p>
          <a:p>
            <a:pPr marL="342900" indent="-342900">
              <a:lnSpc>
                <a:spcPct val="150000"/>
              </a:lnSpc>
              <a:buFont typeface="Arial" panose="020B0604020202020204" pitchFamily="34" charset="0"/>
              <a:buChar char="•"/>
            </a:pPr>
            <a:r>
              <a:rPr lang="en-US" b="1"/>
              <a:t>Facebook can generate approximately a billion messages, 4.5 billion times that the "Like" button is recorded, and more than 350 million new posts are uploaded each day. Big data technologies can handle large amounts of data.</a:t>
            </a:r>
            <a:endParaRPr lang="en-IN" b="1"/>
          </a:p>
        </p:txBody>
      </p:sp>
      <p:pic>
        <p:nvPicPr>
          <p:cNvPr id="18434" name="Picture 2" descr="Big Data Characteristics">
            <a:extLst>
              <a:ext uri="{FF2B5EF4-FFF2-40B4-BE49-F238E27FC236}">
                <a16:creationId xmlns:a16="http://schemas.microsoft.com/office/drawing/2014/main" id="{C5247850-0BE6-4911-BFC8-8C4191E9BD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3304" y="357809"/>
            <a:ext cx="7288696" cy="6135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9779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830B02-DB3F-4345-8D9F-892ADB1BB07E}"/>
              </a:ext>
            </a:extLst>
          </p:cNvPr>
          <p:cNvSpPr>
            <a:spLocks noGrp="1"/>
          </p:cNvSpPr>
          <p:nvPr>
            <p:ph type="ctrTitle"/>
          </p:nvPr>
        </p:nvSpPr>
        <p:spPr>
          <a:xfrm>
            <a:off x="0" y="0"/>
            <a:ext cx="4416424" cy="2182811"/>
          </a:xfrm>
        </p:spPr>
        <p:txBody>
          <a:bodyPr/>
          <a:lstStyle/>
          <a:p>
            <a:r>
              <a:rPr lang="en-IN"/>
              <a:t>Variety</a:t>
            </a:r>
          </a:p>
        </p:txBody>
      </p:sp>
      <p:sp>
        <p:nvSpPr>
          <p:cNvPr id="4" name="Subtitle 3">
            <a:extLst>
              <a:ext uri="{FF2B5EF4-FFF2-40B4-BE49-F238E27FC236}">
                <a16:creationId xmlns:a16="http://schemas.microsoft.com/office/drawing/2014/main" id="{9C6071AA-58B0-4A7C-ACE0-38B67B0F93DC}"/>
              </a:ext>
            </a:extLst>
          </p:cNvPr>
          <p:cNvSpPr>
            <a:spLocks noGrp="1"/>
          </p:cNvSpPr>
          <p:nvPr>
            <p:ph type="subTitle" idx="1"/>
          </p:nvPr>
        </p:nvSpPr>
        <p:spPr>
          <a:xfrm>
            <a:off x="371476" y="2182811"/>
            <a:ext cx="4416424" cy="4549293"/>
          </a:xfrm>
        </p:spPr>
        <p:txBody>
          <a:bodyPr>
            <a:normAutofit fontScale="92500" lnSpcReduction="20000"/>
          </a:bodyPr>
          <a:lstStyle/>
          <a:p>
            <a:pPr marL="342900" indent="-342900">
              <a:lnSpc>
                <a:spcPct val="150000"/>
              </a:lnSpc>
              <a:buFont typeface="Arial" panose="020B0604020202020204" pitchFamily="34" charset="0"/>
              <a:buChar char="•"/>
            </a:pPr>
            <a:r>
              <a:rPr lang="en-US" b="1"/>
              <a:t>Big Data can be structured, unstructured, and semi-structured that are being collected from different sources.</a:t>
            </a:r>
          </a:p>
          <a:p>
            <a:pPr marL="342900" indent="-342900">
              <a:lnSpc>
                <a:spcPct val="150000"/>
              </a:lnSpc>
              <a:buFont typeface="Arial" panose="020B0604020202020204" pitchFamily="34" charset="0"/>
              <a:buChar char="•"/>
            </a:pPr>
            <a:r>
              <a:rPr lang="en-US" b="1"/>
              <a:t>Data will only be collected from databases and sheets in the past, But these days the data will comes in array forms, that are PDFs, Emails, audios, SM posts, photos, videos, etc.</a:t>
            </a:r>
            <a:endParaRPr lang="en-IN" b="1"/>
          </a:p>
        </p:txBody>
      </p:sp>
      <p:pic>
        <p:nvPicPr>
          <p:cNvPr id="10" name="Picture 9">
            <a:extLst>
              <a:ext uri="{FF2B5EF4-FFF2-40B4-BE49-F238E27FC236}">
                <a16:creationId xmlns:a16="http://schemas.microsoft.com/office/drawing/2014/main" id="{1B1CC286-033C-4101-B781-95F21FD7A621}"/>
              </a:ext>
            </a:extLst>
          </p:cNvPr>
          <p:cNvPicPr>
            <a:picLocks noChangeAspect="1"/>
          </p:cNvPicPr>
          <p:nvPr/>
        </p:nvPicPr>
        <p:blipFill>
          <a:blip r:embed="rId2"/>
          <a:stretch>
            <a:fillRect/>
          </a:stretch>
        </p:blipFill>
        <p:spPr>
          <a:xfrm>
            <a:off x="6655904" y="449198"/>
            <a:ext cx="5536096" cy="6420677"/>
          </a:xfrm>
          <a:prstGeom prst="rect">
            <a:avLst/>
          </a:prstGeom>
        </p:spPr>
      </p:pic>
    </p:spTree>
    <p:extLst>
      <p:ext uri="{BB962C8B-B14F-4D97-AF65-F5344CB8AC3E}">
        <p14:creationId xmlns:p14="http://schemas.microsoft.com/office/powerpoint/2010/main" val="7125000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830B02-DB3F-4345-8D9F-892ADB1BB07E}"/>
              </a:ext>
            </a:extLst>
          </p:cNvPr>
          <p:cNvSpPr>
            <a:spLocks noGrp="1"/>
          </p:cNvSpPr>
          <p:nvPr>
            <p:ph type="ctrTitle"/>
          </p:nvPr>
        </p:nvSpPr>
        <p:spPr>
          <a:xfrm>
            <a:off x="0" y="0"/>
            <a:ext cx="4416424" cy="2182811"/>
          </a:xfrm>
        </p:spPr>
        <p:txBody>
          <a:bodyPr/>
          <a:lstStyle/>
          <a:p>
            <a:r>
              <a:rPr lang="en-IN"/>
              <a:t>Veracity</a:t>
            </a:r>
          </a:p>
        </p:txBody>
      </p:sp>
      <p:sp>
        <p:nvSpPr>
          <p:cNvPr id="4" name="Subtitle 3">
            <a:extLst>
              <a:ext uri="{FF2B5EF4-FFF2-40B4-BE49-F238E27FC236}">
                <a16:creationId xmlns:a16="http://schemas.microsoft.com/office/drawing/2014/main" id="{9C6071AA-58B0-4A7C-ACE0-38B67B0F93DC}"/>
              </a:ext>
            </a:extLst>
          </p:cNvPr>
          <p:cNvSpPr>
            <a:spLocks noGrp="1"/>
          </p:cNvSpPr>
          <p:nvPr>
            <p:ph type="subTitle" idx="1"/>
          </p:nvPr>
        </p:nvSpPr>
        <p:spPr>
          <a:xfrm>
            <a:off x="371476" y="2182811"/>
            <a:ext cx="4416424" cy="4549293"/>
          </a:xfrm>
        </p:spPr>
        <p:txBody>
          <a:bodyPr>
            <a:normAutofit lnSpcReduction="10000"/>
          </a:bodyPr>
          <a:lstStyle/>
          <a:p>
            <a:pPr marL="342900" indent="-342900">
              <a:lnSpc>
                <a:spcPct val="150000"/>
              </a:lnSpc>
              <a:buFont typeface="Arial" panose="020B0604020202020204" pitchFamily="34" charset="0"/>
              <a:buChar char="•"/>
            </a:pPr>
            <a:r>
              <a:rPr lang="en-US" b="1"/>
              <a:t>Veracity basically means the degree of reliability that the data has to offer.</a:t>
            </a:r>
          </a:p>
          <a:p>
            <a:pPr marL="342900" indent="-342900">
              <a:lnSpc>
                <a:spcPct val="150000"/>
              </a:lnSpc>
              <a:buFont typeface="Arial" panose="020B0604020202020204" pitchFamily="34" charset="0"/>
              <a:buChar char="•"/>
            </a:pPr>
            <a:r>
              <a:rPr lang="en-US" b="1"/>
              <a:t>Since a major part of the data is unstructured and irrelevant, Big Data needs to find an alternate way to filter them or to translate them</a:t>
            </a:r>
            <a:endParaRPr lang="en-IN" b="1"/>
          </a:p>
        </p:txBody>
      </p:sp>
      <p:sp>
        <p:nvSpPr>
          <p:cNvPr id="6" name="TextBox 5">
            <a:extLst>
              <a:ext uri="{FF2B5EF4-FFF2-40B4-BE49-F238E27FC236}">
                <a16:creationId xmlns:a16="http://schemas.microsoft.com/office/drawing/2014/main" id="{A45671EB-5435-438E-80F1-4623DD732955}"/>
              </a:ext>
            </a:extLst>
          </p:cNvPr>
          <p:cNvSpPr txBox="1"/>
          <p:nvPr/>
        </p:nvSpPr>
        <p:spPr>
          <a:xfrm>
            <a:off x="6351105" y="2182811"/>
            <a:ext cx="6261652" cy="1295611"/>
          </a:xfrm>
          <a:prstGeom prst="rect">
            <a:avLst/>
          </a:prstGeom>
          <a:noFill/>
        </p:spPr>
        <p:txBody>
          <a:bodyPr wrap="square">
            <a:spAutoFit/>
          </a:bodyPr>
          <a:lstStyle/>
          <a:p>
            <a:pPr>
              <a:lnSpc>
                <a:spcPct val="150000"/>
              </a:lnSpc>
            </a:pPr>
            <a:r>
              <a:rPr lang="en-US" b="0" i="0">
                <a:solidFill>
                  <a:srgbClr val="4A4A4A"/>
                </a:solidFill>
                <a:effectLst/>
                <a:latin typeface="Open Sans" panose="020B0606030504020204" pitchFamily="34" charset="0"/>
              </a:rPr>
              <a:t> It is actually the amount of valuable, reliable and trustworthy data that needs to be stored, processed, analyzed to find insights</a:t>
            </a:r>
            <a:endParaRPr lang="en-IN"/>
          </a:p>
        </p:txBody>
      </p:sp>
      <p:sp>
        <p:nvSpPr>
          <p:cNvPr id="7" name="Title 2">
            <a:extLst>
              <a:ext uri="{FF2B5EF4-FFF2-40B4-BE49-F238E27FC236}">
                <a16:creationId xmlns:a16="http://schemas.microsoft.com/office/drawing/2014/main" id="{64BA789A-0B0B-4571-AEAC-1B4E99322340}"/>
              </a:ext>
            </a:extLst>
          </p:cNvPr>
          <p:cNvSpPr txBox="1">
            <a:spLocks/>
          </p:cNvSpPr>
          <p:nvPr/>
        </p:nvSpPr>
        <p:spPr>
          <a:xfrm>
            <a:off x="6351105" y="-152401"/>
            <a:ext cx="4416424" cy="218281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5400" b="1" kern="1200">
                <a:solidFill>
                  <a:schemeClr val="bg1"/>
                </a:solidFill>
                <a:latin typeface="+mj-lt"/>
                <a:ea typeface="+mj-ea"/>
                <a:cs typeface="+mj-cs"/>
              </a:defRPr>
            </a:lvl1pPr>
          </a:lstStyle>
          <a:p>
            <a:r>
              <a:rPr lang="en-IN">
                <a:solidFill>
                  <a:schemeClr val="tx1"/>
                </a:solidFill>
              </a:rPr>
              <a:t>Value</a:t>
            </a:r>
          </a:p>
        </p:txBody>
      </p:sp>
    </p:spTree>
    <p:extLst>
      <p:ext uri="{BB962C8B-B14F-4D97-AF65-F5344CB8AC3E}">
        <p14:creationId xmlns:p14="http://schemas.microsoft.com/office/powerpoint/2010/main" val="30978317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A830B02-DB3F-4345-8D9F-892ADB1BB07E}"/>
              </a:ext>
            </a:extLst>
          </p:cNvPr>
          <p:cNvSpPr>
            <a:spLocks noGrp="1"/>
          </p:cNvSpPr>
          <p:nvPr>
            <p:ph type="ctrTitle"/>
          </p:nvPr>
        </p:nvSpPr>
        <p:spPr>
          <a:xfrm>
            <a:off x="0" y="0"/>
            <a:ext cx="4416424" cy="2182811"/>
          </a:xfrm>
        </p:spPr>
        <p:txBody>
          <a:bodyPr/>
          <a:lstStyle/>
          <a:p>
            <a:r>
              <a:rPr lang="en-IN"/>
              <a:t>Velocity</a:t>
            </a:r>
          </a:p>
        </p:txBody>
      </p:sp>
      <p:sp>
        <p:nvSpPr>
          <p:cNvPr id="4" name="Subtitle 3">
            <a:extLst>
              <a:ext uri="{FF2B5EF4-FFF2-40B4-BE49-F238E27FC236}">
                <a16:creationId xmlns:a16="http://schemas.microsoft.com/office/drawing/2014/main" id="{9C6071AA-58B0-4A7C-ACE0-38B67B0F93DC}"/>
              </a:ext>
            </a:extLst>
          </p:cNvPr>
          <p:cNvSpPr>
            <a:spLocks noGrp="1"/>
          </p:cNvSpPr>
          <p:nvPr>
            <p:ph type="subTitle" idx="1"/>
          </p:nvPr>
        </p:nvSpPr>
        <p:spPr>
          <a:xfrm>
            <a:off x="371476" y="2182811"/>
            <a:ext cx="4416424" cy="4549293"/>
          </a:xfrm>
        </p:spPr>
        <p:txBody>
          <a:bodyPr>
            <a:normAutofit fontScale="92500"/>
          </a:bodyPr>
          <a:lstStyle/>
          <a:p>
            <a:pPr marL="342900" indent="-342900">
              <a:lnSpc>
                <a:spcPct val="150000"/>
              </a:lnSpc>
              <a:buFont typeface="Arial" panose="020B0604020202020204" pitchFamily="34" charset="0"/>
              <a:buChar char="•"/>
            </a:pPr>
            <a:r>
              <a:rPr lang="en-US" b="1"/>
              <a:t>Velocity creates the speed by which the data is created in real-time.</a:t>
            </a:r>
          </a:p>
          <a:p>
            <a:pPr marL="342900" indent="-342900">
              <a:lnSpc>
                <a:spcPct val="150000"/>
              </a:lnSpc>
              <a:buFont typeface="Arial" panose="020B0604020202020204" pitchFamily="34" charset="0"/>
              <a:buChar char="•"/>
            </a:pPr>
            <a:r>
              <a:rPr lang="en-US" b="1"/>
              <a:t>It contains the linking of incoming data sets speeds, rate of change, and activity bursts. </a:t>
            </a:r>
          </a:p>
          <a:p>
            <a:pPr marL="342900" indent="-342900">
              <a:lnSpc>
                <a:spcPct val="150000"/>
              </a:lnSpc>
              <a:buFont typeface="Arial" panose="020B0604020202020204" pitchFamily="34" charset="0"/>
              <a:buChar char="•"/>
            </a:pPr>
            <a:r>
              <a:rPr lang="en-US" b="1"/>
              <a:t>The primary aspect of Big Data is to provide demanding data rapidly</a:t>
            </a:r>
            <a:endParaRPr lang="en-IN" b="1"/>
          </a:p>
        </p:txBody>
      </p:sp>
      <p:pic>
        <p:nvPicPr>
          <p:cNvPr id="20482" name="Picture 2" descr="Big Data Characteristics">
            <a:extLst>
              <a:ext uri="{FF2B5EF4-FFF2-40B4-BE49-F238E27FC236}">
                <a16:creationId xmlns:a16="http://schemas.microsoft.com/office/drawing/2014/main" id="{CD8A533B-656F-41D3-8480-CD3ABAE74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7950" y="1656523"/>
            <a:ext cx="5734050" cy="3087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314412"/>
      </p:ext>
    </p:extLst>
  </p:cSld>
  <p:clrMapOvr>
    <a:masterClrMapping/>
  </p:clrMapOvr>
</p:sld>
</file>

<file path=ppt/theme/theme1.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7857A61B76164BA98A89D85CEB89F3" ma:contentTypeVersion="3" ma:contentTypeDescription="Create a new document." ma:contentTypeScope="" ma:versionID="c8a03162020c390d372a2549bd4c95cf">
  <xsd:schema xmlns:xsd="http://www.w3.org/2001/XMLSchema" xmlns:xs="http://www.w3.org/2001/XMLSchema" xmlns:p="http://schemas.microsoft.com/office/2006/metadata/properties" xmlns:ns2="55e988a3-ac11-4feb-a8fd-3d3caa5abe9b" targetNamespace="http://schemas.microsoft.com/office/2006/metadata/properties" ma:root="true" ma:fieldsID="20d290c1c7947ca9bde9265cfc388916" ns2:_="">
    <xsd:import namespace="55e988a3-ac11-4feb-a8fd-3d3caa5abe9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e988a3-ac11-4feb-a8fd-3d3caa5abe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276C05-E850-4CD0-ACD6-B63BBB107665}">
  <ds:schemaRefs>
    <ds:schemaRef ds:uri="http://schemas.microsoft.com/sharepoint/v3/contenttype/forms"/>
  </ds:schemaRefs>
</ds:datastoreItem>
</file>

<file path=customXml/itemProps2.xml><?xml version="1.0" encoding="utf-8"?>
<ds:datastoreItem xmlns:ds="http://schemas.openxmlformats.org/officeDocument/2006/customXml" ds:itemID="{D621E173-CDEE-4A01-A1CA-E4C3458B84B2}">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309FD93-1E63-40C0-894D-B755BCBDD3AC}">
  <ds:schemaRefs>
    <ds:schemaRef ds:uri="55e988a3-ac11-4feb-a8fd-3d3caa5abe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Classic bold block presentation</Template>
  <Application>Microsoft Office PowerPoint</Application>
  <PresentationFormat>Widescreen</PresentationFormat>
  <Slides>61</Slides>
  <Notes>0</Notes>
  <HiddenSlides>0</HiddenSlide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BIG DATA?</vt:lpstr>
      <vt:lpstr>WHAT IS BIG DATA?</vt:lpstr>
      <vt:lpstr>BIG DATA OVERVIEW</vt:lpstr>
      <vt:lpstr>Big Data is a collection of data that is huge in volume, yet growing exponentially with time.</vt:lpstr>
      <vt:lpstr>BUSINESS INTELLIGENCE</vt:lpstr>
      <vt:lpstr>PowerPoint Presentation</vt:lpstr>
      <vt:lpstr>PowerPoint Presentation</vt:lpstr>
      <vt:lpstr>PowerPoint Presentation</vt:lpstr>
      <vt:lpstr>PowerPoint Presentation</vt:lpstr>
      <vt:lpstr>BUSINESS INTELLIGENCE Vs DATA ANALYTICS</vt:lpstr>
      <vt:lpstr>BUSINESS INTELLIGENCE Vs DATA ANALYTICS</vt:lpstr>
      <vt:lpstr>Slide Title</vt:lpstr>
      <vt:lpstr>NEED OF DATA ANALYTICS</vt:lpstr>
      <vt:lpstr>NEED OF DATA ANALYTICS</vt:lpstr>
      <vt:lpstr>NEED OF DATA ANALYTICS</vt:lpstr>
      <vt:lpstr>NEED OF DATA ANALYTICS</vt:lpstr>
      <vt:lpstr>NEED OF DATA ANALYTICS</vt:lpstr>
      <vt:lpstr>NEED OF DATA ANALYTICS</vt:lpstr>
      <vt:lpstr>NEED OF DATA ANALYTICS</vt:lpstr>
      <vt:lpstr>WALLMART CASE STUDY</vt:lpstr>
      <vt:lpstr>WALLMART CASE STUDY</vt:lpstr>
      <vt:lpstr>DATA ANALYTICS APPLICATION</vt:lpstr>
      <vt:lpstr>Life Cycle Phases of Data Analytics </vt:lpstr>
      <vt:lpstr>Phase 1: Discovery</vt:lpstr>
      <vt:lpstr>Phase 2: Data Preparation</vt:lpstr>
      <vt:lpstr>Phase 3: Model Planning </vt:lpstr>
      <vt:lpstr>Phase 4: Model Building</vt:lpstr>
      <vt:lpstr>Phase 5: Communication Results</vt:lpstr>
      <vt:lpstr>Phase 6: Operationalize</vt:lpstr>
      <vt:lpstr>Variable Identification in Data Exploration</vt:lpstr>
      <vt:lpstr>Variable Identification in Data Exploration</vt:lpstr>
      <vt:lpstr>Steps of Data Exploration and Preparation</vt:lpstr>
      <vt:lpstr>Bivariate Analysis</vt:lpstr>
      <vt:lpstr>Continuous &amp; Continuous</vt:lpstr>
      <vt:lpstr>Continuous &amp; Continuous</vt:lpstr>
      <vt:lpstr>In above example, we have good positive relationship(0.65) between two variables X and Y</vt:lpstr>
      <vt:lpstr>Categorical &amp; Categorical</vt:lpstr>
      <vt:lpstr>Two-way table</vt:lpstr>
      <vt:lpstr>Categorical &amp; Categorical</vt:lpstr>
      <vt:lpstr>Categorical &amp; Continuous</vt:lpstr>
      <vt:lpstr>Box Plots</vt:lpstr>
      <vt:lpstr>Box Plots</vt:lpstr>
      <vt:lpstr>Missing Value Treatment</vt:lpstr>
      <vt:lpstr>Why is Missing Values Treatment Required?</vt:lpstr>
      <vt:lpstr>Deletion </vt:lpstr>
      <vt:lpstr>Other Methods For Missing Value Treatment</vt:lpstr>
      <vt:lpstr>An Outlier Is A Data Point That Differs Significantly From Other Observations</vt:lpstr>
      <vt:lpstr>Univariate and Multivariate Outliers</vt:lpstr>
      <vt:lpstr>Types of Outliers</vt:lpstr>
      <vt:lpstr>What is the Impact of Outliers on a Dataset?</vt:lpstr>
      <vt:lpstr>1. Deleting observations 2. Transforming and binning         3. Imputing 4. Treat separately</vt:lpstr>
      <vt:lpstr>What is Variable Transformation?</vt:lpstr>
      <vt:lpstr>What is Feature / Variable Creation &amp; What Are Its Benefits?</vt:lpstr>
      <vt:lpstr>What is Feature / Variable Creation &amp; What Are Its Benefits?</vt:lpstr>
      <vt:lpstr>EVOLUTION OF BIG DATA</vt:lpstr>
      <vt:lpstr>7 Essential Big Data Best Practices</vt:lpstr>
      <vt:lpstr>BIG DATA CHARACTERISTICS</vt:lpstr>
      <vt:lpstr>Volume</vt:lpstr>
      <vt:lpstr>Variety</vt:lpstr>
      <vt:lpstr>Veracity</vt:lpstr>
      <vt:lpstr>Velocity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dc:title>
  <dc:creator>siva priya</dc:creator>
  <cp:revision>3</cp:revision>
  <dcterms:created xsi:type="dcterms:W3CDTF">2024-07-15T09:15:35Z</dcterms:created>
  <dcterms:modified xsi:type="dcterms:W3CDTF">2026-01-27T13:26:16Z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0x0101004F7857A61B76164BA98A89D85CEB89F3</vt:lpwstr>
  </property>
</Properties>
</file>