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66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1979" y="45466"/>
            <a:ext cx="7540040" cy="13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45081"/>
            <a:ext cx="7966075" cy="4140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engineering-spiral-model/" TargetMode="External"/><Relationship Id="rId2" Type="http://schemas.openxmlformats.org/officeDocument/2006/relationships/hyperlink" Target="https://melsatar.blog/2012/03/15/softwaredevelopment-life-cycle-models-andmethodologie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utorialspoint.com/sdlc/sdlc_waterfall_model.htm" TargetMode="External"/><Relationship Id="rId4" Type="http://schemas.openxmlformats.org/officeDocument/2006/relationships/hyperlink" Target="https://medium.com/%40lizparody/waterfall-vsagile-methodology-in-software-development1e19ef168cf6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3574" y="2481452"/>
            <a:ext cx="721740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0" dirty="0">
                <a:latin typeface="Calibri"/>
                <a:cs typeface="Calibri"/>
              </a:rPr>
              <a:t>Value</a:t>
            </a:r>
            <a:r>
              <a:rPr b="1" spc="-9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engineering</a:t>
            </a:r>
            <a:r>
              <a:rPr b="1" spc="-10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9800" y="3429000"/>
            <a:ext cx="4839461" cy="26396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1355" marR="671830" algn="ctr">
              <a:lnSpc>
                <a:spcPct val="120000"/>
              </a:lnSpc>
              <a:spcBef>
                <a:spcPts val="100"/>
              </a:spcBef>
            </a:pPr>
            <a:r>
              <a:rPr sz="4800" dirty="0">
                <a:solidFill>
                  <a:srgbClr val="888888"/>
                </a:solidFill>
                <a:latin typeface="Calibri"/>
                <a:cs typeface="Calibri"/>
              </a:rPr>
              <a:t>Module </a:t>
            </a:r>
            <a:r>
              <a:rPr sz="4800" spc="-50" dirty="0">
                <a:solidFill>
                  <a:srgbClr val="888888"/>
                </a:solidFill>
                <a:latin typeface="Calibri"/>
                <a:cs typeface="Calibri"/>
              </a:rPr>
              <a:t>V </a:t>
            </a:r>
            <a:endParaRPr lang="en-IN" sz="4800" spc="-50" dirty="0">
              <a:solidFill>
                <a:srgbClr val="888888"/>
              </a:solidFill>
              <a:latin typeface="Calibri"/>
              <a:cs typeface="Calibri"/>
            </a:endParaRPr>
          </a:p>
          <a:p>
            <a:pPr marL="681355" marR="671830" algn="ctr">
              <a:lnSpc>
                <a:spcPct val="120000"/>
              </a:lnSpc>
              <a:spcBef>
                <a:spcPts val="100"/>
              </a:spcBef>
            </a:pPr>
            <a:r>
              <a:rPr sz="4800" spc="-25" dirty="0">
                <a:solidFill>
                  <a:srgbClr val="888888"/>
                </a:solidFill>
                <a:latin typeface="Calibri"/>
                <a:cs typeface="Calibri"/>
              </a:rPr>
              <a:t>By</a:t>
            </a:r>
            <a:endParaRPr sz="48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sz="4800" dirty="0">
                <a:solidFill>
                  <a:srgbClr val="888888"/>
                </a:solidFill>
                <a:latin typeface="Calibri"/>
                <a:cs typeface="Calibri"/>
              </a:rPr>
              <a:t>Dr</a:t>
            </a:r>
            <a:r>
              <a:rPr sz="48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IN" sz="4800" spc="-40" dirty="0">
                <a:solidFill>
                  <a:srgbClr val="888888"/>
                </a:solidFill>
                <a:latin typeface="Calibri"/>
                <a:cs typeface="Calibri"/>
              </a:rPr>
              <a:t>Hemalatha K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5069" y="461899"/>
            <a:ext cx="57531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Definitions</a:t>
            </a:r>
            <a:r>
              <a:rPr spc="-120" dirty="0"/>
              <a:t> </a:t>
            </a:r>
            <a:r>
              <a:rPr dirty="0"/>
              <a:t>&amp;</a:t>
            </a:r>
            <a:r>
              <a:rPr spc="-110" dirty="0"/>
              <a:t> </a:t>
            </a:r>
            <a:r>
              <a:rPr spc="-10" dirty="0"/>
              <a:t>Importance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06246"/>
            <a:ext cx="8044815" cy="4440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700" spc="-10" dirty="0">
                <a:latin typeface="Calibri"/>
                <a:cs typeface="Calibri"/>
              </a:rPr>
              <a:t>Value</a:t>
            </a:r>
            <a:r>
              <a:rPr sz="2700" spc="-1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Engineering</a:t>
            </a:r>
            <a:endParaRPr sz="27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10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concerned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about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new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products</a:t>
            </a:r>
            <a:endParaRPr sz="24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–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crucial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activity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during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product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development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stage</a:t>
            </a:r>
            <a:endParaRPr sz="24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–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Its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intention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reducing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costs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improving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endParaRPr sz="24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754380" marR="556260" lvl="1" indent="-285115">
              <a:lnSpc>
                <a:spcPct val="80000"/>
              </a:lnSpc>
              <a:spcBef>
                <a:spcPts val="580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Many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factors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influence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tooling,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equipment, 	</a:t>
            </a:r>
            <a:r>
              <a:rPr sz="2400" dirty="0">
                <a:latin typeface="Calibri"/>
                <a:cs typeface="Calibri"/>
              </a:rPr>
              <a:t>labour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skills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,training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costs,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materials,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shipping, 	</a:t>
            </a:r>
            <a:r>
              <a:rPr sz="2400" dirty="0">
                <a:latin typeface="Calibri"/>
                <a:cs typeface="Calibri"/>
              </a:rPr>
              <a:t>installation,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maintenance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recycle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costs.</a:t>
            </a:r>
            <a:endParaRPr sz="24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–"/>
              <a:tabLst>
                <a:tab pos="755015" algn="l"/>
              </a:tabLst>
            </a:pPr>
            <a:r>
              <a:rPr sz="2400" spc="-10" dirty="0">
                <a:latin typeface="Calibri"/>
                <a:cs typeface="Calibri"/>
              </a:rPr>
              <a:t>Definition:</a:t>
            </a:r>
            <a:endParaRPr sz="2400" dirty="0">
              <a:latin typeface="Calibri"/>
              <a:cs typeface="Calibri"/>
            </a:endParaRPr>
          </a:p>
          <a:p>
            <a:pPr marL="1155700" marR="76200" lvl="2" indent="-228600">
              <a:lnSpc>
                <a:spcPct val="80000"/>
              </a:lnSpc>
              <a:spcBef>
                <a:spcPts val="495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engineering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systematic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approach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aimed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achieving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b="1" dirty="0">
                <a:latin typeface="Calibri"/>
                <a:cs typeface="Calibri"/>
              </a:rPr>
              <a:t>desired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functions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product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minimum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overall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without affecting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quality,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reliability,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performance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safety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1155700" marR="5080" lvl="2" indent="-228600">
              <a:lnSpc>
                <a:spcPts val="1920"/>
              </a:lnSpc>
              <a:spcBef>
                <a:spcPts val="464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neither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suggestion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program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cheapening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item,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procedure.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does,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however,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seek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eliminate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unnecessary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costs.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9767" rIns="0" bIns="0" rtlCol="0">
            <a:spAutoFit/>
          </a:bodyPr>
          <a:lstStyle/>
          <a:p>
            <a:pPr marL="2019935">
              <a:lnSpc>
                <a:spcPct val="100000"/>
              </a:lnSpc>
              <a:spcBef>
                <a:spcPts val="105"/>
              </a:spcBef>
            </a:pPr>
            <a:r>
              <a:rPr dirty="0"/>
              <a:t>Principles</a:t>
            </a:r>
            <a:r>
              <a:rPr spc="-114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spc="-25" dirty="0"/>
              <a:t>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5081"/>
            <a:ext cx="7929880" cy="45218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35305" indent="-342900">
              <a:lnSpc>
                <a:spcPts val="24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10" dirty="0">
                <a:latin typeface="Calibri"/>
                <a:cs typeface="Calibri"/>
              </a:rPr>
              <a:t>Value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Engineering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determines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the</a:t>
            </a:r>
            <a:r>
              <a:rPr sz="2500" b="1" spc="-7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basic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function</a:t>
            </a:r>
            <a:r>
              <a:rPr sz="2500" b="1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an </a:t>
            </a:r>
            <a:r>
              <a:rPr sz="2500" spc="-10" dirty="0">
                <a:latin typeface="Calibri"/>
                <a:cs typeface="Calibri"/>
              </a:rPr>
              <a:t>item.</a:t>
            </a:r>
            <a:endParaRPr sz="2500">
              <a:latin typeface="Calibri"/>
              <a:cs typeface="Calibri"/>
            </a:endParaRPr>
          </a:p>
          <a:p>
            <a:pPr marL="355600" marR="1240155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10" dirty="0">
                <a:latin typeface="Calibri"/>
                <a:cs typeface="Calibri"/>
              </a:rPr>
              <a:t>Value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Engineering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evaluating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high</a:t>
            </a:r>
            <a:r>
              <a:rPr sz="2500" b="1" spc="-9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cost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areas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and </a:t>
            </a:r>
            <a:r>
              <a:rPr sz="2500" spc="-10" dirty="0">
                <a:latin typeface="Calibri"/>
                <a:cs typeface="Calibri"/>
              </a:rPr>
              <a:t>systematically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reducing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those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costs.</a:t>
            </a:r>
            <a:endParaRPr sz="2500">
              <a:latin typeface="Calibri"/>
              <a:cs typeface="Calibri"/>
            </a:endParaRPr>
          </a:p>
          <a:p>
            <a:pPr marL="354965" indent="-342265">
              <a:lnSpc>
                <a:spcPts val="27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</a:tabLst>
            </a:pPr>
            <a:r>
              <a:rPr sz="2500" spc="-10" dirty="0">
                <a:latin typeface="Calibri"/>
                <a:cs typeface="Calibri"/>
              </a:rPr>
              <a:t>Value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Engineering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analyzes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problem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area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developing</a:t>
            </a:r>
            <a:endParaRPr sz="2500">
              <a:latin typeface="Calibri"/>
              <a:cs typeface="Calibri"/>
            </a:endParaRPr>
          </a:p>
          <a:p>
            <a:pPr marL="355600">
              <a:lnSpc>
                <a:spcPts val="2700"/>
              </a:lnSpc>
            </a:pPr>
            <a:r>
              <a:rPr sz="2500" b="1" spc="-10" dirty="0">
                <a:latin typeface="Calibri"/>
                <a:cs typeface="Calibri"/>
              </a:rPr>
              <a:t>alternative</a:t>
            </a:r>
            <a:r>
              <a:rPr sz="2500" b="1" spc="-3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ways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resolving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problem.</a:t>
            </a:r>
            <a:endParaRPr sz="2500">
              <a:latin typeface="Calibri"/>
              <a:cs typeface="Calibri"/>
            </a:endParaRPr>
          </a:p>
          <a:p>
            <a:pPr marL="355600" marR="200660" indent="-342900">
              <a:lnSpc>
                <a:spcPts val="2400"/>
              </a:lnSpc>
              <a:spcBef>
                <a:spcPts val="58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10" dirty="0">
                <a:latin typeface="Calibri"/>
                <a:cs typeface="Calibri"/>
              </a:rPr>
              <a:t>Value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Engineering</a:t>
            </a:r>
            <a:r>
              <a:rPr sz="2500" spc="-10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selects</a:t>
            </a:r>
            <a:r>
              <a:rPr sz="2500" b="1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best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possible</a:t>
            </a:r>
            <a:r>
              <a:rPr sz="2500" b="1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alternative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to </a:t>
            </a:r>
            <a:r>
              <a:rPr sz="2500" dirty="0">
                <a:latin typeface="Calibri"/>
                <a:cs typeface="Calibri"/>
              </a:rPr>
              <a:t>perform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basic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function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at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lowest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cost.</a:t>
            </a:r>
            <a:endParaRPr sz="2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</a:tabLst>
            </a:pPr>
            <a:r>
              <a:rPr sz="2500" spc="-10" dirty="0">
                <a:latin typeface="Calibri"/>
                <a:cs typeface="Calibri"/>
              </a:rPr>
              <a:t>Value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Engineering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presents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promotes</a:t>
            </a:r>
            <a:r>
              <a:rPr sz="2500" spc="-9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proposal.</a:t>
            </a:r>
            <a:endParaRPr sz="2500">
              <a:latin typeface="Calibri"/>
              <a:cs typeface="Calibri"/>
            </a:endParaRPr>
          </a:p>
          <a:p>
            <a:pPr marL="355600" marR="466725" indent="-342900">
              <a:lnSpc>
                <a:spcPts val="2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10" dirty="0">
                <a:latin typeface="Calibri"/>
                <a:cs typeface="Calibri"/>
              </a:rPr>
              <a:t>Value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Engineering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also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simplifies,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resulting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increased </a:t>
            </a:r>
            <a:r>
              <a:rPr sz="2500" dirty="0">
                <a:latin typeface="Calibri"/>
                <a:cs typeface="Calibri"/>
              </a:rPr>
              <a:t>reliability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ease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maintenance.</a:t>
            </a:r>
            <a:endParaRPr sz="2500">
              <a:latin typeface="Calibri"/>
              <a:cs typeface="Calibri"/>
            </a:endParaRPr>
          </a:p>
          <a:p>
            <a:pPr marL="355600" marR="762635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10" dirty="0">
                <a:latin typeface="Calibri"/>
                <a:cs typeface="Calibri"/>
              </a:rPr>
              <a:t>Value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Engineering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extends</a:t>
            </a:r>
            <a:r>
              <a:rPr sz="2500" spc="-12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financial,</a:t>
            </a:r>
            <a:r>
              <a:rPr sz="2500" b="1" spc="-90" dirty="0">
                <a:latin typeface="Calibri"/>
                <a:cs typeface="Calibri"/>
              </a:rPr>
              <a:t> </a:t>
            </a:r>
            <a:r>
              <a:rPr sz="2500" b="1" spc="-30" dirty="0">
                <a:latin typeface="Calibri"/>
                <a:cs typeface="Calibri"/>
              </a:rPr>
              <a:t>manpower,</a:t>
            </a:r>
            <a:r>
              <a:rPr sz="2500" b="1" spc="-95" dirty="0">
                <a:latin typeface="Calibri"/>
                <a:cs typeface="Calibri"/>
              </a:rPr>
              <a:t> </a:t>
            </a:r>
            <a:r>
              <a:rPr sz="2500" b="1" spc="-25" dirty="0">
                <a:latin typeface="Calibri"/>
                <a:cs typeface="Calibri"/>
              </a:rPr>
              <a:t>and </a:t>
            </a:r>
            <a:r>
              <a:rPr sz="2500" b="1" dirty="0">
                <a:latin typeface="Calibri"/>
                <a:cs typeface="Calibri"/>
              </a:rPr>
              <a:t>material</a:t>
            </a:r>
            <a:r>
              <a:rPr sz="2500" b="1" spc="-11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resources.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3626" y="192150"/>
            <a:ext cx="29387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Value</a:t>
            </a:r>
            <a:r>
              <a:rPr sz="4000" spc="-204" dirty="0"/>
              <a:t> </a:t>
            </a:r>
            <a:r>
              <a:rPr sz="4000" spc="-10" dirty="0"/>
              <a:t>Analysis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061973"/>
            <a:ext cx="7998459" cy="5622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915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700" spc="-10" dirty="0">
                <a:latin typeface="Calibri"/>
                <a:cs typeface="Calibri"/>
              </a:rPr>
              <a:t>Value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Analysis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(VA)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concerned</a:t>
            </a:r>
            <a:endParaRPr sz="2700" dirty="0">
              <a:latin typeface="Calibri"/>
              <a:cs typeface="Calibri"/>
            </a:endParaRPr>
          </a:p>
          <a:p>
            <a:pPr marL="355600" marR="436245">
              <a:lnSpc>
                <a:spcPct val="80000"/>
              </a:lnSpc>
              <a:spcBef>
                <a:spcPts val="325"/>
              </a:spcBef>
            </a:pPr>
            <a:r>
              <a:rPr sz="2700" dirty="0">
                <a:latin typeface="Calibri"/>
                <a:cs typeface="Calibri"/>
              </a:rPr>
              <a:t>with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existing</a:t>
            </a:r>
            <a:r>
              <a:rPr sz="2700" b="1" i="1" spc="-6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products</a:t>
            </a:r>
            <a:r>
              <a:rPr sz="2700" dirty="0">
                <a:latin typeface="Calibri"/>
                <a:cs typeface="Calibri"/>
              </a:rPr>
              <a:t>.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It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involves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current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product </a:t>
            </a:r>
            <a:r>
              <a:rPr sz="2700" dirty="0">
                <a:latin typeface="Calibri"/>
                <a:cs typeface="Calibri"/>
              </a:rPr>
              <a:t>being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analyzed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evaluated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by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team,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reduce </a:t>
            </a:r>
            <a:r>
              <a:rPr sz="2700" dirty="0">
                <a:latin typeface="Calibri"/>
                <a:cs typeface="Calibri"/>
              </a:rPr>
              <a:t>costs,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improve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product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function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or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both.</a:t>
            </a:r>
            <a:endParaRPr sz="2700" dirty="0">
              <a:latin typeface="Calibri"/>
              <a:cs typeface="Calibri"/>
            </a:endParaRPr>
          </a:p>
          <a:p>
            <a:pPr marL="355600" marR="5080" indent="-342900" algn="r">
              <a:lnSpc>
                <a:spcPts val="259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10" dirty="0">
                <a:latin typeface="Calibri"/>
                <a:cs typeface="Calibri"/>
              </a:rPr>
              <a:t>Value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Analysis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exercises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plan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which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40" dirty="0">
                <a:latin typeface="Calibri"/>
                <a:cs typeface="Calibri"/>
              </a:rPr>
              <a:t>step-</a:t>
            </a:r>
            <a:r>
              <a:rPr sz="2700" spc="-10" dirty="0">
                <a:latin typeface="Calibri"/>
                <a:cs typeface="Calibri"/>
              </a:rPr>
              <a:t>by-step, </a:t>
            </a:r>
            <a:r>
              <a:rPr sz="2700" dirty="0">
                <a:latin typeface="Calibri"/>
                <a:cs typeface="Calibri"/>
              </a:rPr>
              <a:t>methodically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evaluates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product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range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areas.</a:t>
            </a:r>
            <a:endParaRPr sz="2700" dirty="0">
              <a:latin typeface="Calibri"/>
              <a:cs typeface="Calibri"/>
            </a:endParaRPr>
          </a:p>
          <a:p>
            <a:pPr marR="34925" algn="r">
              <a:lnSpc>
                <a:spcPts val="2595"/>
              </a:lnSpc>
              <a:spcBef>
                <a:spcPts val="35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165" dirty="0">
                <a:latin typeface="Arial MT"/>
                <a:cs typeface="Arial MT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alternative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components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 dirty="0">
              <a:latin typeface="Calibri"/>
              <a:cs typeface="Calibri"/>
            </a:endParaRPr>
          </a:p>
          <a:p>
            <a:pPr marR="37465" algn="r">
              <a:lnSpc>
                <a:spcPts val="2585"/>
              </a:lnSpc>
            </a:pP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aspects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manufacture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assembly.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64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A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significant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part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VA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technique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called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Functional </a:t>
            </a:r>
            <a:r>
              <a:rPr sz="2700" b="1" dirty="0">
                <a:latin typeface="Calibri"/>
                <a:cs typeface="Calibri"/>
              </a:rPr>
              <a:t>Analysis</a:t>
            </a:r>
            <a:r>
              <a:rPr sz="2700" dirty="0">
                <a:latin typeface="Calibri"/>
                <a:cs typeface="Calibri"/>
              </a:rPr>
              <a:t>,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where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product</a:t>
            </a:r>
            <a:r>
              <a:rPr sz="2700" b="1" spc="-5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is</a:t>
            </a:r>
            <a:r>
              <a:rPr sz="2700" b="1" spc="-4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broken</a:t>
            </a:r>
            <a:r>
              <a:rPr sz="2700" b="1" spc="-4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down</a:t>
            </a:r>
            <a:r>
              <a:rPr sz="2700" b="1" spc="-50" dirty="0">
                <a:latin typeface="Calibri"/>
                <a:cs typeface="Calibri"/>
              </a:rPr>
              <a:t> </a:t>
            </a:r>
            <a:r>
              <a:rPr sz="2700" b="1" spc="-25" dirty="0">
                <a:latin typeface="Calibri"/>
                <a:cs typeface="Calibri"/>
              </a:rPr>
              <a:t>and </a:t>
            </a:r>
            <a:r>
              <a:rPr sz="2700" b="1" dirty="0">
                <a:latin typeface="Calibri"/>
                <a:cs typeface="Calibri"/>
              </a:rPr>
              <a:t>reviewed</a:t>
            </a:r>
            <a:r>
              <a:rPr sz="2700" b="1" spc="-4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as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number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of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assemblies</a:t>
            </a:r>
            <a:r>
              <a:rPr sz="2700" b="1" spc="-4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or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small</a:t>
            </a:r>
            <a:r>
              <a:rPr sz="2700" b="1" spc="-2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tasks. </a:t>
            </a:r>
            <a:r>
              <a:rPr sz="2700" dirty="0">
                <a:latin typeface="Calibri"/>
                <a:cs typeface="Calibri"/>
              </a:rPr>
              <a:t>Each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assembly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will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analyzed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with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its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assigned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cost.</a:t>
            </a:r>
            <a:endParaRPr sz="2700" dirty="0">
              <a:latin typeface="Calibri"/>
              <a:cs typeface="Calibri"/>
            </a:endParaRPr>
          </a:p>
          <a:p>
            <a:pPr marL="355600" marR="615315" indent="-342900">
              <a:lnSpc>
                <a:spcPct val="8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As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with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VE,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VA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group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activity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involves </a:t>
            </a:r>
            <a:r>
              <a:rPr sz="2700" b="1" spc="-10" dirty="0">
                <a:latin typeface="Calibri"/>
                <a:cs typeface="Calibri"/>
              </a:rPr>
              <a:t>brainstorming</a:t>
            </a:r>
            <a:r>
              <a:rPr sz="2700" b="1" spc="-9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improvements</a:t>
            </a:r>
            <a:r>
              <a:rPr sz="2700" b="1" spc="-1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alternatives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to </a:t>
            </a:r>
            <a:r>
              <a:rPr sz="2700" dirty="0">
                <a:latin typeface="Calibri"/>
                <a:cs typeface="Calibri"/>
              </a:rPr>
              <a:t>improve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value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product,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particular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spc="-10" dirty="0">
                <a:latin typeface="Calibri"/>
                <a:cs typeface="Calibri"/>
              </a:rPr>
              <a:t>customer.</a:t>
            </a:r>
            <a:endParaRPr sz="2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35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Phases</a:t>
            </a:r>
            <a:r>
              <a:rPr sz="4000" spc="-85" dirty="0"/>
              <a:t> </a:t>
            </a:r>
            <a:r>
              <a:rPr sz="4000" dirty="0"/>
              <a:t>or</a:t>
            </a:r>
            <a:r>
              <a:rPr sz="4000" spc="-80" dirty="0"/>
              <a:t> </a:t>
            </a:r>
            <a:r>
              <a:rPr sz="4000" dirty="0"/>
              <a:t>Steps</a:t>
            </a:r>
            <a:r>
              <a:rPr sz="4000" spc="-85" dirty="0"/>
              <a:t> </a:t>
            </a:r>
            <a:r>
              <a:rPr sz="4000" dirty="0"/>
              <a:t>in</a:t>
            </a:r>
            <a:r>
              <a:rPr sz="4000" spc="-85" dirty="0"/>
              <a:t> </a:t>
            </a:r>
            <a:r>
              <a:rPr sz="4000" spc="-10" dirty="0"/>
              <a:t>Value</a:t>
            </a:r>
            <a:r>
              <a:rPr sz="4000" spc="-80" dirty="0"/>
              <a:t> </a:t>
            </a:r>
            <a:r>
              <a:rPr sz="4000" spc="-10" dirty="0"/>
              <a:t>Engineering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749"/>
            <a:ext cx="8078470" cy="496506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336550" indent="-342900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355600" algn="l"/>
                <a:tab pos="1227455" algn="l"/>
              </a:tabLst>
            </a:pPr>
            <a:r>
              <a:rPr sz="2200" b="1" spc="-10" dirty="0">
                <a:latin typeface="Calibri"/>
                <a:cs typeface="Calibri"/>
              </a:rPr>
              <a:t>Creative</a:t>
            </a:r>
            <a:r>
              <a:rPr sz="2200" spc="-10" dirty="0">
                <a:latin typeface="Calibri"/>
                <a:cs typeface="Calibri"/>
              </a:rPr>
              <a:t>: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Creative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(also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referred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Speculation)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Phase </a:t>
            </a:r>
            <a:r>
              <a:rPr sz="2200" dirty="0">
                <a:latin typeface="Calibri"/>
                <a:cs typeface="Calibri"/>
              </a:rPr>
              <a:t>follows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Investigation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where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power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benefits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of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VE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	study</a:t>
            </a:r>
            <a:r>
              <a:rPr sz="22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technique</a:t>
            </a:r>
            <a:r>
              <a:rPr sz="22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manifested</a:t>
            </a:r>
            <a:r>
              <a:rPr sz="22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(tools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2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analysis</a:t>
            </a:r>
            <a:r>
              <a:rPr sz="22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ideas)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.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team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applies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brainstorming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techniques</a:t>
            </a:r>
            <a:r>
              <a:rPr sz="2200" b="1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develop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viable </a:t>
            </a:r>
            <a:r>
              <a:rPr sz="2200" b="1" spc="-10" dirty="0">
                <a:latin typeface="Calibri"/>
                <a:cs typeface="Calibri"/>
              </a:rPr>
              <a:t>alternatives </a:t>
            </a:r>
            <a:r>
              <a:rPr sz="2200" b="1" dirty="0">
                <a:latin typeface="Calibri"/>
                <a:cs typeface="Calibri"/>
              </a:rPr>
              <a:t>to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way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project</a:t>
            </a:r>
            <a:r>
              <a:rPr sz="2200" b="1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currently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designed. Brainstorming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forces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people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creative.</a:t>
            </a:r>
            <a:endParaRPr sz="22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110"/>
              </a:lnSpc>
              <a:spcBef>
                <a:spcPts val="51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team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generic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format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function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speculate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all </a:t>
            </a:r>
            <a:r>
              <a:rPr sz="2200" dirty="0">
                <a:latin typeface="Calibri"/>
                <a:cs typeface="Calibri"/>
              </a:rPr>
              <a:t>possible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solutions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problem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presented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functional statement.</a:t>
            </a:r>
            <a:endParaRPr sz="2200" dirty="0">
              <a:latin typeface="Calibri"/>
              <a:cs typeface="Calibri"/>
            </a:endParaRPr>
          </a:p>
          <a:p>
            <a:pPr marL="355600" marR="408940" indent="-342900">
              <a:lnSpc>
                <a:spcPts val="211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study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team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applies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creativity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functional statements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selected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from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9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previously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conducted</a:t>
            </a:r>
            <a:r>
              <a:rPr sz="2200" b="1" spc="-7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cost/worth </a:t>
            </a:r>
            <a:r>
              <a:rPr sz="2200" spc="-10" dirty="0">
                <a:latin typeface="Calibri"/>
                <a:cs typeface="Calibri"/>
              </a:rPr>
              <a:t>estimates.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lnSpc>
                <a:spcPts val="2395"/>
              </a:lnSpc>
              <a:spcBef>
                <a:spcPts val="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experiences</a:t>
            </a:r>
            <a:endParaRPr sz="2000" dirty="0">
              <a:latin typeface="Calibri"/>
              <a:cs typeface="Calibri"/>
            </a:endParaRPr>
          </a:p>
          <a:p>
            <a:pPr marL="355600" marR="711200" indent="-342900">
              <a:lnSpc>
                <a:spcPct val="8000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study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generate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large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list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potential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solutions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problem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described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two-</a:t>
            </a:r>
            <a:r>
              <a:rPr sz="2200" dirty="0">
                <a:latin typeface="Calibri"/>
                <a:cs typeface="Calibri"/>
              </a:rPr>
              <a:t>word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function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Calibri"/>
                <a:cs typeface="Calibri"/>
              </a:rPr>
              <a:t>Write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analysis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Defines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objectives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28014"/>
            <a:ext cx="8190865" cy="558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7625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spc="-10" dirty="0">
                <a:latin typeface="Calibri"/>
                <a:cs typeface="Calibri"/>
              </a:rPr>
              <a:t>Evaluation</a:t>
            </a:r>
            <a:r>
              <a:rPr sz="3200" spc="-10" dirty="0">
                <a:latin typeface="Calibri"/>
                <a:cs typeface="Calibri"/>
              </a:rPr>
              <a:t>: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During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Evaluation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Phase,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b="1" spc="-10" dirty="0">
                <a:latin typeface="Calibri"/>
                <a:cs typeface="Calibri"/>
              </a:rPr>
              <a:t>advantages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and</a:t>
            </a:r>
            <a:r>
              <a:rPr sz="3200" b="1" spc="-5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disadvantages</a:t>
            </a:r>
            <a:r>
              <a:rPr sz="3200" b="1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each </a:t>
            </a:r>
            <a:r>
              <a:rPr sz="3200" dirty="0">
                <a:latin typeface="Calibri"/>
                <a:cs typeface="Calibri"/>
              </a:rPr>
              <a:t>alternative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listed.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advantage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spc="-10" dirty="0">
                <a:latin typeface="Calibri"/>
                <a:cs typeface="Calibri"/>
              </a:rPr>
              <a:t>disadvantage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described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general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terms.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team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perform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weighted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matrix </a:t>
            </a:r>
            <a:r>
              <a:rPr sz="3200" b="1" dirty="0">
                <a:latin typeface="Calibri"/>
                <a:cs typeface="Calibri"/>
              </a:rPr>
              <a:t>analysis</a:t>
            </a:r>
            <a:r>
              <a:rPr sz="3200" b="1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determine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which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alternative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is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best </a:t>
            </a:r>
            <a:r>
              <a:rPr sz="3200" dirty="0">
                <a:latin typeface="Calibri"/>
                <a:cs typeface="Calibri"/>
              </a:rPr>
              <a:t>based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upon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relative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importance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desirable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criteria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which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must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addressed.</a:t>
            </a:r>
            <a:endParaRPr sz="3200">
              <a:latin typeface="Calibri"/>
              <a:cs typeface="Calibri"/>
            </a:endParaRPr>
          </a:p>
          <a:p>
            <a:pPr marL="355600" marR="1142365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dirty="0">
                <a:latin typeface="Calibri"/>
                <a:cs typeface="Calibri"/>
              </a:rPr>
              <a:t>Conducting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this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analysis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satisfies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10" dirty="0">
                <a:latin typeface="Calibri"/>
                <a:cs typeface="Calibri"/>
              </a:rPr>
              <a:t> </a:t>
            </a:r>
            <a:r>
              <a:rPr sz="3200" b="1" spc="-35" dirty="0">
                <a:latin typeface="Calibri"/>
                <a:cs typeface="Calibri"/>
              </a:rPr>
              <a:t>VE </a:t>
            </a:r>
            <a:r>
              <a:rPr sz="3200" b="1" spc="-10" dirty="0">
                <a:latin typeface="Calibri"/>
                <a:cs typeface="Calibri"/>
              </a:rPr>
              <a:t>objective-</a:t>
            </a:r>
            <a:r>
              <a:rPr sz="3200" dirty="0">
                <a:latin typeface="Calibri"/>
                <a:cs typeface="Calibri"/>
              </a:rPr>
              <a:t>-to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achieve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best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blend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performance,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cost,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schedule.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75284"/>
            <a:ext cx="8022590" cy="55143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2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b="1" spc="-10" dirty="0">
                <a:latin typeface="Calibri"/>
                <a:cs typeface="Calibri"/>
              </a:rPr>
              <a:t>Development</a:t>
            </a:r>
            <a:r>
              <a:rPr sz="2700" spc="-10" dirty="0">
                <a:latin typeface="Calibri"/>
                <a:cs typeface="Calibri"/>
              </a:rPr>
              <a:t>: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Once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team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selects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best </a:t>
            </a:r>
            <a:r>
              <a:rPr sz="2700" dirty="0">
                <a:latin typeface="Calibri"/>
                <a:cs typeface="Calibri"/>
              </a:rPr>
              <a:t>alternatives,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developed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through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sketches,</a:t>
            </a:r>
            <a:r>
              <a:rPr sz="27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FF0000"/>
                </a:solidFill>
                <a:latin typeface="Calibri"/>
                <a:cs typeface="Calibri"/>
              </a:rPr>
              <a:t>cost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estimates,</a:t>
            </a:r>
            <a:r>
              <a:rPr sz="27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validation</a:t>
            </a:r>
            <a:r>
              <a:rPr sz="27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7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test</a:t>
            </a:r>
            <a:r>
              <a:rPr sz="27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data,</a:t>
            </a:r>
            <a:r>
              <a:rPr sz="27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7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other</a:t>
            </a:r>
            <a:r>
              <a:rPr sz="27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technical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work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determine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if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any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assumptions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made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during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dirty="0">
                <a:latin typeface="Calibri"/>
                <a:cs typeface="Calibri"/>
              </a:rPr>
              <a:t>study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fact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considered.</a:t>
            </a:r>
            <a:endParaRPr sz="2700" dirty="0">
              <a:latin typeface="Calibri"/>
              <a:cs typeface="Calibri"/>
            </a:endParaRPr>
          </a:p>
          <a:p>
            <a:pPr marL="355600" marR="1098550" indent="-342900" algn="just">
              <a:lnSpc>
                <a:spcPct val="90000"/>
              </a:lnSpc>
              <a:spcBef>
                <a:spcPts val="64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Development</a:t>
            </a:r>
            <a:r>
              <a:rPr sz="27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Phase</a:t>
            </a:r>
            <a:r>
              <a:rPr sz="27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7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7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final</a:t>
            </a:r>
            <a:r>
              <a:rPr sz="27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step</a:t>
            </a:r>
            <a:r>
              <a:rPr sz="27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before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presenting</a:t>
            </a:r>
            <a:r>
              <a:rPr sz="27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team's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recommendations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dirty="0">
                <a:latin typeface="Calibri"/>
                <a:cs typeface="Calibri"/>
              </a:rPr>
              <a:t>agency's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management.</a:t>
            </a:r>
            <a:endParaRPr sz="2700" dirty="0">
              <a:latin typeface="Calibri"/>
              <a:cs typeface="Calibri"/>
            </a:endParaRPr>
          </a:p>
          <a:p>
            <a:pPr marL="355600" marR="383540" indent="-342900">
              <a:lnSpc>
                <a:spcPts val="2920"/>
              </a:lnSpc>
              <a:spcBef>
                <a:spcPts val="69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study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team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formulates</a:t>
            </a:r>
            <a:r>
              <a:rPr sz="2700" b="1" spc="-4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an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b="1" spc="-20" dirty="0">
                <a:latin typeface="Calibri"/>
                <a:cs typeface="Calibri"/>
              </a:rPr>
              <a:t>implementation</a:t>
            </a:r>
            <a:r>
              <a:rPr sz="2700" b="1" spc="-25" dirty="0">
                <a:latin typeface="Calibri"/>
                <a:cs typeface="Calibri"/>
              </a:rPr>
              <a:t> </a:t>
            </a:r>
            <a:r>
              <a:rPr sz="2700" b="1" spc="-20" dirty="0">
                <a:latin typeface="Calibri"/>
                <a:cs typeface="Calibri"/>
              </a:rPr>
              <a:t>plan </a:t>
            </a:r>
            <a:r>
              <a:rPr sz="2700" b="1" dirty="0">
                <a:latin typeface="Calibri"/>
                <a:cs typeface="Calibri"/>
              </a:rPr>
              <a:t>which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describes</a:t>
            </a:r>
            <a:r>
              <a:rPr sz="2700" b="1" spc="-1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the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process</a:t>
            </a:r>
            <a:r>
              <a:rPr sz="2700" b="1" spc="-2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that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the</a:t>
            </a:r>
            <a:r>
              <a:rPr sz="2700" b="1" spc="-2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agency</a:t>
            </a:r>
            <a:r>
              <a:rPr sz="2700" b="1" spc="-45" dirty="0">
                <a:latin typeface="Calibri"/>
                <a:cs typeface="Calibri"/>
              </a:rPr>
              <a:t> </a:t>
            </a:r>
            <a:r>
              <a:rPr sz="2700" b="1" spc="-20" dirty="0">
                <a:latin typeface="Calibri"/>
                <a:cs typeface="Calibri"/>
              </a:rPr>
              <a:t>must </a:t>
            </a:r>
            <a:r>
              <a:rPr sz="2700" b="1" dirty="0">
                <a:latin typeface="Calibri"/>
                <a:cs typeface="Calibri"/>
              </a:rPr>
              <a:t>follow</a:t>
            </a:r>
            <a:r>
              <a:rPr sz="2700" b="1" spc="-8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to</a:t>
            </a:r>
            <a:r>
              <a:rPr sz="2700" b="1" spc="-8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implement</a:t>
            </a:r>
            <a:r>
              <a:rPr sz="2700" b="1" spc="-5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any</a:t>
            </a:r>
            <a:r>
              <a:rPr sz="2700" b="1" spc="-8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recommendations.</a:t>
            </a:r>
            <a:endParaRPr sz="27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50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b="1" spc="-10" dirty="0">
                <a:latin typeface="Calibri"/>
                <a:cs typeface="Calibri"/>
              </a:rPr>
              <a:t>Architecture</a:t>
            </a:r>
            <a:endParaRPr sz="24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85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b="1" spc="-10" dirty="0">
                <a:latin typeface="Calibri"/>
                <a:cs typeface="Calibri"/>
              </a:rPr>
              <a:t>Tools</a:t>
            </a:r>
            <a:endParaRPr sz="24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90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b="1" spc="-10" dirty="0">
                <a:latin typeface="Calibri"/>
                <a:cs typeface="Calibri"/>
              </a:rPr>
              <a:t>methodology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20343"/>
            <a:ext cx="8021955" cy="561086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679450" indent="-342900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b="1" spc="-10" dirty="0">
                <a:latin typeface="Calibri"/>
                <a:cs typeface="Calibri"/>
              </a:rPr>
              <a:t>Presentation</a:t>
            </a:r>
            <a:r>
              <a:rPr sz="2200" spc="-10" dirty="0">
                <a:latin typeface="Calibri"/>
                <a:cs typeface="Calibri"/>
              </a:rPr>
              <a:t>: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2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final</a:t>
            </a:r>
            <a:r>
              <a:rPr sz="2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product</a:t>
            </a:r>
            <a:r>
              <a:rPr sz="22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VE</a:t>
            </a:r>
            <a:r>
              <a:rPr sz="2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study</a:t>
            </a:r>
            <a:r>
              <a:rPr sz="2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2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formal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VE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Report</a:t>
            </a:r>
            <a:r>
              <a:rPr sz="2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presentation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team's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recommendations.</a:t>
            </a:r>
            <a:endParaRPr sz="2200" dirty="0">
              <a:latin typeface="Calibri"/>
              <a:cs typeface="Calibri"/>
            </a:endParaRPr>
          </a:p>
          <a:p>
            <a:pPr marL="355600" marR="485775" indent="-342900">
              <a:lnSpc>
                <a:spcPct val="8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phase,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team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presents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their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findings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project </a:t>
            </a:r>
            <a:r>
              <a:rPr sz="2200" dirty="0">
                <a:latin typeface="Calibri"/>
                <a:cs typeface="Calibri"/>
              </a:rPr>
              <a:t>decision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makers,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strives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convince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them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their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ideas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implemented.</a:t>
            </a:r>
            <a:endParaRPr sz="2200" dirty="0">
              <a:latin typeface="Calibri"/>
              <a:cs typeface="Calibri"/>
            </a:endParaRPr>
          </a:p>
          <a:p>
            <a:pPr marL="355600" marR="147955" indent="-342900">
              <a:lnSpc>
                <a:spcPts val="2110"/>
              </a:lnSpc>
              <a:spcBef>
                <a:spcPts val="51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formal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presentation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brief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thorough,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with </a:t>
            </a:r>
            <a:r>
              <a:rPr sz="2200" dirty="0">
                <a:latin typeface="Calibri"/>
                <a:cs typeface="Calibri"/>
              </a:rPr>
              <a:t>sufficient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allocated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discussion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responding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35" dirty="0">
                <a:latin typeface="Calibri"/>
                <a:cs typeface="Calibri"/>
              </a:rPr>
              <a:t>to </a:t>
            </a:r>
            <a:r>
              <a:rPr sz="2200" b="1" dirty="0">
                <a:latin typeface="Calibri"/>
                <a:cs typeface="Calibri"/>
              </a:rPr>
              <a:t>questions</a:t>
            </a:r>
            <a:r>
              <a:rPr sz="2200" dirty="0">
                <a:latin typeface="Calibri"/>
                <a:cs typeface="Calibri"/>
              </a:rPr>
              <a:t>.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presentation,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study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team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should exercise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care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when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presenting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estimated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cost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savings</a:t>
            </a:r>
            <a:r>
              <a:rPr sz="2200" b="1" spc="-80" dirty="0">
                <a:latin typeface="Calibri"/>
                <a:cs typeface="Calibri"/>
              </a:rPr>
              <a:t> </a:t>
            </a:r>
            <a:r>
              <a:rPr sz="2200" b="1" spc="-30" dirty="0">
                <a:latin typeface="Calibri"/>
                <a:cs typeface="Calibri"/>
              </a:rPr>
              <a:t>or,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in</a:t>
            </a:r>
            <a:r>
              <a:rPr sz="2200" b="1" spc="-80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some </a:t>
            </a:r>
            <a:r>
              <a:rPr sz="2200" b="1" dirty="0">
                <a:latin typeface="Calibri"/>
                <a:cs typeface="Calibri"/>
              </a:rPr>
              <a:t>cases,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increased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costs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associated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with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recommendations</a:t>
            </a:r>
            <a:r>
              <a:rPr sz="2200" spc="-10" dirty="0">
                <a:latin typeface="Calibri"/>
                <a:cs typeface="Calibri"/>
              </a:rPr>
              <a:t>. Overstating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double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counting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savings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avoided.</a:t>
            </a:r>
            <a:endParaRPr sz="2200" dirty="0">
              <a:latin typeface="Calibri"/>
              <a:cs typeface="Calibri"/>
            </a:endParaRPr>
          </a:p>
          <a:p>
            <a:pPr marL="355600" marR="513715" indent="-342900">
              <a:lnSpc>
                <a:spcPct val="80000"/>
              </a:lnSpc>
              <a:spcBef>
                <a:spcPts val="56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study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team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provide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progress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updates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appropriate </a:t>
            </a:r>
            <a:r>
              <a:rPr sz="2200" dirty="0">
                <a:latin typeface="Calibri"/>
                <a:cs typeface="Calibri"/>
              </a:rPr>
              <a:t>project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management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staff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VE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report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756285" marR="1301750" lvl="1" indent="-287020">
              <a:lnSpc>
                <a:spcPct val="80000"/>
              </a:lnSpc>
              <a:spcBef>
                <a:spcPts val="484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Report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serves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step-</a:t>
            </a:r>
            <a:r>
              <a:rPr sz="2000" spc="-10" dirty="0">
                <a:latin typeface="Calibri"/>
                <a:cs typeface="Calibri"/>
              </a:rPr>
              <a:t>by-</a:t>
            </a:r>
            <a:r>
              <a:rPr sz="2000" dirty="0">
                <a:latin typeface="Calibri"/>
                <a:cs typeface="Calibri"/>
              </a:rPr>
              <a:t>step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record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work </a:t>
            </a:r>
            <a:r>
              <a:rPr sz="2000" spc="-10" dirty="0">
                <a:latin typeface="Calibri"/>
                <a:cs typeface="Calibri"/>
              </a:rPr>
              <a:t>accomplished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during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preceding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phases.</a:t>
            </a:r>
            <a:endParaRPr sz="20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report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documentation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support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team's recommendations,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tracks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team's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deliberations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considerations,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aids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implementation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recommendations.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useful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reference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tool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future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projects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studies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must </a:t>
            </a:r>
            <a:r>
              <a:rPr sz="2000" dirty="0">
                <a:latin typeface="Calibri"/>
                <a:cs typeface="Calibri"/>
              </a:rPr>
              <a:t>address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similar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topics.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72159"/>
            <a:ext cx="8039734" cy="5488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4097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dirty="0">
                <a:latin typeface="Calibri"/>
                <a:cs typeface="Calibri"/>
              </a:rPr>
              <a:t>Close</a:t>
            </a:r>
            <a:r>
              <a:rPr sz="3200" b="1" spc="-5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Out/Implementation</a:t>
            </a:r>
            <a:r>
              <a:rPr sz="3200" spc="-10" dirty="0">
                <a:latin typeface="Calibri"/>
                <a:cs typeface="Calibri"/>
              </a:rPr>
              <a:t>: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Although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may </a:t>
            </a:r>
            <a:r>
              <a:rPr sz="3200" dirty="0">
                <a:latin typeface="Calibri"/>
                <a:cs typeface="Calibri"/>
              </a:rPr>
              <a:t>not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practicable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implement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dirty="0">
                <a:latin typeface="Calibri"/>
                <a:cs typeface="Calibri"/>
              </a:rPr>
              <a:t>every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recommendation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proposed,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32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project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decision</a:t>
            </a:r>
            <a:r>
              <a:rPr sz="32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makers</a:t>
            </a:r>
            <a:r>
              <a:rPr sz="3200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must</a:t>
            </a:r>
            <a:r>
              <a:rPr sz="32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take</a:t>
            </a:r>
            <a:r>
              <a:rPr sz="32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3200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appropriate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action</a:t>
            </a:r>
            <a:r>
              <a:rPr sz="3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3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ensure</a:t>
            </a:r>
            <a:r>
              <a:rPr sz="3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3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32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fair</a:t>
            </a:r>
            <a:r>
              <a:rPr sz="3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32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serious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consideration</a:t>
            </a:r>
            <a:r>
              <a:rPr sz="3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3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3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proposed recommendations</a:t>
            </a:r>
            <a:r>
              <a:rPr sz="3200" spc="-1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occurs.</a:t>
            </a:r>
            <a:endParaRPr sz="32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involves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determining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actual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amount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savings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generated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VE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analysis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based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on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amount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recommendations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and </a:t>
            </a:r>
            <a:r>
              <a:rPr sz="3200" b="1" dirty="0">
                <a:latin typeface="Calibri"/>
                <a:cs typeface="Calibri"/>
              </a:rPr>
              <a:t>outcome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project.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3814" y="2481452"/>
            <a:ext cx="29737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SDLC</a:t>
            </a:r>
            <a:r>
              <a:rPr spc="-150" dirty="0"/>
              <a:t> </a:t>
            </a:r>
            <a:r>
              <a:rPr spc="-10" dirty="0"/>
              <a:t>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9767" rIns="0" bIns="0" rtlCol="0">
            <a:spAutoFit/>
          </a:bodyPr>
          <a:lstStyle/>
          <a:p>
            <a:pPr marL="2294255">
              <a:lnSpc>
                <a:spcPct val="100000"/>
              </a:lnSpc>
              <a:spcBef>
                <a:spcPts val="105"/>
              </a:spcBef>
            </a:pPr>
            <a:r>
              <a:rPr dirty="0"/>
              <a:t>SDLC</a:t>
            </a:r>
            <a:r>
              <a:rPr spc="-150" dirty="0"/>
              <a:t> </a:t>
            </a:r>
            <a:r>
              <a:rPr spc="-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523658"/>
            <a:ext cx="6593205" cy="353822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9"/>
              </a:spcBef>
              <a:buFont typeface="Arial MT"/>
              <a:buChar char="–"/>
              <a:tabLst>
                <a:tab pos="298450" algn="l"/>
              </a:tabLst>
            </a:pPr>
            <a:r>
              <a:rPr sz="3200" b="1" spc="-20" dirty="0">
                <a:solidFill>
                  <a:srgbClr val="6F2F9F"/>
                </a:solidFill>
                <a:latin typeface="Cambria"/>
                <a:cs typeface="Cambria"/>
              </a:rPr>
              <a:t>Waterfall</a:t>
            </a:r>
            <a:r>
              <a:rPr sz="3200" b="1" spc="-10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200" b="1" spc="-10" dirty="0">
                <a:solidFill>
                  <a:srgbClr val="6F2F9F"/>
                </a:solidFill>
                <a:latin typeface="Cambria"/>
                <a:cs typeface="Cambria"/>
              </a:rPr>
              <a:t>Model</a:t>
            </a:r>
            <a:endParaRPr sz="320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770"/>
              </a:spcBef>
              <a:buFont typeface="Arial MT"/>
              <a:buChar char="–"/>
              <a:tabLst>
                <a:tab pos="297815" algn="l"/>
              </a:tabLst>
            </a:pPr>
            <a:r>
              <a:rPr sz="3200" b="1" spc="-10" dirty="0">
                <a:solidFill>
                  <a:srgbClr val="6F2F9F"/>
                </a:solidFill>
                <a:latin typeface="Cambria"/>
                <a:cs typeface="Cambria"/>
              </a:rPr>
              <a:t>V-</a:t>
            </a:r>
            <a:r>
              <a:rPr sz="3200" b="1" dirty="0">
                <a:solidFill>
                  <a:srgbClr val="6F2F9F"/>
                </a:solidFill>
                <a:latin typeface="Cambria"/>
                <a:cs typeface="Cambria"/>
              </a:rPr>
              <a:t>Shaped</a:t>
            </a:r>
            <a:r>
              <a:rPr sz="32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200" b="1" spc="-10" dirty="0">
                <a:solidFill>
                  <a:srgbClr val="6F2F9F"/>
                </a:solidFill>
                <a:latin typeface="Cambria"/>
                <a:cs typeface="Cambria"/>
              </a:rPr>
              <a:t>Model</a:t>
            </a:r>
            <a:endParaRPr sz="320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770"/>
              </a:spcBef>
              <a:buFont typeface="Arial MT"/>
              <a:buChar char="–"/>
              <a:tabLst>
                <a:tab pos="297815" algn="l"/>
              </a:tabLst>
            </a:pPr>
            <a:r>
              <a:rPr sz="3200" b="1" spc="-20" dirty="0">
                <a:solidFill>
                  <a:srgbClr val="6F2F9F"/>
                </a:solidFill>
                <a:latin typeface="Cambria"/>
                <a:cs typeface="Cambria"/>
              </a:rPr>
              <a:t>Evolutionary</a:t>
            </a:r>
            <a:r>
              <a:rPr sz="3200" b="1" spc="-11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200" b="1" spc="-10" dirty="0">
                <a:solidFill>
                  <a:srgbClr val="6F2F9F"/>
                </a:solidFill>
                <a:latin typeface="Cambria"/>
                <a:cs typeface="Cambria"/>
              </a:rPr>
              <a:t>Prototyping</a:t>
            </a:r>
            <a:r>
              <a:rPr sz="3200" b="1" spc="-1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200" b="1" spc="-10" dirty="0">
                <a:solidFill>
                  <a:srgbClr val="6F2F9F"/>
                </a:solidFill>
                <a:latin typeface="Cambria"/>
                <a:cs typeface="Cambria"/>
              </a:rPr>
              <a:t>Model</a:t>
            </a:r>
            <a:endParaRPr sz="32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770"/>
              </a:spcBef>
              <a:buFont typeface="Arial MT"/>
              <a:buChar char="–"/>
              <a:tabLst>
                <a:tab pos="298450" algn="l"/>
              </a:tabLst>
            </a:pPr>
            <a:r>
              <a:rPr sz="3200" b="1" dirty="0">
                <a:solidFill>
                  <a:srgbClr val="6F2F9F"/>
                </a:solidFill>
                <a:latin typeface="Cambria"/>
                <a:cs typeface="Cambria"/>
              </a:rPr>
              <a:t>Spiral</a:t>
            </a:r>
            <a:r>
              <a:rPr sz="3200" b="1" spc="-9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200" b="1" spc="-10" dirty="0">
                <a:solidFill>
                  <a:srgbClr val="6F2F9F"/>
                </a:solidFill>
                <a:latin typeface="Cambria"/>
                <a:cs typeface="Cambria"/>
              </a:rPr>
              <a:t>Method</a:t>
            </a:r>
            <a:endParaRPr sz="320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770"/>
              </a:spcBef>
              <a:buFont typeface="Arial MT"/>
              <a:buChar char="–"/>
              <a:tabLst>
                <a:tab pos="297815" algn="l"/>
              </a:tabLst>
            </a:pPr>
            <a:r>
              <a:rPr sz="3200" b="1" spc="-30" dirty="0">
                <a:solidFill>
                  <a:srgbClr val="6F2F9F"/>
                </a:solidFill>
                <a:latin typeface="Cambria"/>
                <a:cs typeface="Cambria"/>
              </a:rPr>
              <a:t>Iterative</a:t>
            </a:r>
            <a:r>
              <a:rPr sz="3200" b="1" spc="-8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200" b="1" dirty="0">
                <a:solidFill>
                  <a:srgbClr val="6F2F9F"/>
                </a:solidFill>
                <a:latin typeface="Cambria"/>
                <a:cs typeface="Cambria"/>
              </a:rPr>
              <a:t>and</a:t>
            </a:r>
            <a:r>
              <a:rPr sz="3200" b="1" spc="-9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200" b="1" spc="-10" dirty="0">
                <a:solidFill>
                  <a:srgbClr val="6F2F9F"/>
                </a:solidFill>
                <a:latin typeface="Cambria"/>
                <a:cs typeface="Cambria"/>
              </a:rPr>
              <a:t>Incremental</a:t>
            </a:r>
            <a:r>
              <a:rPr sz="3200" b="1" spc="-6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200" b="1" spc="-10" dirty="0">
                <a:solidFill>
                  <a:srgbClr val="6F2F9F"/>
                </a:solidFill>
                <a:latin typeface="Cambria"/>
                <a:cs typeface="Cambria"/>
              </a:rPr>
              <a:t>Method</a:t>
            </a:r>
            <a:endParaRPr sz="320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765"/>
              </a:spcBef>
              <a:buFont typeface="Arial MT"/>
              <a:buChar char="–"/>
              <a:tabLst>
                <a:tab pos="297815" algn="l"/>
              </a:tabLst>
            </a:pPr>
            <a:r>
              <a:rPr sz="3200" b="1" dirty="0">
                <a:solidFill>
                  <a:srgbClr val="6F2F9F"/>
                </a:solidFill>
                <a:latin typeface="Cambria"/>
                <a:cs typeface="Cambria"/>
              </a:rPr>
              <a:t>Agile </a:t>
            </a:r>
            <a:r>
              <a:rPr sz="3200" b="1" spc="-10" dirty="0">
                <a:solidFill>
                  <a:srgbClr val="6F2F9F"/>
                </a:solidFill>
                <a:latin typeface="Cambria"/>
                <a:cs typeface="Cambria"/>
              </a:rPr>
              <a:t>development</a:t>
            </a:r>
            <a:endParaRPr sz="3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1170" rIns="0" bIns="0" rtlCol="0">
            <a:spAutoFit/>
          </a:bodyPr>
          <a:lstStyle/>
          <a:p>
            <a:pPr marL="1764664">
              <a:lnSpc>
                <a:spcPct val="100000"/>
              </a:lnSpc>
              <a:spcBef>
                <a:spcPts val="105"/>
              </a:spcBef>
            </a:pPr>
            <a:r>
              <a:rPr b="1" spc="-20" dirty="0">
                <a:solidFill>
                  <a:srgbClr val="6F2F9F"/>
                </a:solidFill>
                <a:latin typeface="Cambria"/>
                <a:cs typeface="Cambria"/>
              </a:rPr>
              <a:t>Waterfall</a:t>
            </a:r>
            <a:r>
              <a:rPr b="1" spc="-16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b="1" spc="-10" dirty="0">
                <a:solidFill>
                  <a:srgbClr val="6F2F9F"/>
                </a:solidFill>
                <a:latin typeface="Cambria"/>
                <a:cs typeface="Cambria"/>
              </a:rPr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55" y="994410"/>
            <a:ext cx="8980043" cy="43788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4370" y="3743325"/>
            <a:ext cx="511048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Waterfall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linear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sequential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life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cycle flow.</a:t>
            </a:r>
            <a:endParaRPr sz="1800">
              <a:latin typeface="Times New Roman"/>
              <a:cs typeface="Times New Roman"/>
            </a:endParaRPr>
          </a:p>
          <a:p>
            <a:pPr marL="355600" marR="531495" indent="-34290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first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SDLC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widely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Software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Engineering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ensure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success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project</a:t>
            </a:r>
            <a:endParaRPr sz="1800">
              <a:latin typeface="Times New Roman"/>
              <a:cs typeface="Times New Roman"/>
            </a:endParaRPr>
          </a:p>
          <a:p>
            <a:pPr marL="342265" marR="391160" indent="-342265" algn="r">
              <a:lnSpc>
                <a:spcPct val="100000"/>
              </a:lnSpc>
              <a:buFont typeface="Arial MT"/>
              <a:buChar char="•"/>
              <a:tabLst>
                <a:tab pos="342265" algn="l"/>
              </a:tabLst>
            </a:pPr>
            <a:r>
              <a:rPr sz="1800" dirty="0">
                <a:latin typeface="Times New Roman"/>
                <a:cs typeface="Times New Roman"/>
              </a:rPr>
              <a:t>Progress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 seen as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flowing steadily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downwards</a:t>
            </a:r>
            <a:endParaRPr sz="1800">
              <a:latin typeface="Times New Roman"/>
              <a:cs typeface="Times New Roman"/>
            </a:endParaRPr>
          </a:p>
          <a:p>
            <a:pPr marR="390525" algn="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through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phases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software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implementation.</a:t>
            </a:r>
            <a:endParaRPr sz="1800">
              <a:latin typeface="Times New Roman"/>
              <a:cs typeface="Times New Roman"/>
            </a:endParaRPr>
          </a:p>
          <a:p>
            <a:pPr marL="355600" marR="106680" indent="-34290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phase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development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begins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only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previous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phase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complete.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overlapping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among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phases.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946530"/>
            <a:ext cx="16129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6F2F9F"/>
                </a:solidFill>
                <a:latin typeface="Cambria"/>
                <a:cs typeface="Cambria"/>
              </a:rPr>
              <a:t>The</a:t>
            </a:r>
            <a:r>
              <a:rPr sz="2700" b="1" spc="-4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700" b="1" spc="-20" dirty="0">
                <a:solidFill>
                  <a:srgbClr val="6F2F9F"/>
                </a:solidFill>
                <a:latin typeface="Cambria"/>
                <a:cs typeface="Cambria"/>
              </a:rPr>
              <a:t>usage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358010"/>
            <a:ext cx="7609205" cy="461391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600710" indent="-342900">
              <a:lnSpc>
                <a:spcPct val="80000"/>
              </a:lnSpc>
              <a:spcBef>
                <a:spcPts val="74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mbria"/>
                <a:cs typeface="Cambria"/>
              </a:rPr>
              <a:t>Projects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which</a:t>
            </a:r>
            <a:r>
              <a:rPr sz="2700" spc="-6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not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focus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on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changing</a:t>
            </a:r>
            <a:r>
              <a:rPr sz="2700" b="1" spc="-40" dirty="0">
                <a:latin typeface="Cambria"/>
                <a:cs typeface="Cambria"/>
              </a:rPr>
              <a:t> </a:t>
            </a:r>
            <a:r>
              <a:rPr sz="2700" b="1" spc="-25" dirty="0">
                <a:latin typeface="Cambria"/>
                <a:cs typeface="Cambria"/>
              </a:rPr>
              <a:t>the </a:t>
            </a:r>
            <a:r>
              <a:rPr sz="2700" b="1" spc="-10" dirty="0">
                <a:latin typeface="Cambria"/>
                <a:cs typeface="Cambria"/>
              </a:rPr>
              <a:t>requirements</a:t>
            </a:r>
            <a:r>
              <a:rPr sz="2700" spc="-10" dirty="0">
                <a:latin typeface="Cambria"/>
                <a:cs typeface="Cambria"/>
              </a:rPr>
              <a:t>,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customer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has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very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b="1" spc="-10" dirty="0">
                <a:latin typeface="Cambria"/>
                <a:cs typeface="Cambria"/>
              </a:rPr>
              <a:t>clear </a:t>
            </a:r>
            <a:r>
              <a:rPr sz="2700" b="1" dirty="0">
                <a:latin typeface="Cambria"/>
                <a:cs typeface="Cambria"/>
              </a:rPr>
              <a:t>documented</a:t>
            </a:r>
            <a:r>
              <a:rPr sz="2700" b="1" spc="-114" dirty="0">
                <a:latin typeface="Cambria"/>
                <a:cs typeface="Cambria"/>
              </a:rPr>
              <a:t> </a:t>
            </a:r>
            <a:r>
              <a:rPr sz="2700" b="1" spc="-10" dirty="0">
                <a:latin typeface="Cambria"/>
                <a:cs typeface="Cambria"/>
              </a:rPr>
              <a:t>requirements</a:t>
            </a:r>
            <a:endParaRPr sz="2700">
              <a:latin typeface="Cambria"/>
              <a:cs typeface="Cambria"/>
            </a:endParaRPr>
          </a:p>
          <a:p>
            <a:pPr marL="355600" marR="5080" indent="-342900">
              <a:lnSpc>
                <a:spcPts val="2590"/>
              </a:lnSpc>
              <a:spcBef>
                <a:spcPts val="59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Some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situations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where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20" dirty="0">
                <a:latin typeface="Calibri"/>
                <a:cs typeface="Calibri"/>
              </a:rPr>
              <a:t> Waterfall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model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is </a:t>
            </a:r>
            <a:r>
              <a:rPr sz="2700" dirty="0">
                <a:latin typeface="Calibri"/>
                <a:cs typeface="Calibri"/>
              </a:rPr>
              <a:t>most</a:t>
            </a:r>
            <a:r>
              <a:rPr sz="2700" spc="-1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appropriate</a:t>
            </a:r>
            <a:r>
              <a:rPr sz="2700" spc="-13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are</a:t>
            </a:r>
            <a:endParaRPr sz="2700">
              <a:latin typeface="Calibri"/>
              <a:cs typeface="Calibri"/>
            </a:endParaRPr>
          </a:p>
          <a:p>
            <a:pPr marL="754380" marR="544195" lvl="1" indent="-285115">
              <a:lnSpc>
                <a:spcPts val="2300"/>
              </a:lnSpc>
              <a:spcBef>
                <a:spcPts val="595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spc="-10" dirty="0">
                <a:latin typeface="Calibri"/>
                <a:cs typeface="Calibri"/>
              </a:rPr>
              <a:t>Requirements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well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documented,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clear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spc="-10" dirty="0">
                <a:latin typeface="Calibri"/>
                <a:cs typeface="Calibri"/>
              </a:rPr>
              <a:t>fixed.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5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Product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definition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stable.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spc="-20" dirty="0">
                <a:latin typeface="Calibri"/>
                <a:cs typeface="Calibri"/>
              </a:rPr>
              <a:t>Technology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understood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dynamic.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–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ambiguous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requirements.</a:t>
            </a:r>
            <a:endParaRPr sz="2400">
              <a:latin typeface="Calibri"/>
              <a:cs typeface="Calibri"/>
            </a:endParaRPr>
          </a:p>
          <a:p>
            <a:pPr marL="754380" marR="195580" lvl="1" indent="-285115">
              <a:lnSpc>
                <a:spcPts val="2300"/>
              </a:lnSpc>
              <a:spcBef>
                <a:spcPts val="560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Ample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expertise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available 	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product.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5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short.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2772" y="461899"/>
            <a:ext cx="59175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Phases</a:t>
            </a:r>
            <a:r>
              <a:rPr spc="-114" dirty="0"/>
              <a:t> </a:t>
            </a:r>
            <a:r>
              <a:rPr dirty="0"/>
              <a:t>in</a:t>
            </a:r>
            <a:r>
              <a:rPr spc="-100" dirty="0"/>
              <a:t> </a:t>
            </a:r>
            <a:r>
              <a:rPr spc="-25" dirty="0"/>
              <a:t>Waterfall</a:t>
            </a:r>
            <a:r>
              <a:rPr spc="-110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370" y="1093978"/>
            <a:ext cx="8234680" cy="4919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b="1" spc="-10" dirty="0">
                <a:latin typeface="Calibri"/>
                <a:cs typeface="Calibri"/>
              </a:rPr>
              <a:t>Requirement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Gathering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  <a:p>
            <a:pPr marL="756285" marR="320675" lvl="1" indent="-287020">
              <a:lnSpc>
                <a:spcPts val="1440"/>
              </a:lnSpc>
              <a:spcBef>
                <a:spcPts val="359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spc="-10" dirty="0">
                <a:latin typeface="Calibri"/>
                <a:cs typeface="Calibri"/>
              </a:rPr>
              <a:t>requirements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system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developed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captured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this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phase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documented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a </a:t>
            </a:r>
            <a:r>
              <a:rPr sz="1500" spc="-10" dirty="0">
                <a:latin typeface="Calibri"/>
                <a:cs typeface="Calibri"/>
              </a:rPr>
              <a:t>requirement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specification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document</a:t>
            </a:r>
            <a:endParaRPr sz="1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b="1" spc="-10" dirty="0">
                <a:latin typeface="Calibri"/>
                <a:cs typeface="Calibri"/>
              </a:rPr>
              <a:t>System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  <a:p>
            <a:pPr marL="756285" marR="124460" lvl="1" indent="-287020">
              <a:lnSpc>
                <a:spcPct val="80000"/>
              </a:lnSpc>
              <a:spcBef>
                <a:spcPts val="375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requirement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specifications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first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phase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studied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this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phase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system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design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prepared</a:t>
            </a:r>
            <a:endParaRPr sz="1500">
              <a:latin typeface="Calibri"/>
              <a:cs typeface="Calibri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359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b="1" dirty="0">
                <a:latin typeface="Calibri"/>
                <a:cs typeface="Calibri"/>
              </a:rPr>
              <a:t>It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helps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in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specifying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hardware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system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requirements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helps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defining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overall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system architecture.</a:t>
            </a:r>
            <a:endParaRPr sz="1500">
              <a:latin typeface="Calibri"/>
              <a:cs typeface="Calibri"/>
            </a:endParaRPr>
          </a:p>
          <a:p>
            <a:pPr marL="354965" indent="-342265">
              <a:lnSpc>
                <a:spcPts val="2150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b="1" spc="-10" dirty="0">
                <a:latin typeface="Calibri"/>
                <a:cs typeface="Calibri"/>
              </a:rPr>
              <a:t>Implementation</a:t>
            </a:r>
            <a:endParaRPr sz="1800">
              <a:latin typeface="Calibri"/>
              <a:cs typeface="Calibri"/>
            </a:endParaRPr>
          </a:p>
          <a:p>
            <a:pPr marL="756285" marR="51435" lvl="1" indent="-287020">
              <a:lnSpc>
                <a:spcPct val="80100"/>
              </a:lnSpc>
              <a:spcBef>
                <a:spcPts val="370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dirty="0">
                <a:latin typeface="Calibri"/>
                <a:cs typeface="Calibri"/>
              </a:rPr>
              <a:t>With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inputs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system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design,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system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first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developed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small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programs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called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units, </a:t>
            </a:r>
            <a:r>
              <a:rPr sz="1500" dirty="0">
                <a:latin typeface="Calibri"/>
                <a:cs typeface="Calibri"/>
              </a:rPr>
              <a:t>which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integrated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next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phase.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Each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unit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developed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tested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functionality, </a:t>
            </a:r>
            <a:r>
              <a:rPr sz="1500" dirty="0">
                <a:latin typeface="Calibri"/>
                <a:cs typeface="Calibri"/>
              </a:rPr>
              <a:t>which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referred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Unit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Testing.</a:t>
            </a:r>
            <a:endParaRPr sz="1500">
              <a:latin typeface="Calibri"/>
              <a:cs typeface="Calibri"/>
            </a:endParaRPr>
          </a:p>
          <a:p>
            <a:pPr marL="354965" indent="-342265">
              <a:lnSpc>
                <a:spcPts val="2150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b="1" spc="-10" dirty="0">
                <a:latin typeface="Calibri"/>
                <a:cs typeface="Calibri"/>
              </a:rPr>
              <a:t>Integration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10" dirty="0">
                <a:latin typeface="Calibri"/>
                <a:cs typeface="Calibri"/>
              </a:rPr>
              <a:t> Testing</a:t>
            </a:r>
            <a:endParaRPr sz="1800">
              <a:latin typeface="Calibri"/>
              <a:cs typeface="Calibri"/>
            </a:endParaRPr>
          </a:p>
          <a:p>
            <a:pPr marL="756285" marR="39370" lvl="1" indent="-287020">
              <a:lnSpc>
                <a:spcPct val="80000"/>
              </a:lnSpc>
              <a:spcBef>
                <a:spcPts val="370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dirty="0">
                <a:latin typeface="Calibri"/>
                <a:cs typeface="Calibri"/>
              </a:rPr>
              <a:t>All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units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developed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implementation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phase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integrated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into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system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after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testing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of </a:t>
            </a:r>
            <a:r>
              <a:rPr sz="1500" dirty="0">
                <a:latin typeface="Calibri"/>
                <a:cs typeface="Calibri"/>
              </a:rPr>
              <a:t>each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unit.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Post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integration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entire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system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tested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any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faults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failures</a:t>
            </a:r>
            <a:endParaRPr sz="1500">
              <a:latin typeface="Calibri"/>
              <a:cs typeface="Calibri"/>
            </a:endParaRPr>
          </a:p>
          <a:p>
            <a:pPr marL="354965" indent="-342265">
              <a:lnSpc>
                <a:spcPts val="2150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b="1" dirty="0">
                <a:latin typeface="Calibri"/>
                <a:cs typeface="Calibri"/>
              </a:rPr>
              <a:t>Deployment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system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ts val="1620"/>
              </a:lnSpc>
              <a:spcBef>
                <a:spcPts val="15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dirty="0">
                <a:latin typeface="Calibri"/>
                <a:cs typeface="Calibri"/>
              </a:rPr>
              <a:t>Once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functional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non-functional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testing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done;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product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deployed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customer</a:t>
            </a:r>
            <a:endParaRPr sz="1500">
              <a:latin typeface="Calibri"/>
              <a:cs typeface="Calibri"/>
            </a:endParaRPr>
          </a:p>
          <a:p>
            <a:pPr marL="756285">
              <a:lnSpc>
                <a:spcPts val="1614"/>
              </a:lnSpc>
            </a:pPr>
            <a:r>
              <a:rPr sz="1500" spc="-10" dirty="0">
                <a:latin typeface="Calibri"/>
                <a:cs typeface="Calibri"/>
              </a:rPr>
              <a:t>environment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released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into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market.</a:t>
            </a:r>
            <a:endParaRPr sz="1500">
              <a:latin typeface="Calibri"/>
              <a:cs typeface="Calibri"/>
            </a:endParaRPr>
          </a:p>
          <a:p>
            <a:pPr marL="354965" indent="-342265">
              <a:lnSpc>
                <a:spcPts val="2155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b="1" spc="-10" dirty="0">
                <a:latin typeface="Calibri"/>
                <a:cs typeface="Calibri"/>
              </a:rPr>
              <a:t>Maintenance</a:t>
            </a:r>
            <a:endParaRPr sz="1800">
              <a:latin typeface="Calibri"/>
              <a:cs typeface="Calibri"/>
            </a:endParaRPr>
          </a:p>
          <a:p>
            <a:pPr marL="756285" marR="86995" lvl="1" indent="-287020">
              <a:lnSpc>
                <a:spcPts val="1440"/>
              </a:lnSpc>
              <a:spcBef>
                <a:spcPts val="355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dirty="0">
                <a:latin typeface="Calibri"/>
                <a:cs typeface="Calibri"/>
              </a:rPr>
              <a:t>There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some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issues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which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come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up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client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environment.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75" dirty="0">
                <a:latin typeface="Calibri"/>
                <a:cs typeface="Calibri"/>
              </a:rPr>
              <a:t>To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fix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those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issues,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patches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are </a:t>
            </a:r>
            <a:r>
              <a:rPr sz="1500" spc="-10" dirty="0">
                <a:latin typeface="Calibri"/>
                <a:cs typeface="Calibri"/>
              </a:rPr>
              <a:t>released.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Also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enhance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product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some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better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versions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released.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Maintenance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done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deliver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these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changes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customer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environment.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94829" y="183832"/>
          <a:ext cx="7504430" cy="6298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09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9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9023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2800" b="1" spc="-10" dirty="0">
                          <a:solidFill>
                            <a:srgbClr val="6F2F9F"/>
                          </a:solidFill>
                          <a:latin typeface="Cambria"/>
                          <a:cs typeface="Cambria"/>
                        </a:rPr>
                        <a:t>Advantages</a:t>
                      </a:r>
                      <a:endParaRPr sz="2800">
                        <a:latin typeface="Cambria"/>
                        <a:cs typeface="Cambria"/>
                      </a:endParaRPr>
                    </a:p>
                  </a:txBody>
                  <a:tcPr marL="0" marR="0" marT="61594" marB="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lnB w="952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84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2800" b="1" spc="-10" dirty="0">
                          <a:solidFill>
                            <a:srgbClr val="6F2F9F"/>
                          </a:solidFill>
                          <a:latin typeface="Cambria"/>
                          <a:cs typeface="Cambria"/>
                        </a:rPr>
                        <a:t>Disadvantages</a:t>
                      </a:r>
                      <a:endParaRPr sz="2800">
                        <a:latin typeface="Cambria"/>
                        <a:cs typeface="Cambria"/>
                      </a:endParaRPr>
                    </a:p>
                  </a:txBody>
                  <a:tcPr marL="0" marR="0" marT="61594" marB="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lnB w="9525">
                      <a:solidFill>
                        <a:srgbClr val="EAEAE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9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21945" marR="12128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2194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Simple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easy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understand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use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21945" marR="21717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2194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Easy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manage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rigidity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model.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phase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has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specific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deliverables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review process.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21945" marR="993140" indent="-28702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2194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Phases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processed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completed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time.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21945" marR="24511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2194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Works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well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smaller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projects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where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requirements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very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well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understood.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2194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2194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Clearly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defined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stages.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2194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2194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Well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understood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milestones.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2194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2194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Easy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arrange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tasks.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21945" marR="819150" indent="-28702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2194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results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well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documented.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lnB w="952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2580" marR="311150" indent="-287020">
                        <a:lnSpc>
                          <a:spcPct val="100000"/>
                        </a:lnSpc>
                        <a:spcBef>
                          <a:spcPts val="240"/>
                        </a:spcBef>
                        <a:buFont typeface="Arial MT"/>
                        <a:buChar char="•"/>
                        <a:tabLst>
                          <a:tab pos="32258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working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produced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until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late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during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life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cycle.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22580" marR="106553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2258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amounts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risk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uncertainty.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22580" marR="15557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2258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good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model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complex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object-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oriented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projects.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22580" marR="327025" indent="-28702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2258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Poor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model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long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ongoing projects.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22580" marR="12827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2258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suitable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projects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where requirements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moderate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risk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changing.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risk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uncertainty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this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model.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22580" marR="33782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2258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difficult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measure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progress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within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stages.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2258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2258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Cannot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accommodate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changing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requirements.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22580" marR="565150" indent="-28702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2258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Adjusting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scope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during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life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cycle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project.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lnB w="9525">
                      <a:solidFill>
                        <a:srgbClr val="EAEAE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3178" rIns="0" bIns="0" rtlCol="0">
            <a:spAutoFit/>
          </a:bodyPr>
          <a:lstStyle/>
          <a:p>
            <a:pPr marL="161036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rgbClr val="6F2F9F"/>
                </a:solidFill>
                <a:latin typeface="Cambria"/>
                <a:cs typeface="Cambria"/>
              </a:rPr>
              <a:t>V-</a:t>
            </a:r>
            <a:r>
              <a:rPr b="1" dirty="0">
                <a:solidFill>
                  <a:srgbClr val="6F2F9F"/>
                </a:solidFill>
                <a:latin typeface="Cambria"/>
                <a:cs typeface="Cambria"/>
              </a:rPr>
              <a:t>Shaped</a:t>
            </a:r>
            <a:r>
              <a:rPr b="1" spc="-3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b="1" spc="-10" dirty="0">
                <a:solidFill>
                  <a:srgbClr val="6F2F9F"/>
                </a:solidFill>
                <a:latin typeface="Cambria"/>
                <a:cs typeface="Cambria"/>
              </a:rPr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260" y="1535787"/>
            <a:ext cx="5081134" cy="4277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92622" y="1438401"/>
            <a:ext cx="3459479" cy="5208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It</a:t>
            </a:r>
            <a:r>
              <a:rPr sz="2000" spc="-2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is</a:t>
            </a:r>
            <a:r>
              <a:rPr sz="2000" spc="-2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an</a:t>
            </a:r>
            <a:r>
              <a:rPr sz="2000" spc="-4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extension</a:t>
            </a:r>
            <a:r>
              <a:rPr sz="2000" spc="-5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of</a:t>
            </a:r>
            <a:r>
              <a:rPr sz="2000" spc="-3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444444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</a:pPr>
            <a:r>
              <a:rPr sz="2000" spc="-10" dirty="0">
                <a:solidFill>
                  <a:srgbClr val="444444"/>
                </a:solidFill>
                <a:latin typeface="Cambria"/>
                <a:cs typeface="Cambria"/>
              </a:rPr>
              <a:t>waterfall</a:t>
            </a:r>
            <a:r>
              <a:rPr sz="2000" spc="-5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444444"/>
                </a:solidFill>
                <a:latin typeface="Cambria"/>
                <a:cs typeface="Cambria"/>
              </a:rPr>
              <a:t>model,</a:t>
            </a:r>
            <a:endParaRPr sz="2000">
              <a:latin typeface="Cambria"/>
              <a:cs typeface="Cambria"/>
            </a:endParaRPr>
          </a:p>
          <a:p>
            <a:pPr marL="469900" marR="12573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It</a:t>
            </a:r>
            <a:r>
              <a:rPr sz="2000" spc="-2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is</a:t>
            </a:r>
            <a:r>
              <a:rPr sz="2000" spc="-1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also</a:t>
            </a:r>
            <a:r>
              <a:rPr sz="2000" spc="-3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known</a:t>
            </a:r>
            <a:r>
              <a:rPr sz="2000" spc="-3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444444"/>
                </a:solidFill>
                <a:latin typeface="Cambria"/>
                <a:cs typeface="Cambria"/>
              </a:rPr>
              <a:t>as </a:t>
            </a:r>
            <a:r>
              <a:rPr sz="2000" spc="-10" dirty="0">
                <a:solidFill>
                  <a:srgbClr val="444444"/>
                </a:solidFill>
                <a:latin typeface="Cambria"/>
                <a:cs typeface="Cambria"/>
              </a:rPr>
              <a:t>verification</a:t>
            </a:r>
            <a:r>
              <a:rPr sz="2000" spc="-4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and</a:t>
            </a:r>
            <a:r>
              <a:rPr sz="2000" spc="-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444444"/>
                </a:solidFill>
                <a:latin typeface="Cambria"/>
                <a:cs typeface="Cambria"/>
              </a:rPr>
              <a:t>Validation model.</a:t>
            </a:r>
            <a:endParaRPr sz="20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Instead</a:t>
            </a:r>
            <a:r>
              <a:rPr sz="2000" spc="-5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of</a:t>
            </a:r>
            <a:r>
              <a:rPr sz="2000" spc="-3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moving</a:t>
            </a:r>
            <a:r>
              <a:rPr sz="2000" spc="-4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down</a:t>
            </a:r>
            <a:r>
              <a:rPr sz="2000" spc="-4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444444"/>
                </a:solidFill>
                <a:latin typeface="Cambria"/>
                <a:cs typeface="Cambria"/>
              </a:rPr>
              <a:t>in</a:t>
            </a:r>
            <a:endParaRPr sz="20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a</a:t>
            </a:r>
            <a:r>
              <a:rPr sz="2000" spc="-2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linear</a:t>
            </a:r>
            <a:r>
              <a:rPr sz="2000" spc="-3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20" dirty="0">
                <a:solidFill>
                  <a:srgbClr val="444444"/>
                </a:solidFill>
                <a:latin typeface="Cambria"/>
                <a:cs typeface="Cambria"/>
              </a:rPr>
              <a:t>way,</a:t>
            </a:r>
            <a:endParaRPr sz="2000">
              <a:latin typeface="Cambria"/>
              <a:cs typeface="Cambria"/>
            </a:endParaRPr>
          </a:p>
          <a:p>
            <a:pPr marL="469900" marR="508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the</a:t>
            </a:r>
            <a:r>
              <a:rPr sz="2000" spc="-5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process</a:t>
            </a:r>
            <a:r>
              <a:rPr sz="2000" spc="-5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steps</a:t>
            </a:r>
            <a:r>
              <a:rPr sz="2000" spc="-4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are</a:t>
            </a:r>
            <a:r>
              <a:rPr sz="2000" spc="-5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20" dirty="0">
                <a:solidFill>
                  <a:srgbClr val="444444"/>
                </a:solidFill>
                <a:latin typeface="Cambria"/>
                <a:cs typeface="Cambria"/>
              </a:rPr>
              <a:t>bent </a:t>
            </a:r>
            <a:r>
              <a:rPr sz="2000" spc="-10" dirty="0">
                <a:solidFill>
                  <a:srgbClr val="444444"/>
                </a:solidFill>
                <a:latin typeface="Cambria"/>
                <a:cs typeface="Cambria"/>
              </a:rPr>
              <a:t>upwards</a:t>
            </a:r>
            <a:r>
              <a:rPr sz="2000" spc="-6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after</a:t>
            </a:r>
            <a:r>
              <a:rPr sz="2000" spc="-6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444444"/>
                </a:solidFill>
                <a:latin typeface="Cambria"/>
                <a:cs typeface="Cambria"/>
              </a:rPr>
              <a:t>the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implementation</a:t>
            </a:r>
            <a:r>
              <a:rPr sz="2000" spc="-7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and</a:t>
            </a:r>
            <a:r>
              <a:rPr sz="2000" spc="-4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444444"/>
                </a:solidFill>
                <a:latin typeface="Cambria"/>
                <a:cs typeface="Cambria"/>
              </a:rPr>
              <a:t>coding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phase,</a:t>
            </a:r>
            <a:r>
              <a:rPr sz="2000" spc="-3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to</a:t>
            </a:r>
            <a:r>
              <a:rPr sz="2000" spc="-4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form</a:t>
            </a:r>
            <a:r>
              <a:rPr sz="2000" spc="-3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the</a:t>
            </a:r>
            <a:r>
              <a:rPr sz="2000" spc="-4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typical</a:t>
            </a:r>
            <a:r>
              <a:rPr sz="2000" spc="-3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50" dirty="0">
                <a:solidFill>
                  <a:srgbClr val="444444"/>
                </a:solidFill>
                <a:latin typeface="Cambria"/>
                <a:cs typeface="Cambria"/>
              </a:rPr>
              <a:t>V </a:t>
            </a:r>
            <a:r>
              <a:rPr sz="2000" spc="-10" dirty="0">
                <a:solidFill>
                  <a:srgbClr val="444444"/>
                </a:solidFill>
                <a:latin typeface="Cambria"/>
                <a:cs typeface="Cambria"/>
              </a:rPr>
              <a:t>shape.</a:t>
            </a:r>
            <a:endParaRPr sz="2000">
              <a:latin typeface="Cambria"/>
              <a:cs typeface="Cambria"/>
            </a:endParaRPr>
          </a:p>
          <a:p>
            <a:pPr marL="469900" marR="64135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The</a:t>
            </a:r>
            <a:r>
              <a:rPr sz="2000" spc="-2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major</a:t>
            </a:r>
            <a:r>
              <a:rPr sz="2000" spc="-1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444444"/>
                </a:solidFill>
                <a:latin typeface="Cambria"/>
                <a:cs typeface="Cambria"/>
              </a:rPr>
              <a:t>difference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between</a:t>
            </a:r>
            <a:r>
              <a:rPr sz="2000" spc="-4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the</a:t>
            </a:r>
            <a:r>
              <a:rPr sz="2000" spc="-6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444444"/>
                </a:solidFill>
                <a:latin typeface="Cambria"/>
                <a:cs typeface="Cambria"/>
              </a:rPr>
              <a:t>V-shaped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model</a:t>
            </a:r>
            <a:r>
              <a:rPr sz="2000" spc="-3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and</a:t>
            </a:r>
            <a:r>
              <a:rPr sz="2000" spc="-1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444444"/>
                </a:solidFill>
                <a:latin typeface="Cambria"/>
                <a:cs typeface="Cambria"/>
              </a:rPr>
              <a:t>waterfall</a:t>
            </a:r>
            <a:r>
              <a:rPr sz="2000" spc="-5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444444"/>
                </a:solidFill>
                <a:latin typeface="Cambria"/>
                <a:cs typeface="Cambria"/>
              </a:rPr>
              <a:t>model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is</a:t>
            </a:r>
            <a:r>
              <a:rPr sz="2000" spc="-4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the</a:t>
            </a:r>
            <a:r>
              <a:rPr sz="2000" spc="-4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early</a:t>
            </a:r>
            <a:r>
              <a:rPr sz="2000" spc="-4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test</a:t>
            </a:r>
            <a:r>
              <a:rPr sz="2000" spc="-45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planning</a:t>
            </a:r>
            <a:r>
              <a:rPr sz="2000" spc="-5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444444"/>
                </a:solidFill>
                <a:latin typeface="Cambria"/>
                <a:cs typeface="Cambria"/>
              </a:rPr>
              <a:t>in 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the</a:t>
            </a:r>
            <a:r>
              <a:rPr sz="2000" spc="-1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20" dirty="0">
                <a:solidFill>
                  <a:srgbClr val="444444"/>
                </a:solidFill>
                <a:latin typeface="Cambria"/>
                <a:cs typeface="Cambria"/>
              </a:rPr>
              <a:t>V-</a:t>
            </a:r>
            <a:r>
              <a:rPr sz="2000" dirty="0">
                <a:solidFill>
                  <a:srgbClr val="444444"/>
                </a:solidFill>
                <a:latin typeface="Cambria"/>
                <a:cs typeface="Cambria"/>
              </a:rPr>
              <a:t>shaped</a:t>
            </a:r>
            <a:r>
              <a:rPr sz="2000" spc="-2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444444"/>
                </a:solidFill>
                <a:latin typeface="Cambria"/>
                <a:cs typeface="Cambria"/>
              </a:rPr>
              <a:t>model.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303" y="5111318"/>
            <a:ext cx="7983220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corresponding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testing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phase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development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phase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planned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10" dirty="0">
                <a:latin typeface="Calibri"/>
                <a:cs typeface="Calibri"/>
              </a:rPr>
              <a:t> parallel.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So,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there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Verification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phases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‘V’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Validation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phases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other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side.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Coding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Phase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joins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two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sides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V-Model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0204" y="476630"/>
            <a:ext cx="6172200" cy="463867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884414" y="764666"/>
            <a:ext cx="360045" cy="4104640"/>
          </a:xfrm>
          <a:custGeom>
            <a:avLst/>
            <a:gdLst/>
            <a:ahLst/>
            <a:cxnLst/>
            <a:rect l="l" t="t" r="r" b="b"/>
            <a:pathLst>
              <a:path w="360045" h="4104640">
                <a:moveTo>
                  <a:pt x="0" y="0"/>
                </a:moveTo>
                <a:lnTo>
                  <a:pt x="70016" y="2363"/>
                </a:lnTo>
                <a:lnTo>
                  <a:pt x="127222" y="8810"/>
                </a:lnTo>
                <a:lnTo>
                  <a:pt x="165806" y="18377"/>
                </a:lnTo>
                <a:lnTo>
                  <a:pt x="179958" y="30099"/>
                </a:lnTo>
                <a:lnTo>
                  <a:pt x="179958" y="2022221"/>
                </a:lnTo>
                <a:lnTo>
                  <a:pt x="194113" y="2033942"/>
                </a:lnTo>
                <a:lnTo>
                  <a:pt x="232711" y="2043509"/>
                </a:lnTo>
                <a:lnTo>
                  <a:pt x="289954" y="2049956"/>
                </a:lnTo>
                <a:lnTo>
                  <a:pt x="360044" y="2052320"/>
                </a:lnTo>
                <a:lnTo>
                  <a:pt x="289954" y="2054663"/>
                </a:lnTo>
                <a:lnTo>
                  <a:pt x="232711" y="2061067"/>
                </a:lnTo>
                <a:lnTo>
                  <a:pt x="194113" y="2070590"/>
                </a:lnTo>
                <a:lnTo>
                  <a:pt x="179958" y="2082292"/>
                </a:lnTo>
                <a:lnTo>
                  <a:pt x="179958" y="4074541"/>
                </a:lnTo>
                <a:lnTo>
                  <a:pt x="165806" y="4086189"/>
                </a:lnTo>
                <a:lnTo>
                  <a:pt x="127222" y="4095718"/>
                </a:lnTo>
                <a:lnTo>
                  <a:pt x="70016" y="4102151"/>
                </a:lnTo>
                <a:lnTo>
                  <a:pt x="0" y="4104513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53628" y="890778"/>
            <a:ext cx="463550" cy="260921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95"/>
              </a:spcBef>
              <a:tabLst>
                <a:tab pos="332105" algn="l"/>
              </a:tabLst>
            </a:pPr>
            <a:r>
              <a:rPr sz="1800" spc="-50" dirty="0">
                <a:latin typeface="Calibri"/>
                <a:cs typeface="Calibri"/>
              </a:rPr>
              <a:t>V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P</a:t>
            </a:r>
            <a:endParaRPr sz="1800">
              <a:latin typeface="Calibri"/>
              <a:cs typeface="Calibri"/>
            </a:endParaRPr>
          </a:p>
          <a:p>
            <a:pPr marL="10160">
              <a:lnSpc>
                <a:spcPct val="100000"/>
              </a:lnSpc>
              <a:spcBef>
                <a:spcPts val="395"/>
              </a:spcBef>
              <a:tabLst>
                <a:tab pos="330200" algn="l"/>
              </a:tabLst>
            </a:pPr>
            <a:r>
              <a:rPr sz="2700" spc="-75" baseline="3086" dirty="0">
                <a:latin typeface="Calibri"/>
                <a:cs typeface="Calibri"/>
              </a:rPr>
              <a:t>a</a:t>
            </a:r>
            <a:r>
              <a:rPr sz="2700" baseline="3086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h</a:t>
            </a:r>
            <a:endParaRPr sz="1800">
              <a:latin typeface="Calibri"/>
              <a:cs typeface="Calibri"/>
            </a:endParaRPr>
          </a:p>
          <a:p>
            <a:pPr marL="39370">
              <a:lnSpc>
                <a:spcPct val="100000"/>
              </a:lnSpc>
              <a:spcBef>
                <a:spcPts val="395"/>
              </a:spcBef>
              <a:tabLst>
                <a:tab pos="336550" algn="l"/>
              </a:tabLst>
            </a:pPr>
            <a:r>
              <a:rPr sz="2700" spc="-75" baseline="3086" dirty="0">
                <a:latin typeface="Calibri"/>
                <a:cs typeface="Calibri"/>
              </a:rPr>
              <a:t>l</a:t>
            </a:r>
            <a:r>
              <a:rPr sz="2700" baseline="3086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  <a:p>
            <a:pPr marL="39370">
              <a:lnSpc>
                <a:spcPct val="100000"/>
              </a:lnSpc>
              <a:spcBef>
                <a:spcPts val="400"/>
              </a:spcBef>
              <a:tabLst>
                <a:tab pos="345440" algn="l"/>
              </a:tabLst>
            </a:pPr>
            <a:r>
              <a:rPr sz="2700" spc="-75" baseline="3086" dirty="0">
                <a:latin typeface="Calibri"/>
                <a:cs typeface="Calibri"/>
              </a:rPr>
              <a:t>i</a:t>
            </a:r>
            <a:r>
              <a:rPr sz="2700" baseline="3086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  <a:p>
            <a:pPr marL="4445">
              <a:lnSpc>
                <a:spcPct val="100000"/>
              </a:lnSpc>
              <a:spcBef>
                <a:spcPts val="395"/>
              </a:spcBef>
              <a:tabLst>
                <a:tab pos="333375" algn="l"/>
              </a:tabLst>
            </a:pPr>
            <a:r>
              <a:rPr sz="2700" spc="-75" baseline="3086" dirty="0">
                <a:latin typeface="Calibri"/>
                <a:cs typeface="Calibri"/>
              </a:rPr>
              <a:t>d</a:t>
            </a:r>
            <a:r>
              <a:rPr sz="2700" baseline="3086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  <a:p>
            <a:pPr marL="10160">
              <a:lnSpc>
                <a:spcPct val="100000"/>
              </a:lnSpc>
              <a:spcBef>
                <a:spcPts val="395"/>
              </a:spcBef>
              <a:tabLst>
                <a:tab pos="345440" algn="l"/>
              </a:tabLst>
            </a:pPr>
            <a:r>
              <a:rPr sz="2700" spc="-75" baseline="3086" dirty="0">
                <a:latin typeface="Calibri"/>
                <a:cs typeface="Calibri"/>
              </a:rPr>
              <a:t>a</a:t>
            </a:r>
            <a:r>
              <a:rPr sz="2700" baseline="3086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  <a:p>
            <a:pPr marL="27305">
              <a:lnSpc>
                <a:spcPct val="100000"/>
              </a:lnSpc>
              <a:spcBef>
                <a:spcPts val="290"/>
              </a:spcBef>
            </a:pPr>
            <a:r>
              <a:rPr sz="1800" spc="-50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  <a:p>
            <a:pPr marL="39370">
              <a:lnSpc>
                <a:spcPct val="100000"/>
              </a:lnSpc>
              <a:spcBef>
                <a:spcPts val="395"/>
              </a:spcBef>
            </a:pPr>
            <a:r>
              <a:rPr sz="1800" spc="-50" dirty="0">
                <a:latin typeface="Calibri"/>
                <a:cs typeface="Calibri"/>
              </a:rPr>
              <a:t>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58200" y="3524757"/>
            <a:ext cx="12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58200" y="3850894"/>
            <a:ext cx="12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0200" y="782828"/>
            <a:ext cx="17824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Understands requirements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from </a:t>
            </a:r>
            <a:r>
              <a:rPr sz="1800" spc="-10" dirty="0">
                <a:latin typeface="Calibri"/>
                <a:cs typeface="Calibri"/>
              </a:rPr>
              <a:t>customer perspective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" y="2079116"/>
            <a:ext cx="1756410" cy="2945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42862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350520" algn="l"/>
              </a:tabLst>
            </a:pPr>
            <a:r>
              <a:rPr sz="1800" dirty="0">
                <a:latin typeface="Arial MT"/>
                <a:cs typeface="Arial MT"/>
              </a:rPr>
              <a:t>	</a:t>
            </a:r>
            <a:r>
              <a:rPr sz="1800" dirty="0">
                <a:latin typeface="Calibri"/>
                <a:cs typeface="Calibri"/>
              </a:rPr>
              <a:t>design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complete system</a:t>
            </a:r>
            <a:endParaRPr sz="18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Calibri"/>
                <a:cs typeface="Calibri"/>
              </a:rPr>
              <a:t>complete hardware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communication </a:t>
            </a:r>
            <a:r>
              <a:rPr sz="1800" dirty="0">
                <a:latin typeface="Calibri"/>
                <a:cs typeface="Calibri"/>
              </a:rPr>
              <a:t>setup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product</a:t>
            </a:r>
            <a:endParaRPr sz="1800">
              <a:latin typeface="Calibri"/>
              <a:cs typeface="Calibri"/>
            </a:endParaRPr>
          </a:p>
          <a:p>
            <a:pPr marL="550545" marR="288925" lvl="1" indent="-287020">
              <a:lnSpc>
                <a:spcPct val="100000"/>
              </a:lnSpc>
              <a:spcBef>
                <a:spcPts val="1395"/>
              </a:spcBef>
              <a:buFont typeface="Arial MT"/>
              <a:buChar char="•"/>
              <a:tabLst>
                <a:tab pos="550545" algn="l"/>
              </a:tabLst>
            </a:pPr>
            <a:r>
              <a:rPr sz="1800" dirty="0">
                <a:latin typeface="Calibri"/>
                <a:cs typeface="Calibri"/>
              </a:rPr>
              <a:t>High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level Design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14905" y="4500117"/>
            <a:ext cx="12299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Low</a:t>
            </a:r>
            <a:r>
              <a:rPr sz="1800" spc="3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level Design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74216" y="1107566"/>
            <a:ext cx="332105" cy="614680"/>
          </a:xfrm>
          <a:custGeom>
            <a:avLst/>
            <a:gdLst/>
            <a:ahLst/>
            <a:cxnLst/>
            <a:rect l="l" t="t" r="r" b="b"/>
            <a:pathLst>
              <a:path w="332105" h="614680">
                <a:moveTo>
                  <a:pt x="318859" y="16730"/>
                </a:moveTo>
                <a:lnTo>
                  <a:pt x="310922" y="21663"/>
                </a:lnTo>
                <a:lnTo>
                  <a:pt x="0" y="609854"/>
                </a:lnTo>
                <a:lnTo>
                  <a:pt x="8381" y="614299"/>
                </a:lnTo>
                <a:lnTo>
                  <a:pt x="319255" y="26200"/>
                </a:lnTo>
                <a:lnTo>
                  <a:pt x="318859" y="16730"/>
                </a:lnTo>
                <a:close/>
              </a:path>
              <a:path w="332105" h="614680">
                <a:moveTo>
                  <a:pt x="327917" y="6096"/>
                </a:moveTo>
                <a:lnTo>
                  <a:pt x="319151" y="6096"/>
                </a:lnTo>
                <a:lnTo>
                  <a:pt x="327533" y="10541"/>
                </a:lnTo>
                <a:lnTo>
                  <a:pt x="319255" y="26200"/>
                </a:lnTo>
                <a:lnTo>
                  <a:pt x="322183" y="96266"/>
                </a:lnTo>
                <a:lnTo>
                  <a:pt x="322307" y="98933"/>
                </a:lnTo>
                <a:lnTo>
                  <a:pt x="322326" y="99313"/>
                </a:lnTo>
                <a:lnTo>
                  <a:pt x="324611" y="101346"/>
                </a:lnTo>
                <a:lnTo>
                  <a:pt x="329579" y="101346"/>
                </a:lnTo>
                <a:lnTo>
                  <a:pt x="331851" y="98933"/>
                </a:lnTo>
                <a:lnTo>
                  <a:pt x="328185" y="12446"/>
                </a:lnTo>
                <a:lnTo>
                  <a:pt x="328105" y="10541"/>
                </a:lnTo>
                <a:lnTo>
                  <a:pt x="328019" y="8509"/>
                </a:lnTo>
                <a:lnTo>
                  <a:pt x="327917" y="6096"/>
                </a:lnTo>
                <a:close/>
              </a:path>
              <a:path w="332105" h="614680">
                <a:moveTo>
                  <a:pt x="327659" y="0"/>
                </a:moveTo>
                <a:lnTo>
                  <a:pt x="245872" y="50927"/>
                </a:lnTo>
                <a:lnTo>
                  <a:pt x="243585" y="52324"/>
                </a:lnTo>
                <a:lnTo>
                  <a:pt x="242951" y="55245"/>
                </a:lnTo>
                <a:lnTo>
                  <a:pt x="244347" y="57404"/>
                </a:lnTo>
                <a:lnTo>
                  <a:pt x="245745" y="59690"/>
                </a:lnTo>
                <a:lnTo>
                  <a:pt x="248665" y="60325"/>
                </a:lnTo>
                <a:lnTo>
                  <a:pt x="250952" y="58928"/>
                </a:lnTo>
                <a:lnTo>
                  <a:pt x="310922" y="21663"/>
                </a:lnTo>
                <a:lnTo>
                  <a:pt x="319151" y="6096"/>
                </a:lnTo>
                <a:lnTo>
                  <a:pt x="327917" y="6096"/>
                </a:lnTo>
                <a:lnTo>
                  <a:pt x="327659" y="0"/>
                </a:lnTo>
                <a:close/>
              </a:path>
              <a:path w="332105" h="614680">
                <a:moveTo>
                  <a:pt x="323701" y="8509"/>
                </a:moveTo>
                <a:lnTo>
                  <a:pt x="318516" y="8509"/>
                </a:lnTo>
                <a:lnTo>
                  <a:pt x="325754" y="12446"/>
                </a:lnTo>
                <a:lnTo>
                  <a:pt x="318859" y="16730"/>
                </a:lnTo>
                <a:lnTo>
                  <a:pt x="319255" y="26200"/>
                </a:lnTo>
                <a:lnTo>
                  <a:pt x="327533" y="10541"/>
                </a:lnTo>
                <a:lnTo>
                  <a:pt x="323701" y="8509"/>
                </a:lnTo>
                <a:close/>
              </a:path>
              <a:path w="332105" h="614680">
                <a:moveTo>
                  <a:pt x="319151" y="6096"/>
                </a:moveTo>
                <a:lnTo>
                  <a:pt x="310922" y="21663"/>
                </a:lnTo>
                <a:lnTo>
                  <a:pt x="318859" y="16730"/>
                </a:lnTo>
                <a:lnTo>
                  <a:pt x="318680" y="12446"/>
                </a:lnTo>
                <a:lnTo>
                  <a:pt x="318600" y="10541"/>
                </a:lnTo>
                <a:lnTo>
                  <a:pt x="318516" y="8509"/>
                </a:lnTo>
                <a:lnTo>
                  <a:pt x="323701" y="8509"/>
                </a:lnTo>
                <a:lnTo>
                  <a:pt x="319151" y="6096"/>
                </a:lnTo>
                <a:close/>
              </a:path>
              <a:path w="332105" h="614680">
                <a:moveTo>
                  <a:pt x="318516" y="8509"/>
                </a:moveTo>
                <a:lnTo>
                  <a:pt x="318859" y="16730"/>
                </a:lnTo>
                <a:lnTo>
                  <a:pt x="325754" y="12446"/>
                </a:lnTo>
                <a:lnTo>
                  <a:pt x="318516" y="8509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05700" y="2204847"/>
            <a:ext cx="1010919" cy="595630"/>
          </a:xfrm>
          <a:custGeom>
            <a:avLst/>
            <a:gdLst/>
            <a:ahLst/>
            <a:cxnLst/>
            <a:rect l="l" t="t" r="r" b="b"/>
            <a:pathLst>
              <a:path w="1010919" h="595630">
                <a:moveTo>
                  <a:pt x="1000010" y="635"/>
                </a:moveTo>
                <a:lnTo>
                  <a:pt x="0" y="586993"/>
                </a:lnTo>
                <a:lnTo>
                  <a:pt x="4826" y="595249"/>
                </a:lnTo>
                <a:lnTo>
                  <a:pt x="989579" y="17836"/>
                </a:lnTo>
                <a:lnTo>
                  <a:pt x="998232" y="2412"/>
                </a:lnTo>
                <a:lnTo>
                  <a:pt x="1001050" y="2412"/>
                </a:lnTo>
                <a:lnTo>
                  <a:pt x="1000010" y="635"/>
                </a:lnTo>
                <a:close/>
              </a:path>
              <a:path w="1010919" h="595630">
                <a:moveTo>
                  <a:pt x="1010194" y="635"/>
                </a:moveTo>
                <a:lnTo>
                  <a:pt x="1000010" y="635"/>
                </a:lnTo>
                <a:lnTo>
                  <a:pt x="1004836" y="8889"/>
                </a:lnTo>
                <a:lnTo>
                  <a:pt x="989579" y="17836"/>
                </a:lnTo>
                <a:lnTo>
                  <a:pt x="955052" y="79375"/>
                </a:lnTo>
                <a:lnTo>
                  <a:pt x="953655" y="81661"/>
                </a:lnTo>
                <a:lnTo>
                  <a:pt x="954544" y="84581"/>
                </a:lnTo>
                <a:lnTo>
                  <a:pt x="959116" y="87122"/>
                </a:lnTo>
                <a:lnTo>
                  <a:pt x="962037" y="86360"/>
                </a:lnTo>
                <a:lnTo>
                  <a:pt x="963307" y="83947"/>
                </a:lnTo>
                <a:lnTo>
                  <a:pt x="1010194" y="635"/>
                </a:lnTo>
                <a:close/>
              </a:path>
              <a:path w="1010919" h="595630">
                <a:moveTo>
                  <a:pt x="998232" y="2412"/>
                </a:moveTo>
                <a:lnTo>
                  <a:pt x="989579" y="17836"/>
                </a:lnTo>
                <a:lnTo>
                  <a:pt x="1003669" y="9574"/>
                </a:lnTo>
                <a:lnTo>
                  <a:pt x="1002452" y="9574"/>
                </a:lnTo>
                <a:lnTo>
                  <a:pt x="998232" y="2412"/>
                </a:lnTo>
                <a:close/>
              </a:path>
              <a:path w="1010919" h="595630">
                <a:moveTo>
                  <a:pt x="1010551" y="0"/>
                </a:moveTo>
                <a:lnTo>
                  <a:pt x="914158" y="253"/>
                </a:lnTo>
                <a:lnTo>
                  <a:pt x="911491" y="253"/>
                </a:lnTo>
                <a:lnTo>
                  <a:pt x="909459" y="2412"/>
                </a:lnTo>
                <a:lnTo>
                  <a:pt x="909459" y="7619"/>
                </a:lnTo>
                <a:lnTo>
                  <a:pt x="911491" y="9778"/>
                </a:lnTo>
                <a:lnTo>
                  <a:pt x="984765" y="9574"/>
                </a:lnTo>
                <a:lnTo>
                  <a:pt x="1000010" y="635"/>
                </a:lnTo>
                <a:lnTo>
                  <a:pt x="1010194" y="635"/>
                </a:lnTo>
                <a:lnTo>
                  <a:pt x="1010551" y="0"/>
                </a:lnTo>
                <a:close/>
              </a:path>
              <a:path w="1010919" h="595630">
                <a:moveTo>
                  <a:pt x="1001050" y="2412"/>
                </a:moveTo>
                <a:lnTo>
                  <a:pt x="998232" y="2412"/>
                </a:lnTo>
                <a:lnTo>
                  <a:pt x="1002452" y="9574"/>
                </a:lnTo>
                <a:lnTo>
                  <a:pt x="1003669" y="9574"/>
                </a:lnTo>
                <a:lnTo>
                  <a:pt x="1004836" y="8889"/>
                </a:lnTo>
                <a:lnTo>
                  <a:pt x="1001050" y="2412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07997" y="3068954"/>
            <a:ext cx="831850" cy="1415415"/>
          </a:xfrm>
          <a:custGeom>
            <a:avLst/>
            <a:gdLst/>
            <a:ahLst/>
            <a:cxnLst/>
            <a:rect l="l" t="t" r="r" b="b"/>
            <a:pathLst>
              <a:path w="831850" h="1415414">
                <a:moveTo>
                  <a:pt x="822186" y="16334"/>
                </a:moveTo>
                <a:lnTo>
                  <a:pt x="813863" y="21025"/>
                </a:lnTo>
                <a:lnTo>
                  <a:pt x="0" y="1410208"/>
                </a:lnTo>
                <a:lnTo>
                  <a:pt x="8255" y="1415034"/>
                </a:lnTo>
                <a:lnTo>
                  <a:pt x="822173" y="25757"/>
                </a:lnTo>
                <a:lnTo>
                  <a:pt x="822186" y="16334"/>
                </a:lnTo>
                <a:close/>
              </a:path>
              <a:path w="831850" h="1415414">
                <a:moveTo>
                  <a:pt x="831715" y="5715"/>
                </a:moveTo>
                <a:lnTo>
                  <a:pt x="822833" y="5715"/>
                </a:lnTo>
                <a:lnTo>
                  <a:pt x="831088" y="10541"/>
                </a:lnTo>
                <a:lnTo>
                  <a:pt x="822173" y="25757"/>
                </a:lnTo>
                <a:lnTo>
                  <a:pt x="822070" y="99060"/>
                </a:lnTo>
                <a:lnTo>
                  <a:pt x="822197" y="99060"/>
                </a:lnTo>
                <a:lnTo>
                  <a:pt x="824229" y="101092"/>
                </a:lnTo>
                <a:lnTo>
                  <a:pt x="829437" y="101092"/>
                </a:lnTo>
                <a:lnTo>
                  <a:pt x="831596" y="99060"/>
                </a:lnTo>
                <a:lnTo>
                  <a:pt x="831715" y="5715"/>
                </a:lnTo>
                <a:close/>
              </a:path>
              <a:path w="831850" h="1415414">
                <a:moveTo>
                  <a:pt x="831722" y="0"/>
                </a:moveTo>
                <a:lnTo>
                  <a:pt x="745490" y="48514"/>
                </a:lnTo>
                <a:lnTo>
                  <a:pt x="744728" y="51435"/>
                </a:lnTo>
                <a:lnTo>
                  <a:pt x="747268" y="56007"/>
                </a:lnTo>
                <a:lnTo>
                  <a:pt x="750189" y="56896"/>
                </a:lnTo>
                <a:lnTo>
                  <a:pt x="813863" y="21025"/>
                </a:lnTo>
                <a:lnTo>
                  <a:pt x="822833" y="5715"/>
                </a:lnTo>
                <a:lnTo>
                  <a:pt x="831715" y="5715"/>
                </a:lnTo>
                <a:lnTo>
                  <a:pt x="831722" y="0"/>
                </a:lnTo>
                <a:close/>
              </a:path>
              <a:path w="831850" h="1415414">
                <a:moveTo>
                  <a:pt x="826960" y="8128"/>
                </a:moveTo>
                <a:lnTo>
                  <a:pt x="822197" y="8128"/>
                </a:lnTo>
                <a:lnTo>
                  <a:pt x="829310" y="12319"/>
                </a:lnTo>
                <a:lnTo>
                  <a:pt x="822186" y="16334"/>
                </a:lnTo>
                <a:lnTo>
                  <a:pt x="822173" y="25757"/>
                </a:lnTo>
                <a:lnTo>
                  <a:pt x="831088" y="10541"/>
                </a:lnTo>
                <a:lnTo>
                  <a:pt x="826960" y="8128"/>
                </a:lnTo>
                <a:close/>
              </a:path>
              <a:path w="831850" h="1415414">
                <a:moveTo>
                  <a:pt x="822833" y="5715"/>
                </a:moveTo>
                <a:lnTo>
                  <a:pt x="813863" y="21025"/>
                </a:lnTo>
                <a:lnTo>
                  <a:pt x="822186" y="16334"/>
                </a:lnTo>
                <a:lnTo>
                  <a:pt x="822197" y="8128"/>
                </a:lnTo>
                <a:lnTo>
                  <a:pt x="826960" y="8128"/>
                </a:lnTo>
                <a:lnTo>
                  <a:pt x="822833" y="5715"/>
                </a:lnTo>
                <a:close/>
              </a:path>
              <a:path w="831850" h="1415414">
                <a:moveTo>
                  <a:pt x="822197" y="8128"/>
                </a:moveTo>
                <a:lnTo>
                  <a:pt x="822186" y="16334"/>
                </a:lnTo>
                <a:lnTo>
                  <a:pt x="829310" y="12319"/>
                </a:lnTo>
                <a:lnTo>
                  <a:pt x="822197" y="8128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93873" y="3933063"/>
            <a:ext cx="100330" cy="548640"/>
          </a:xfrm>
          <a:custGeom>
            <a:avLst/>
            <a:gdLst/>
            <a:ahLst/>
            <a:cxnLst/>
            <a:rect l="l" t="t" r="r" b="b"/>
            <a:pathLst>
              <a:path w="100330" h="548639">
                <a:moveTo>
                  <a:pt x="49974" y="18886"/>
                </a:moveTo>
                <a:lnTo>
                  <a:pt x="45212" y="27051"/>
                </a:lnTo>
                <a:lnTo>
                  <a:pt x="45212" y="548513"/>
                </a:lnTo>
                <a:lnTo>
                  <a:pt x="54737" y="548513"/>
                </a:lnTo>
                <a:lnTo>
                  <a:pt x="54737" y="27051"/>
                </a:lnTo>
                <a:lnTo>
                  <a:pt x="49974" y="18886"/>
                </a:lnTo>
                <a:close/>
              </a:path>
              <a:path w="100330" h="548639">
                <a:moveTo>
                  <a:pt x="49910" y="0"/>
                </a:moveTo>
                <a:lnTo>
                  <a:pt x="1396" y="83185"/>
                </a:lnTo>
                <a:lnTo>
                  <a:pt x="0" y="85470"/>
                </a:lnTo>
                <a:lnTo>
                  <a:pt x="662" y="88011"/>
                </a:lnTo>
                <a:lnTo>
                  <a:pt x="762" y="88392"/>
                </a:lnTo>
                <a:lnTo>
                  <a:pt x="3047" y="89788"/>
                </a:lnTo>
                <a:lnTo>
                  <a:pt x="5333" y="91059"/>
                </a:lnTo>
                <a:lnTo>
                  <a:pt x="8254" y="90297"/>
                </a:lnTo>
                <a:lnTo>
                  <a:pt x="9651" y="88011"/>
                </a:lnTo>
                <a:lnTo>
                  <a:pt x="45211" y="27051"/>
                </a:lnTo>
                <a:lnTo>
                  <a:pt x="45212" y="9398"/>
                </a:lnTo>
                <a:lnTo>
                  <a:pt x="55406" y="9398"/>
                </a:lnTo>
                <a:lnTo>
                  <a:pt x="49910" y="0"/>
                </a:lnTo>
                <a:close/>
              </a:path>
              <a:path w="100330" h="548639">
                <a:moveTo>
                  <a:pt x="55406" y="9398"/>
                </a:moveTo>
                <a:lnTo>
                  <a:pt x="54737" y="9398"/>
                </a:lnTo>
                <a:lnTo>
                  <a:pt x="54737" y="27051"/>
                </a:lnTo>
                <a:lnTo>
                  <a:pt x="90296" y="88011"/>
                </a:lnTo>
                <a:lnTo>
                  <a:pt x="91566" y="90297"/>
                </a:lnTo>
                <a:lnTo>
                  <a:pt x="94487" y="91059"/>
                </a:lnTo>
                <a:lnTo>
                  <a:pt x="96774" y="89788"/>
                </a:lnTo>
                <a:lnTo>
                  <a:pt x="99059" y="88392"/>
                </a:lnTo>
                <a:lnTo>
                  <a:pt x="99821" y="85470"/>
                </a:lnTo>
                <a:lnTo>
                  <a:pt x="98551" y="83185"/>
                </a:lnTo>
                <a:lnTo>
                  <a:pt x="55406" y="9398"/>
                </a:lnTo>
                <a:close/>
              </a:path>
              <a:path w="100330" h="548639">
                <a:moveTo>
                  <a:pt x="54737" y="9398"/>
                </a:moveTo>
                <a:lnTo>
                  <a:pt x="45212" y="9398"/>
                </a:lnTo>
                <a:lnTo>
                  <a:pt x="45212" y="27051"/>
                </a:lnTo>
                <a:lnTo>
                  <a:pt x="49974" y="18886"/>
                </a:lnTo>
                <a:lnTo>
                  <a:pt x="45846" y="11811"/>
                </a:lnTo>
                <a:lnTo>
                  <a:pt x="54737" y="11811"/>
                </a:lnTo>
                <a:lnTo>
                  <a:pt x="54737" y="9398"/>
                </a:lnTo>
                <a:close/>
              </a:path>
              <a:path w="100330" h="548639">
                <a:moveTo>
                  <a:pt x="54737" y="11811"/>
                </a:moveTo>
                <a:lnTo>
                  <a:pt x="54101" y="11811"/>
                </a:lnTo>
                <a:lnTo>
                  <a:pt x="49974" y="18886"/>
                </a:lnTo>
                <a:lnTo>
                  <a:pt x="54737" y="27051"/>
                </a:lnTo>
                <a:lnTo>
                  <a:pt x="54737" y="11811"/>
                </a:lnTo>
                <a:close/>
              </a:path>
              <a:path w="100330" h="548639">
                <a:moveTo>
                  <a:pt x="54101" y="11811"/>
                </a:moveTo>
                <a:lnTo>
                  <a:pt x="45846" y="11811"/>
                </a:lnTo>
                <a:lnTo>
                  <a:pt x="49974" y="18886"/>
                </a:lnTo>
                <a:lnTo>
                  <a:pt x="54101" y="11811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3645" y="45466"/>
            <a:ext cx="41573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V-</a:t>
            </a:r>
            <a:r>
              <a:rPr sz="4000" dirty="0"/>
              <a:t>Model</a:t>
            </a:r>
            <a:r>
              <a:rPr sz="4000" spc="-65" dirty="0"/>
              <a:t> </a:t>
            </a:r>
            <a:r>
              <a:rPr sz="4000" spc="-20" dirty="0"/>
              <a:t>-</a:t>
            </a:r>
            <a:r>
              <a:rPr sz="4000" dirty="0"/>
              <a:t>The</a:t>
            </a:r>
            <a:r>
              <a:rPr sz="4000" spc="-65" dirty="0"/>
              <a:t> </a:t>
            </a:r>
            <a:r>
              <a:rPr sz="4000" spc="-10" dirty="0"/>
              <a:t>usage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46303" y="1095502"/>
            <a:ext cx="8029575" cy="46736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2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Software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requirements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clearly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defined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known. </a:t>
            </a:r>
            <a:r>
              <a:rPr sz="2700" dirty="0">
                <a:latin typeface="Calibri"/>
                <a:cs typeface="Calibri"/>
              </a:rPr>
              <a:t>Software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development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technologies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tools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well- known.</a:t>
            </a:r>
            <a:endParaRPr sz="2700">
              <a:latin typeface="Calibri"/>
              <a:cs typeface="Calibri"/>
            </a:endParaRPr>
          </a:p>
          <a:p>
            <a:pPr marL="355600" marR="346710" indent="-342900">
              <a:lnSpc>
                <a:spcPts val="2920"/>
              </a:lnSpc>
              <a:spcBef>
                <a:spcPts val="68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following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pointers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some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most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suitable </a:t>
            </a:r>
            <a:r>
              <a:rPr sz="2700" dirty="0">
                <a:latin typeface="Calibri"/>
                <a:cs typeface="Calibri"/>
              </a:rPr>
              <a:t>scenarios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V-</a:t>
            </a:r>
            <a:r>
              <a:rPr sz="2700" dirty="0">
                <a:latin typeface="Calibri"/>
                <a:cs typeface="Calibri"/>
              </a:rPr>
              <a:t>Model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application.</a:t>
            </a:r>
            <a:endParaRPr sz="2700">
              <a:latin typeface="Calibri"/>
              <a:cs typeface="Calibri"/>
            </a:endParaRPr>
          </a:p>
          <a:p>
            <a:pPr marL="755650" lvl="1" indent="-285750">
              <a:lnSpc>
                <a:spcPts val="2735"/>
              </a:lnSpc>
              <a:spcBef>
                <a:spcPts val="254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10" dirty="0">
                <a:latin typeface="Calibri"/>
                <a:cs typeface="Calibri"/>
              </a:rPr>
              <a:t>Requirements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well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defined,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clearly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documented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756285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fixed.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8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Product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definition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stable.</a:t>
            </a:r>
            <a:endParaRPr sz="2400">
              <a:latin typeface="Calibri"/>
              <a:cs typeface="Calibri"/>
            </a:endParaRPr>
          </a:p>
          <a:p>
            <a:pPr marL="755015" marR="294640" lvl="1" indent="-285750">
              <a:lnSpc>
                <a:spcPts val="2590"/>
              </a:lnSpc>
              <a:spcBef>
                <a:spcPts val="615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spc="-20" dirty="0">
                <a:latin typeface="Calibri"/>
                <a:cs typeface="Calibri"/>
              </a:rPr>
              <a:t>Technology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dynamic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understood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team.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54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ambiguous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undefined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requirements.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90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short.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35583" y="291401"/>
          <a:ext cx="7600950" cy="5387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7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7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92583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spc="-10" dirty="0">
                          <a:solidFill>
                            <a:srgbClr val="6F2F9F"/>
                          </a:solidFill>
                          <a:latin typeface="Cambria"/>
                          <a:cs typeface="Cambria"/>
                        </a:rPr>
                        <a:t>Advantages</a:t>
                      </a:r>
                      <a:endParaRPr sz="2800">
                        <a:latin typeface="Cambria"/>
                        <a:cs typeface="Cambria"/>
                      </a:endParaRPr>
                    </a:p>
                  </a:txBody>
                  <a:tcPr marL="0" marR="0" marT="36195" marB="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lnB w="952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26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spc="-10" dirty="0">
                          <a:solidFill>
                            <a:srgbClr val="6F2F9F"/>
                          </a:solidFill>
                          <a:latin typeface="Cambria"/>
                          <a:cs typeface="Cambria"/>
                        </a:rPr>
                        <a:t>Disadvantages</a:t>
                      </a:r>
                      <a:endParaRPr sz="2800">
                        <a:latin typeface="Cambria"/>
                        <a:cs typeface="Cambria"/>
                      </a:endParaRPr>
                    </a:p>
                  </a:txBody>
                  <a:tcPr marL="0" marR="0" marT="36195" marB="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lnB w="9525">
                      <a:solidFill>
                        <a:srgbClr val="EAEAE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0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23189" indent="-97155">
                        <a:lnSpc>
                          <a:spcPct val="100000"/>
                        </a:lnSpc>
                        <a:buSzPct val="95000"/>
                        <a:buFont typeface="Arial MT"/>
                        <a:buChar char="•"/>
                        <a:tabLst>
                          <a:tab pos="123189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Simple</a:t>
                      </a:r>
                      <a:r>
                        <a:rPr sz="20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easy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0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use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35560" marR="1106170" indent="-9525">
                        <a:lnSpc>
                          <a:spcPct val="100000"/>
                        </a:lnSpc>
                        <a:buSzPct val="95000"/>
                        <a:buFont typeface="Arial MT"/>
                        <a:buChar char="•"/>
                        <a:tabLst>
                          <a:tab pos="123189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	Each</a:t>
                      </a:r>
                      <a:r>
                        <a:rPr sz="20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phase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has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specific deliverables.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35560" marR="179070" indent="-9525">
                        <a:lnSpc>
                          <a:spcPct val="100000"/>
                        </a:lnSpc>
                        <a:buSzPct val="95000"/>
                        <a:buFont typeface="Arial MT"/>
                        <a:buChar char="•"/>
                        <a:tabLst>
                          <a:tab pos="123189" algn="l"/>
                        </a:tabLst>
                      </a:pPr>
                      <a:r>
                        <a:rPr sz="2000" b="1" dirty="0">
                          <a:latin typeface="Cambria"/>
                          <a:cs typeface="Cambria"/>
                        </a:rPr>
                        <a:t>	Higher</a:t>
                      </a:r>
                      <a:r>
                        <a:rPr sz="2000" b="1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chance</a:t>
                      </a:r>
                      <a:r>
                        <a:rPr sz="20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2000" b="1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success</a:t>
                      </a:r>
                      <a:r>
                        <a:rPr sz="2000" b="1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20" dirty="0">
                          <a:latin typeface="Cambria"/>
                          <a:cs typeface="Cambria"/>
                        </a:rPr>
                        <a:t>over 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b="1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10" dirty="0">
                          <a:latin typeface="Cambria"/>
                          <a:cs typeface="Cambria"/>
                        </a:rPr>
                        <a:t>waterfall</a:t>
                      </a:r>
                      <a:r>
                        <a:rPr sz="2000" b="1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model</a:t>
                      </a:r>
                      <a:r>
                        <a:rPr sz="2000" b="1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due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 the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development</a:t>
                      </a:r>
                      <a:r>
                        <a:rPr sz="20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test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plans</a:t>
                      </a:r>
                      <a:r>
                        <a:rPr sz="20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early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during</a:t>
                      </a:r>
                      <a:r>
                        <a:rPr sz="20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life</a:t>
                      </a:r>
                      <a:r>
                        <a:rPr sz="20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cycle.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35560" marR="1163320" indent="-9525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95000"/>
                        <a:buFont typeface="Arial MT"/>
                        <a:buChar char="•"/>
                        <a:tabLst>
                          <a:tab pos="123189" algn="l"/>
                        </a:tabLst>
                      </a:pPr>
                      <a:r>
                        <a:rPr sz="2000" spc="-20" dirty="0">
                          <a:latin typeface="Cambria"/>
                          <a:cs typeface="Cambria"/>
                        </a:rPr>
                        <a:t>	Works</a:t>
                      </a:r>
                      <a:r>
                        <a:rPr sz="20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well</a:t>
                      </a:r>
                      <a:r>
                        <a:rPr sz="20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for</a:t>
                      </a:r>
                      <a:r>
                        <a:rPr sz="20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where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requirements</a:t>
                      </a:r>
                      <a:r>
                        <a:rPr sz="20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20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easily understood.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35560" marR="196850" indent="-9525" algn="just">
                        <a:lnSpc>
                          <a:spcPct val="100000"/>
                        </a:lnSpc>
                        <a:buSzPct val="95000"/>
                        <a:buFont typeface="Arial MT"/>
                        <a:buChar char="•"/>
                        <a:tabLst>
                          <a:tab pos="123189" algn="l"/>
                        </a:tabLst>
                      </a:pPr>
                      <a:r>
                        <a:rPr sz="2000" b="1" spc="-20" dirty="0">
                          <a:latin typeface="Cambria"/>
                          <a:cs typeface="Cambria"/>
                        </a:rPr>
                        <a:t>	Verification</a:t>
                      </a:r>
                      <a:r>
                        <a:rPr sz="2000" b="1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b="1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validation</a:t>
                      </a:r>
                      <a:r>
                        <a:rPr sz="2000" b="1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25" dirty="0">
                          <a:latin typeface="Cambria"/>
                          <a:cs typeface="Cambria"/>
                        </a:rPr>
                        <a:t>of 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b="1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10" dirty="0">
                          <a:latin typeface="Cambria"/>
                          <a:cs typeface="Cambria"/>
                        </a:rPr>
                        <a:t>product</a:t>
                      </a:r>
                      <a:r>
                        <a:rPr sz="2000" b="1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2000" b="1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b="1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10" dirty="0">
                          <a:latin typeface="Cambria"/>
                          <a:cs typeface="Cambria"/>
                        </a:rPr>
                        <a:t>early</a:t>
                      </a:r>
                      <a:r>
                        <a:rPr sz="2000" b="1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10" dirty="0">
                          <a:latin typeface="Cambria"/>
                          <a:cs typeface="Cambria"/>
                        </a:rPr>
                        <a:t>stages 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2000" b="1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10" dirty="0">
                          <a:latin typeface="Cambria"/>
                          <a:cs typeface="Cambria"/>
                        </a:rPr>
                        <a:t>product</a:t>
                      </a:r>
                      <a:r>
                        <a:rPr sz="2000" b="1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10" dirty="0">
                          <a:latin typeface="Cambria"/>
                          <a:cs typeface="Cambria"/>
                        </a:rPr>
                        <a:t>development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54940" marB="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lnB w="952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6195" marR="147955" indent="-9525">
                        <a:lnSpc>
                          <a:spcPct val="100000"/>
                        </a:lnSpc>
                        <a:buSzPct val="95000"/>
                        <a:buFont typeface="Arial MT"/>
                        <a:buChar char="•"/>
                        <a:tabLst>
                          <a:tab pos="123825" algn="l"/>
                        </a:tabLst>
                      </a:pPr>
                      <a:r>
                        <a:rPr sz="2000" spc="-25" dirty="0">
                          <a:latin typeface="Cambria"/>
                          <a:cs typeface="Cambria"/>
                        </a:rPr>
                        <a:t>	Very</a:t>
                      </a:r>
                      <a:r>
                        <a:rPr sz="20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inflexible,</a:t>
                      </a:r>
                      <a:r>
                        <a:rPr sz="20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like</a:t>
                      </a:r>
                      <a:r>
                        <a:rPr sz="20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waterfall model.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36195" marR="316230" indent="-9525">
                        <a:lnSpc>
                          <a:spcPct val="100000"/>
                        </a:lnSpc>
                        <a:buSzPct val="95000"/>
                        <a:buFont typeface="Arial MT"/>
                        <a:buChar char="•"/>
                        <a:tabLst>
                          <a:tab pos="123825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	Adjusting</a:t>
                      </a:r>
                      <a:r>
                        <a:rPr sz="20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scope</a:t>
                      </a:r>
                      <a:r>
                        <a:rPr sz="20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20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difficult</a:t>
                      </a:r>
                      <a:r>
                        <a:rPr sz="20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and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expensive.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36195" marR="102235" indent="-9525">
                        <a:lnSpc>
                          <a:spcPct val="100000"/>
                        </a:lnSpc>
                        <a:buSzPct val="95000"/>
                        <a:buFont typeface="Arial MT"/>
                        <a:buChar char="•"/>
                        <a:tabLst>
                          <a:tab pos="123825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	The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software</a:t>
                      </a:r>
                      <a:r>
                        <a:rPr sz="20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2000" spc="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developed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during</a:t>
                      </a:r>
                      <a:r>
                        <a:rPr sz="20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implementation</a:t>
                      </a:r>
                      <a:r>
                        <a:rPr sz="2000" spc="5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phase,</a:t>
                      </a:r>
                      <a:r>
                        <a:rPr sz="20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so</a:t>
                      </a:r>
                      <a:r>
                        <a:rPr sz="20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no</a:t>
                      </a:r>
                      <a:r>
                        <a:rPr sz="2000" b="1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early</a:t>
                      </a:r>
                      <a:r>
                        <a:rPr sz="20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10" dirty="0">
                          <a:latin typeface="Cambria"/>
                          <a:cs typeface="Cambria"/>
                        </a:rPr>
                        <a:t>prototypes</a:t>
                      </a:r>
                      <a:r>
                        <a:rPr sz="2000" b="1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25" dirty="0">
                          <a:latin typeface="Cambria"/>
                          <a:cs typeface="Cambria"/>
                        </a:rPr>
                        <a:t>of 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b="1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10" dirty="0">
                          <a:latin typeface="Cambria"/>
                          <a:cs typeface="Cambria"/>
                        </a:rPr>
                        <a:t>software</a:t>
                      </a:r>
                      <a:r>
                        <a:rPr sz="2000" b="1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2000" b="1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10" dirty="0">
                          <a:latin typeface="Cambria"/>
                          <a:cs typeface="Cambria"/>
                        </a:rPr>
                        <a:t>produced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36195" marR="490220" indent="-9525" algn="just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95000"/>
                        <a:buFont typeface="Arial MT"/>
                        <a:buChar char="•"/>
                        <a:tabLst>
                          <a:tab pos="123825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	The</a:t>
                      </a:r>
                      <a:r>
                        <a:rPr sz="20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model</a:t>
                      </a:r>
                      <a:r>
                        <a:rPr sz="20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doesn’t</a:t>
                      </a:r>
                      <a:r>
                        <a:rPr sz="20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provide</a:t>
                      </a:r>
                      <a:r>
                        <a:rPr sz="20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50" dirty="0">
                          <a:latin typeface="Cambria"/>
                          <a:cs typeface="Cambria"/>
                        </a:rPr>
                        <a:t>a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clear</a:t>
                      </a:r>
                      <a:r>
                        <a:rPr sz="20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path</a:t>
                      </a:r>
                      <a:r>
                        <a:rPr sz="20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for</a:t>
                      </a:r>
                      <a:r>
                        <a:rPr sz="20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problems</a:t>
                      </a:r>
                      <a:r>
                        <a:rPr sz="20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found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during</a:t>
                      </a:r>
                      <a:r>
                        <a:rPr sz="20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testing</a:t>
                      </a:r>
                      <a:r>
                        <a:rPr sz="20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phases.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36195" marR="277495" indent="-9525" algn="just">
                        <a:lnSpc>
                          <a:spcPct val="100000"/>
                        </a:lnSpc>
                        <a:buSzPct val="95000"/>
                        <a:buFont typeface="Arial MT"/>
                        <a:buChar char="•"/>
                        <a:tabLst>
                          <a:tab pos="123825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	Costly</a:t>
                      </a:r>
                      <a:r>
                        <a:rPr sz="20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required</a:t>
                      </a:r>
                      <a:r>
                        <a:rPr sz="20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more</a:t>
                      </a:r>
                      <a:r>
                        <a:rPr sz="20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time,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20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addition</a:t>
                      </a:r>
                      <a:r>
                        <a:rPr sz="20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0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detailed</a:t>
                      </a:r>
                      <a:r>
                        <a:rPr sz="20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plan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54940" marB="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lnB w="9525">
                      <a:solidFill>
                        <a:srgbClr val="EAEAE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7752" y="316814"/>
            <a:ext cx="65112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rgbClr val="6F2F9F"/>
                </a:solidFill>
                <a:latin typeface="Cambria"/>
                <a:cs typeface="Cambria"/>
              </a:rPr>
              <a:t>Evolutionary</a:t>
            </a:r>
            <a:r>
              <a:rPr b="1" spc="-16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b="1" spc="-10" dirty="0">
                <a:solidFill>
                  <a:srgbClr val="6F2F9F"/>
                </a:solidFill>
                <a:latin typeface="Cambria"/>
                <a:cs typeface="Cambria"/>
              </a:rPr>
              <a:t>prototyping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02816"/>
            <a:ext cx="759777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mbria"/>
                <a:cs typeface="Cambria"/>
              </a:rPr>
              <a:t>Prototypes</a:t>
            </a:r>
            <a:r>
              <a:rPr sz="3200" spc="-10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that</a:t>
            </a:r>
            <a:r>
              <a:rPr sz="3200" spc="-65" dirty="0">
                <a:latin typeface="Cambria"/>
                <a:cs typeface="Cambria"/>
              </a:rPr>
              <a:t> </a:t>
            </a:r>
            <a:r>
              <a:rPr sz="3200" spc="-20" dirty="0">
                <a:latin typeface="Cambria"/>
                <a:cs typeface="Cambria"/>
              </a:rPr>
              <a:t>evolve</a:t>
            </a:r>
            <a:r>
              <a:rPr sz="3200" spc="-8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into</a:t>
            </a:r>
            <a:r>
              <a:rPr sz="3200" spc="-7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the</a:t>
            </a:r>
            <a:r>
              <a:rPr sz="3200" spc="-7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final </a:t>
            </a:r>
            <a:r>
              <a:rPr sz="3200" dirty="0">
                <a:latin typeface="Cambria"/>
                <a:cs typeface="Cambria"/>
              </a:rPr>
              <a:t>system</a:t>
            </a:r>
            <a:r>
              <a:rPr sz="3200" spc="-12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through</a:t>
            </a:r>
            <a:r>
              <a:rPr sz="3200" spc="-9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an</a:t>
            </a:r>
            <a:r>
              <a:rPr sz="3200" spc="-95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iterative</a:t>
            </a:r>
            <a:r>
              <a:rPr sz="3200" spc="-9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incorporation </a:t>
            </a:r>
            <a:r>
              <a:rPr sz="3200" dirty="0">
                <a:latin typeface="Cambria"/>
                <a:cs typeface="Cambria"/>
              </a:rPr>
              <a:t>of</a:t>
            </a:r>
            <a:r>
              <a:rPr sz="3200" spc="-2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user</a:t>
            </a:r>
            <a:r>
              <a:rPr sz="3200" spc="-2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feedback.</a:t>
            </a:r>
            <a:endParaRPr sz="32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6329" y="2379463"/>
            <a:ext cx="4355022" cy="44552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2114" y="143636"/>
            <a:ext cx="4779645" cy="123063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889635">
              <a:lnSpc>
                <a:spcPts val="4690"/>
              </a:lnSpc>
              <a:spcBef>
                <a:spcPts val="305"/>
              </a:spcBef>
            </a:pPr>
            <a:r>
              <a:rPr sz="4000" b="1" spc="-40" dirty="0">
                <a:solidFill>
                  <a:srgbClr val="6F2F9F"/>
                </a:solidFill>
                <a:latin typeface="Cambria"/>
                <a:cs typeface="Cambria"/>
              </a:rPr>
              <a:t>Iterative</a:t>
            </a:r>
            <a:r>
              <a:rPr sz="4000" b="1" spc="-1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4000" b="1" spc="-25" dirty="0">
                <a:solidFill>
                  <a:srgbClr val="6F2F9F"/>
                </a:solidFill>
                <a:latin typeface="Cambria"/>
                <a:cs typeface="Cambria"/>
              </a:rPr>
              <a:t>and </a:t>
            </a:r>
            <a:r>
              <a:rPr sz="4000" b="1" spc="-10" dirty="0">
                <a:solidFill>
                  <a:srgbClr val="6F2F9F"/>
                </a:solidFill>
                <a:latin typeface="Cambria"/>
                <a:cs typeface="Cambria"/>
              </a:rPr>
              <a:t>Incremental</a:t>
            </a:r>
            <a:r>
              <a:rPr sz="4000" b="1" spc="-19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4000" b="1" spc="-10" dirty="0">
                <a:solidFill>
                  <a:srgbClr val="6F2F9F"/>
                </a:solidFill>
                <a:latin typeface="Cambria"/>
                <a:cs typeface="Cambria"/>
              </a:rPr>
              <a:t>Method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317726"/>
            <a:ext cx="7722234" cy="465963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mbria"/>
                <a:cs typeface="Cambria"/>
              </a:rPr>
              <a:t>It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developed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overcome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weaknesses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waterfall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model.</a:t>
            </a:r>
            <a:endParaRPr sz="2000">
              <a:latin typeface="Cambria"/>
              <a:cs typeface="Cambria"/>
            </a:endParaRPr>
          </a:p>
          <a:p>
            <a:pPr marL="355600" marR="6921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mbria"/>
                <a:cs typeface="Cambria"/>
              </a:rPr>
              <a:t>It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starts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with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initial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planning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ends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with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deployment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with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the </a:t>
            </a:r>
            <a:r>
              <a:rPr sz="2000" dirty="0">
                <a:latin typeface="Cambria"/>
                <a:cs typeface="Cambria"/>
              </a:rPr>
              <a:t>cyclic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interactions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between.</a:t>
            </a:r>
            <a:endParaRPr sz="2000">
              <a:latin typeface="Cambria"/>
              <a:cs typeface="Cambria"/>
            </a:endParaRPr>
          </a:p>
          <a:p>
            <a:pPr marL="355600" marR="31369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basic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idea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behind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this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method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develop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system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through </a:t>
            </a:r>
            <a:r>
              <a:rPr sz="2000" b="1" spc="-10" dirty="0">
                <a:latin typeface="Cambria"/>
                <a:cs typeface="Cambria"/>
              </a:rPr>
              <a:t>repeated</a:t>
            </a:r>
            <a:r>
              <a:rPr sz="2000" b="1" spc="-5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cycles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spc="-20" dirty="0">
                <a:latin typeface="Cambria"/>
                <a:cs typeface="Cambria"/>
              </a:rPr>
              <a:t>(iterative)</a:t>
            </a:r>
            <a:r>
              <a:rPr sz="2000" b="1" spc="-5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and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in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smaller</a:t>
            </a:r>
            <a:r>
              <a:rPr sz="2000" b="1" spc="-5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portions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at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time </a:t>
            </a:r>
            <a:r>
              <a:rPr sz="2000" spc="-10" dirty="0">
                <a:latin typeface="Cambria"/>
                <a:cs typeface="Cambria"/>
              </a:rPr>
              <a:t>(incremental),</a:t>
            </a:r>
            <a:endParaRPr sz="2000">
              <a:latin typeface="Cambria"/>
              <a:cs typeface="Cambria"/>
            </a:endParaRPr>
          </a:p>
          <a:p>
            <a:pPr marL="355600" marR="27559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mbria"/>
                <a:cs typeface="Cambria"/>
              </a:rPr>
              <a:t>allowing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software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developers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take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advantage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what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was </a:t>
            </a:r>
            <a:r>
              <a:rPr sz="2000" dirty="0">
                <a:latin typeface="Cambria"/>
                <a:cs typeface="Cambria"/>
              </a:rPr>
              <a:t>learned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during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development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earlier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parts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versions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the </a:t>
            </a:r>
            <a:r>
              <a:rPr sz="2000" spc="-10" dirty="0">
                <a:latin typeface="Cambria"/>
                <a:cs typeface="Cambria"/>
              </a:rPr>
              <a:t>system.</a:t>
            </a:r>
            <a:endParaRPr sz="20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mbria"/>
                <a:cs typeface="Cambria"/>
              </a:rPr>
              <a:t>It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can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consist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mini</a:t>
            </a:r>
            <a:r>
              <a:rPr sz="2000" b="1" spc="-5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waterfalls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or</a:t>
            </a:r>
            <a:r>
              <a:rPr sz="2000" b="1" spc="-1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mini</a:t>
            </a:r>
            <a:r>
              <a:rPr sz="2000" b="1" spc="-5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V-Shaped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model</a:t>
            </a:r>
            <a:endParaRPr sz="2000">
              <a:latin typeface="Cambria"/>
              <a:cs typeface="Cambria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latin typeface="Cambria"/>
                <a:cs typeface="Cambria"/>
              </a:rPr>
              <a:t>Development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begins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by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specifying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implementing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just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part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the </a:t>
            </a:r>
            <a:r>
              <a:rPr sz="2000" spc="-10" dirty="0">
                <a:latin typeface="Cambria"/>
                <a:cs typeface="Cambria"/>
              </a:rPr>
              <a:t>software,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which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then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reviewed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identify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further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requirements. </a:t>
            </a:r>
            <a:r>
              <a:rPr sz="2000" dirty="0">
                <a:latin typeface="Cambria"/>
                <a:cs typeface="Cambria"/>
              </a:rPr>
              <a:t>This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process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then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repeated,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producing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new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version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the </a:t>
            </a:r>
            <a:r>
              <a:rPr sz="2000" spc="-10" dirty="0">
                <a:latin typeface="Cambria"/>
                <a:cs typeface="Cambria"/>
              </a:rPr>
              <a:t>software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at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end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each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iteration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model.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659" y="3349713"/>
            <a:ext cx="7307707" cy="29596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4819" y="566673"/>
            <a:ext cx="7058659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4114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iteration,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design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modifications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functional </a:t>
            </a:r>
            <a:r>
              <a:rPr sz="1800" dirty="0">
                <a:latin typeface="Calibri"/>
                <a:cs typeface="Calibri"/>
              </a:rPr>
              <a:t>capabilities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added.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"During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software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development,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iteration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software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development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cycle may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progress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time.“</a:t>
            </a:r>
            <a:endParaRPr sz="18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requirement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divided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various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builds.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During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each </a:t>
            </a:r>
            <a:r>
              <a:rPr sz="1800" spc="-10" dirty="0">
                <a:latin typeface="Calibri"/>
                <a:cs typeface="Calibri"/>
              </a:rPr>
              <a:t>iteration,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development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module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through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requirements, </a:t>
            </a:r>
            <a:r>
              <a:rPr sz="1800" dirty="0">
                <a:latin typeface="Calibri"/>
                <a:cs typeface="Calibri"/>
              </a:rPr>
              <a:t>design,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implementation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testing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phases.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subsequent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release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module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previous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release.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continues </a:t>
            </a:r>
            <a:r>
              <a:rPr sz="1800" dirty="0">
                <a:latin typeface="Calibri"/>
                <a:cs typeface="Calibri"/>
              </a:rPr>
              <a:t>till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complete</a:t>
            </a:r>
            <a:r>
              <a:rPr sz="1800" spc="-10" dirty="0">
                <a:latin typeface="Calibri"/>
                <a:cs typeface="Calibri"/>
              </a:rPr>
              <a:t> system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ready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requirement.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9767" rIns="0" bIns="0" rtlCol="0">
            <a:spAutoFit/>
          </a:bodyPr>
          <a:lstStyle/>
          <a:p>
            <a:pPr marL="7620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Iterative</a:t>
            </a:r>
            <a:r>
              <a:rPr spc="-100" dirty="0"/>
              <a:t> </a:t>
            </a:r>
            <a:r>
              <a:rPr spc="-10" dirty="0"/>
              <a:t>Model-</a:t>
            </a:r>
            <a:r>
              <a:rPr dirty="0"/>
              <a:t>The</a:t>
            </a:r>
            <a:r>
              <a:rPr spc="-100" dirty="0"/>
              <a:t> </a:t>
            </a:r>
            <a:r>
              <a:rPr spc="-10" dirty="0"/>
              <a:t>Usage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233045" indent="-342900">
              <a:lnSpc>
                <a:spcPts val="24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10" dirty="0"/>
              <a:t>Requirements</a:t>
            </a:r>
            <a:r>
              <a:rPr sz="2500" spc="-40" dirty="0"/>
              <a:t> </a:t>
            </a:r>
            <a:r>
              <a:rPr sz="2500" dirty="0"/>
              <a:t>of</a:t>
            </a:r>
            <a:r>
              <a:rPr sz="2500" spc="-75" dirty="0"/>
              <a:t> </a:t>
            </a:r>
            <a:r>
              <a:rPr sz="2500" dirty="0"/>
              <a:t>the</a:t>
            </a:r>
            <a:r>
              <a:rPr sz="2500" spc="-70" dirty="0"/>
              <a:t> </a:t>
            </a:r>
            <a:r>
              <a:rPr sz="2500" dirty="0"/>
              <a:t>complete</a:t>
            </a:r>
            <a:r>
              <a:rPr sz="2500" spc="-50" dirty="0"/>
              <a:t> </a:t>
            </a:r>
            <a:r>
              <a:rPr sz="2500" spc="-10" dirty="0"/>
              <a:t>system</a:t>
            </a:r>
            <a:r>
              <a:rPr sz="2500" spc="-50" dirty="0"/>
              <a:t> </a:t>
            </a:r>
            <a:r>
              <a:rPr sz="2500" dirty="0"/>
              <a:t>are</a:t>
            </a:r>
            <a:r>
              <a:rPr sz="2500" spc="-65" dirty="0"/>
              <a:t> </a:t>
            </a:r>
            <a:r>
              <a:rPr sz="2500" dirty="0"/>
              <a:t>clearly</a:t>
            </a:r>
            <a:r>
              <a:rPr sz="2500" spc="-65" dirty="0"/>
              <a:t> </a:t>
            </a:r>
            <a:r>
              <a:rPr sz="2500" spc="-10" dirty="0"/>
              <a:t>defined </a:t>
            </a:r>
            <a:r>
              <a:rPr sz="2500" dirty="0"/>
              <a:t>and</a:t>
            </a:r>
            <a:r>
              <a:rPr sz="2500" spc="-40" dirty="0"/>
              <a:t> </a:t>
            </a:r>
            <a:r>
              <a:rPr sz="2500" spc="-10" dirty="0"/>
              <a:t>understood.</a:t>
            </a:r>
            <a:endParaRPr sz="2500"/>
          </a:p>
          <a:p>
            <a:pPr marL="355600" marR="516255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/>
              <a:t>Major</a:t>
            </a:r>
            <a:r>
              <a:rPr sz="2500" spc="-75" dirty="0"/>
              <a:t> </a:t>
            </a:r>
            <a:r>
              <a:rPr sz="2500" spc="-10" dirty="0"/>
              <a:t>requirements</a:t>
            </a:r>
            <a:r>
              <a:rPr sz="2500" spc="-40" dirty="0"/>
              <a:t> </a:t>
            </a:r>
            <a:r>
              <a:rPr sz="2500" dirty="0"/>
              <a:t>must</a:t>
            </a:r>
            <a:r>
              <a:rPr sz="2500" spc="-70" dirty="0"/>
              <a:t> </a:t>
            </a:r>
            <a:r>
              <a:rPr sz="2500" dirty="0"/>
              <a:t>be</a:t>
            </a:r>
            <a:r>
              <a:rPr sz="2500" spc="-50" dirty="0"/>
              <a:t> </a:t>
            </a:r>
            <a:r>
              <a:rPr sz="2500" dirty="0"/>
              <a:t>defined;</a:t>
            </a:r>
            <a:r>
              <a:rPr sz="2500" spc="-45" dirty="0"/>
              <a:t> </a:t>
            </a:r>
            <a:r>
              <a:rPr sz="2500" spc="-35" dirty="0"/>
              <a:t>however,</a:t>
            </a:r>
            <a:r>
              <a:rPr sz="2500" spc="-70" dirty="0"/>
              <a:t> </a:t>
            </a:r>
            <a:r>
              <a:rPr sz="2500" spc="-20" dirty="0"/>
              <a:t>some </a:t>
            </a:r>
            <a:r>
              <a:rPr sz="2500" dirty="0"/>
              <a:t>functionalities</a:t>
            </a:r>
            <a:r>
              <a:rPr sz="2500" spc="-80" dirty="0"/>
              <a:t> </a:t>
            </a:r>
            <a:r>
              <a:rPr sz="2500" dirty="0"/>
              <a:t>or</a:t>
            </a:r>
            <a:r>
              <a:rPr sz="2500" spc="-95" dirty="0"/>
              <a:t> </a:t>
            </a:r>
            <a:r>
              <a:rPr sz="2500" spc="-10" dirty="0"/>
              <a:t>requested</a:t>
            </a:r>
            <a:r>
              <a:rPr sz="2500" spc="-80" dirty="0"/>
              <a:t> </a:t>
            </a:r>
            <a:r>
              <a:rPr sz="2500" dirty="0"/>
              <a:t>enhancements</a:t>
            </a:r>
            <a:r>
              <a:rPr sz="2500" spc="-50" dirty="0"/>
              <a:t> </a:t>
            </a:r>
            <a:r>
              <a:rPr sz="2500" dirty="0"/>
              <a:t>may</a:t>
            </a:r>
            <a:r>
              <a:rPr sz="2500" spc="-80" dirty="0"/>
              <a:t> </a:t>
            </a:r>
            <a:r>
              <a:rPr sz="2500" spc="-10" dirty="0"/>
              <a:t>evolve </a:t>
            </a:r>
            <a:r>
              <a:rPr sz="2500" dirty="0"/>
              <a:t>with</a:t>
            </a:r>
            <a:r>
              <a:rPr sz="2500" spc="-50" dirty="0"/>
              <a:t> </a:t>
            </a:r>
            <a:r>
              <a:rPr sz="2500" spc="-10" dirty="0"/>
              <a:t>time.</a:t>
            </a:r>
            <a:endParaRPr sz="2500"/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</a:tabLst>
            </a:pPr>
            <a:r>
              <a:rPr sz="2500" dirty="0"/>
              <a:t>There</a:t>
            </a:r>
            <a:r>
              <a:rPr sz="2500" spc="-30" dirty="0"/>
              <a:t> </a:t>
            </a:r>
            <a:r>
              <a:rPr sz="2500" dirty="0"/>
              <a:t>is</a:t>
            </a:r>
            <a:r>
              <a:rPr sz="2500" spc="-45" dirty="0"/>
              <a:t> </a:t>
            </a:r>
            <a:r>
              <a:rPr sz="2500" dirty="0"/>
              <a:t>a</a:t>
            </a:r>
            <a:r>
              <a:rPr sz="2500" spc="-45" dirty="0"/>
              <a:t> </a:t>
            </a:r>
            <a:r>
              <a:rPr sz="2500" dirty="0"/>
              <a:t>time</a:t>
            </a:r>
            <a:r>
              <a:rPr sz="2500" spc="-40" dirty="0"/>
              <a:t> </a:t>
            </a:r>
            <a:r>
              <a:rPr sz="2500" dirty="0"/>
              <a:t>to</a:t>
            </a:r>
            <a:r>
              <a:rPr sz="2500" spc="-45" dirty="0"/>
              <a:t> </a:t>
            </a:r>
            <a:r>
              <a:rPr sz="2500" dirty="0"/>
              <a:t>the</a:t>
            </a:r>
            <a:r>
              <a:rPr sz="2500" spc="-40" dirty="0"/>
              <a:t> </a:t>
            </a:r>
            <a:r>
              <a:rPr sz="2500" spc="-10" dirty="0"/>
              <a:t>market</a:t>
            </a:r>
            <a:r>
              <a:rPr sz="2500" spc="-35" dirty="0"/>
              <a:t> </a:t>
            </a:r>
            <a:r>
              <a:rPr sz="2500" spc="-10" dirty="0"/>
              <a:t>constraint.</a:t>
            </a:r>
            <a:endParaRPr sz="2500"/>
          </a:p>
          <a:p>
            <a:pPr marL="355600" marR="207010" indent="-342900">
              <a:lnSpc>
                <a:spcPts val="2400"/>
              </a:lnSpc>
              <a:spcBef>
                <a:spcPts val="58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/>
              <a:t>A</a:t>
            </a:r>
            <a:r>
              <a:rPr sz="2500" spc="-45" dirty="0"/>
              <a:t> </a:t>
            </a:r>
            <a:r>
              <a:rPr sz="2500" dirty="0"/>
              <a:t>new</a:t>
            </a:r>
            <a:r>
              <a:rPr sz="2500" spc="-45" dirty="0"/>
              <a:t> </a:t>
            </a:r>
            <a:r>
              <a:rPr sz="2500" dirty="0"/>
              <a:t>technology</a:t>
            </a:r>
            <a:r>
              <a:rPr sz="2500" spc="-50" dirty="0"/>
              <a:t> </a:t>
            </a:r>
            <a:r>
              <a:rPr sz="2500" dirty="0"/>
              <a:t>is</a:t>
            </a:r>
            <a:r>
              <a:rPr sz="2500" spc="-50" dirty="0"/>
              <a:t> </a:t>
            </a:r>
            <a:r>
              <a:rPr sz="2500" dirty="0"/>
              <a:t>being</a:t>
            </a:r>
            <a:r>
              <a:rPr sz="2500" spc="-30" dirty="0"/>
              <a:t> </a:t>
            </a:r>
            <a:r>
              <a:rPr sz="2500" dirty="0"/>
              <a:t>used</a:t>
            </a:r>
            <a:r>
              <a:rPr sz="2500" spc="-30" dirty="0"/>
              <a:t> </a:t>
            </a:r>
            <a:r>
              <a:rPr sz="2500" dirty="0"/>
              <a:t>and</a:t>
            </a:r>
            <a:r>
              <a:rPr sz="2500" spc="-35" dirty="0"/>
              <a:t> </a:t>
            </a:r>
            <a:r>
              <a:rPr sz="2500" dirty="0"/>
              <a:t>is</a:t>
            </a:r>
            <a:r>
              <a:rPr sz="2500" spc="-50" dirty="0"/>
              <a:t> </a:t>
            </a:r>
            <a:r>
              <a:rPr sz="2500" dirty="0"/>
              <a:t>being</a:t>
            </a:r>
            <a:r>
              <a:rPr sz="2500" spc="-40" dirty="0"/>
              <a:t> </a:t>
            </a:r>
            <a:r>
              <a:rPr sz="2500" dirty="0"/>
              <a:t>learnt</a:t>
            </a:r>
            <a:r>
              <a:rPr sz="2500" spc="-40" dirty="0"/>
              <a:t> </a:t>
            </a:r>
            <a:r>
              <a:rPr sz="2500" dirty="0"/>
              <a:t>by</a:t>
            </a:r>
            <a:r>
              <a:rPr sz="2500" spc="-30" dirty="0"/>
              <a:t> </a:t>
            </a:r>
            <a:r>
              <a:rPr sz="2500" spc="-25" dirty="0"/>
              <a:t>the </a:t>
            </a:r>
            <a:r>
              <a:rPr sz="2500" spc="-10" dirty="0"/>
              <a:t>development</a:t>
            </a:r>
            <a:r>
              <a:rPr sz="2500" spc="-40" dirty="0"/>
              <a:t> </a:t>
            </a:r>
            <a:r>
              <a:rPr sz="2500" dirty="0"/>
              <a:t>team</a:t>
            </a:r>
            <a:r>
              <a:rPr sz="2500" spc="-50" dirty="0"/>
              <a:t> </a:t>
            </a:r>
            <a:r>
              <a:rPr sz="2500" dirty="0"/>
              <a:t>while</a:t>
            </a:r>
            <a:r>
              <a:rPr sz="2500" spc="-35" dirty="0"/>
              <a:t> </a:t>
            </a:r>
            <a:r>
              <a:rPr sz="2500" dirty="0"/>
              <a:t>working</a:t>
            </a:r>
            <a:r>
              <a:rPr sz="2500" spc="-50" dirty="0"/>
              <a:t> </a:t>
            </a:r>
            <a:r>
              <a:rPr sz="2500" dirty="0"/>
              <a:t>on</a:t>
            </a:r>
            <a:r>
              <a:rPr sz="2500" spc="-65" dirty="0"/>
              <a:t> </a:t>
            </a:r>
            <a:r>
              <a:rPr sz="2500" dirty="0"/>
              <a:t>the</a:t>
            </a:r>
            <a:r>
              <a:rPr sz="2500" spc="-30" dirty="0"/>
              <a:t> </a:t>
            </a:r>
            <a:r>
              <a:rPr sz="2500" spc="-10" dirty="0"/>
              <a:t>project.</a:t>
            </a:r>
            <a:endParaRPr sz="2500"/>
          </a:p>
          <a:p>
            <a:pPr marL="355600" marR="5080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10" dirty="0"/>
              <a:t>Resources</a:t>
            </a:r>
            <a:r>
              <a:rPr sz="2500" spc="-45" dirty="0"/>
              <a:t> </a:t>
            </a:r>
            <a:r>
              <a:rPr sz="2500" dirty="0"/>
              <a:t>with</a:t>
            </a:r>
            <a:r>
              <a:rPr sz="2500" spc="-55" dirty="0"/>
              <a:t> </a:t>
            </a:r>
            <a:r>
              <a:rPr sz="2500" dirty="0"/>
              <a:t>needed</a:t>
            </a:r>
            <a:r>
              <a:rPr sz="2500" spc="-45" dirty="0"/>
              <a:t> </a:t>
            </a:r>
            <a:r>
              <a:rPr sz="2500" dirty="0"/>
              <a:t>skill</a:t>
            </a:r>
            <a:r>
              <a:rPr sz="2500" spc="-55" dirty="0"/>
              <a:t> </a:t>
            </a:r>
            <a:r>
              <a:rPr sz="2500" dirty="0"/>
              <a:t>sets</a:t>
            </a:r>
            <a:r>
              <a:rPr sz="2500" spc="-60" dirty="0"/>
              <a:t> </a:t>
            </a:r>
            <a:r>
              <a:rPr sz="2500" dirty="0"/>
              <a:t>are</a:t>
            </a:r>
            <a:r>
              <a:rPr sz="2500" spc="-55" dirty="0"/>
              <a:t> </a:t>
            </a:r>
            <a:r>
              <a:rPr sz="2500" dirty="0"/>
              <a:t>not</a:t>
            </a:r>
            <a:r>
              <a:rPr sz="2500" spc="-55" dirty="0"/>
              <a:t> </a:t>
            </a:r>
            <a:r>
              <a:rPr sz="2500" dirty="0"/>
              <a:t>available</a:t>
            </a:r>
            <a:r>
              <a:rPr sz="2500" spc="-60" dirty="0"/>
              <a:t> </a:t>
            </a:r>
            <a:r>
              <a:rPr sz="2500" dirty="0"/>
              <a:t>and</a:t>
            </a:r>
            <a:r>
              <a:rPr sz="2500" spc="-45" dirty="0"/>
              <a:t> </a:t>
            </a:r>
            <a:r>
              <a:rPr sz="2500" spc="-25" dirty="0"/>
              <a:t>are </a:t>
            </a:r>
            <a:r>
              <a:rPr sz="2500" dirty="0"/>
              <a:t>planned</a:t>
            </a:r>
            <a:r>
              <a:rPr sz="2500" spc="-50" dirty="0"/>
              <a:t> </a:t>
            </a:r>
            <a:r>
              <a:rPr sz="2500" dirty="0"/>
              <a:t>to</a:t>
            </a:r>
            <a:r>
              <a:rPr sz="2500" spc="-60" dirty="0"/>
              <a:t> </a:t>
            </a:r>
            <a:r>
              <a:rPr sz="2500" dirty="0"/>
              <a:t>be</a:t>
            </a:r>
            <a:r>
              <a:rPr sz="2500" spc="-45" dirty="0"/>
              <a:t> </a:t>
            </a:r>
            <a:r>
              <a:rPr sz="2500" dirty="0"/>
              <a:t>used</a:t>
            </a:r>
            <a:r>
              <a:rPr sz="2500" spc="-50" dirty="0"/>
              <a:t> </a:t>
            </a:r>
            <a:r>
              <a:rPr sz="2500" dirty="0"/>
              <a:t>on</a:t>
            </a:r>
            <a:r>
              <a:rPr sz="2500" spc="-55" dirty="0"/>
              <a:t> </a:t>
            </a:r>
            <a:r>
              <a:rPr sz="2500" dirty="0"/>
              <a:t>contract</a:t>
            </a:r>
            <a:r>
              <a:rPr sz="2500" spc="-55" dirty="0"/>
              <a:t> </a:t>
            </a:r>
            <a:r>
              <a:rPr sz="2500" dirty="0"/>
              <a:t>basis</a:t>
            </a:r>
            <a:r>
              <a:rPr sz="2500" spc="-65" dirty="0"/>
              <a:t> </a:t>
            </a:r>
            <a:r>
              <a:rPr sz="2500" dirty="0"/>
              <a:t>for</a:t>
            </a:r>
            <a:r>
              <a:rPr sz="2500" spc="-50" dirty="0"/>
              <a:t> </a:t>
            </a:r>
            <a:r>
              <a:rPr sz="2500" dirty="0"/>
              <a:t>specific</a:t>
            </a:r>
            <a:r>
              <a:rPr sz="2500" spc="-35" dirty="0"/>
              <a:t> </a:t>
            </a:r>
            <a:r>
              <a:rPr sz="2500" spc="-10" dirty="0"/>
              <a:t>iterations.</a:t>
            </a:r>
            <a:endParaRPr sz="2500"/>
          </a:p>
          <a:p>
            <a:pPr marL="355600" marR="540385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/>
              <a:t>There</a:t>
            </a:r>
            <a:r>
              <a:rPr sz="2500" spc="-55" dirty="0"/>
              <a:t> </a:t>
            </a:r>
            <a:r>
              <a:rPr sz="2500" dirty="0"/>
              <a:t>are</a:t>
            </a:r>
            <a:r>
              <a:rPr sz="2500" spc="-55" dirty="0"/>
              <a:t> </a:t>
            </a:r>
            <a:r>
              <a:rPr sz="2500" dirty="0"/>
              <a:t>some</a:t>
            </a:r>
            <a:r>
              <a:rPr sz="2500" spc="-60" dirty="0"/>
              <a:t> </a:t>
            </a:r>
            <a:r>
              <a:rPr sz="2500" spc="-10" dirty="0"/>
              <a:t>high-</a:t>
            </a:r>
            <a:r>
              <a:rPr sz="2500" dirty="0"/>
              <a:t>risk</a:t>
            </a:r>
            <a:r>
              <a:rPr sz="2500" spc="-65" dirty="0"/>
              <a:t> </a:t>
            </a:r>
            <a:r>
              <a:rPr sz="2500" spc="-10" dirty="0"/>
              <a:t>features</a:t>
            </a:r>
            <a:r>
              <a:rPr sz="2500" spc="-60" dirty="0"/>
              <a:t> </a:t>
            </a:r>
            <a:r>
              <a:rPr sz="2500" dirty="0"/>
              <a:t>and</a:t>
            </a:r>
            <a:r>
              <a:rPr sz="2500" spc="-65" dirty="0"/>
              <a:t> </a:t>
            </a:r>
            <a:r>
              <a:rPr sz="2500" dirty="0"/>
              <a:t>goals</a:t>
            </a:r>
            <a:r>
              <a:rPr sz="2500" spc="-85" dirty="0"/>
              <a:t> </a:t>
            </a:r>
            <a:r>
              <a:rPr sz="2500" dirty="0"/>
              <a:t>which</a:t>
            </a:r>
            <a:r>
              <a:rPr sz="2500" spc="-65" dirty="0"/>
              <a:t> </a:t>
            </a:r>
            <a:r>
              <a:rPr sz="2500" spc="-25" dirty="0"/>
              <a:t>may </a:t>
            </a:r>
            <a:r>
              <a:rPr sz="2500" dirty="0"/>
              <a:t>change</a:t>
            </a:r>
            <a:r>
              <a:rPr sz="2500" spc="-30" dirty="0"/>
              <a:t> </a:t>
            </a:r>
            <a:r>
              <a:rPr sz="2500" dirty="0"/>
              <a:t>in</a:t>
            </a:r>
            <a:r>
              <a:rPr sz="2500" spc="-40" dirty="0"/>
              <a:t> </a:t>
            </a:r>
            <a:r>
              <a:rPr sz="2500" dirty="0"/>
              <a:t>the</a:t>
            </a:r>
            <a:r>
              <a:rPr sz="2500" spc="-40" dirty="0"/>
              <a:t> </a:t>
            </a:r>
            <a:r>
              <a:rPr sz="2500" spc="-10" dirty="0"/>
              <a:t>future</a:t>
            </a:r>
            <a:endParaRPr sz="2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0119" y="124015"/>
            <a:ext cx="8770620" cy="6734175"/>
            <a:chOff x="140119" y="124015"/>
            <a:chExt cx="8770620" cy="6734175"/>
          </a:xfrm>
        </p:grpSpPr>
        <p:sp>
          <p:nvSpPr>
            <p:cNvPr id="3" name="object 3"/>
            <p:cNvSpPr/>
            <p:nvPr/>
          </p:nvSpPr>
          <p:spPr>
            <a:xfrm>
              <a:off x="4520501" y="124079"/>
              <a:ext cx="9525" cy="6734175"/>
            </a:xfrm>
            <a:custGeom>
              <a:avLst/>
              <a:gdLst/>
              <a:ahLst/>
              <a:cxnLst/>
              <a:rect l="l" t="t" r="r" b="b"/>
              <a:pathLst>
                <a:path w="9525" h="6734175">
                  <a:moveTo>
                    <a:pt x="9525" y="0"/>
                  </a:moveTo>
                  <a:lnTo>
                    <a:pt x="0" y="0"/>
                  </a:lnTo>
                  <a:lnTo>
                    <a:pt x="0" y="6733921"/>
                  </a:lnTo>
                  <a:lnTo>
                    <a:pt x="9525" y="6733921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0119" y="940180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327" y="0"/>
                  </a:lnTo>
                </a:path>
              </a:pathLst>
            </a:custGeom>
            <a:ln w="9525">
              <a:solidFill>
                <a:srgbClr val="EAEA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0119" y="124078"/>
              <a:ext cx="8770620" cy="6734175"/>
            </a:xfrm>
            <a:custGeom>
              <a:avLst/>
              <a:gdLst/>
              <a:ahLst/>
              <a:cxnLst/>
              <a:rect l="l" t="t" r="r" b="b"/>
              <a:pathLst>
                <a:path w="8770620" h="6734175">
                  <a:moveTo>
                    <a:pt x="9525" y="0"/>
                  </a:moveTo>
                  <a:lnTo>
                    <a:pt x="0" y="0"/>
                  </a:lnTo>
                  <a:lnTo>
                    <a:pt x="0" y="6733921"/>
                  </a:lnTo>
                  <a:lnTo>
                    <a:pt x="9525" y="6733921"/>
                  </a:lnTo>
                  <a:lnTo>
                    <a:pt x="9525" y="0"/>
                  </a:lnTo>
                  <a:close/>
                </a:path>
                <a:path w="8770620" h="6734175">
                  <a:moveTo>
                    <a:pt x="8770391" y="0"/>
                  </a:moveTo>
                  <a:lnTo>
                    <a:pt x="8760866" y="0"/>
                  </a:lnTo>
                  <a:lnTo>
                    <a:pt x="8760866" y="6733921"/>
                  </a:lnTo>
                  <a:lnTo>
                    <a:pt x="8770391" y="6733921"/>
                  </a:lnTo>
                  <a:lnTo>
                    <a:pt x="8770391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0119" y="128778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327" y="0"/>
                  </a:lnTo>
                </a:path>
              </a:pathLst>
            </a:custGeom>
            <a:ln w="9525">
              <a:solidFill>
                <a:srgbClr val="EAEA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69567" y="299466"/>
            <a:ext cx="18980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solidFill>
                  <a:srgbClr val="6F2F9F"/>
                </a:solidFill>
                <a:latin typeface="Cambria"/>
                <a:cs typeface="Cambria"/>
              </a:rPr>
              <a:t>Advantages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06592" y="299466"/>
            <a:ext cx="23856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6F2F9F"/>
                </a:solidFill>
                <a:latin typeface="Cambria"/>
                <a:cs typeface="Cambria"/>
              </a:rPr>
              <a:t>Disadvantages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6217" y="1695450"/>
            <a:ext cx="4024629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8255">
              <a:lnSpc>
                <a:spcPct val="100000"/>
              </a:lnSpc>
              <a:spcBef>
                <a:spcPts val="10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Cambria"/>
                <a:cs typeface="Cambria"/>
              </a:rPr>
              <a:t>	Produces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business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value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early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development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lifecycle.</a:t>
            </a:r>
            <a:endParaRPr sz="2400">
              <a:latin typeface="Cambria"/>
              <a:cs typeface="Cambria"/>
            </a:endParaRPr>
          </a:p>
          <a:p>
            <a:pPr marL="12700" marR="25400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Cambria"/>
                <a:cs typeface="Cambria"/>
              </a:rPr>
              <a:t>	Better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scarce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resources </a:t>
            </a:r>
            <a:r>
              <a:rPr sz="2400" dirty="0">
                <a:latin typeface="Cambria"/>
                <a:cs typeface="Cambria"/>
              </a:rPr>
              <a:t>through</a:t>
            </a:r>
            <a:r>
              <a:rPr sz="2400" spc="-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proper</a:t>
            </a:r>
            <a:r>
              <a:rPr sz="2400" spc="-10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increment definition.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217" y="3890264"/>
            <a:ext cx="393001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requests</a:t>
            </a:r>
            <a:r>
              <a:rPr sz="2400" spc="-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between</a:t>
            </a:r>
            <a:r>
              <a:rPr sz="2400" spc="-11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increments.</a:t>
            </a:r>
            <a:endParaRPr sz="2400">
              <a:latin typeface="Cambria"/>
              <a:cs typeface="Cambria"/>
            </a:endParaRPr>
          </a:p>
          <a:p>
            <a:pPr marL="12700" marR="363220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Cambria"/>
                <a:cs typeface="Cambria"/>
              </a:rPr>
              <a:t>	More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focused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customer </a:t>
            </a:r>
            <a:r>
              <a:rPr sz="2400" dirty="0">
                <a:latin typeface="Cambria"/>
                <a:cs typeface="Cambria"/>
              </a:rPr>
              <a:t>value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linear approaches.</a:t>
            </a:r>
            <a:endParaRPr sz="2400">
              <a:latin typeface="Cambria"/>
              <a:cs typeface="Cambria"/>
            </a:endParaRPr>
          </a:p>
          <a:p>
            <a:pPr marL="12700" marR="149225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spc="-55" dirty="0">
                <a:latin typeface="Cambria"/>
                <a:cs typeface="Cambria"/>
              </a:rPr>
              <a:t>	We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detect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project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issues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changes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earlier.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47361" y="963548"/>
            <a:ext cx="422910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4300">
              <a:lnSpc>
                <a:spcPct val="100000"/>
              </a:lnSpc>
              <a:spcBef>
                <a:spcPts val="10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Cambria"/>
                <a:cs typeface="Cambria"/>
              </a:rPr>
              <a:t>Requires</a:t>
            </a:r>
            <a:r>
              <a:rPr sz="2400" spc="-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heavy</a:t>
            </a:r>
            <a:r>
              <a:rPr sz="2400" spc="-11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documentation.</a:t>
            </a:r>
            <a:endParaRPr sz="2400">
              <a:latin typeface="Cambria"/>
              <a:cs typeface="Cambria"/>
            </a:endParaRPr>
          </a:p>
          <a:p>
            <a:pPr marL="118745" indent="-114300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spc="-10" dirty="0">
                <a:latin typeface="Cambria"/>
                <a:cs typeface="Cambria"/>
              </a:rPr>
              <a:t>Follows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defined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set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of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mbria"/>
                <a:cs typeface="Cambria"/>
              </a:rPr>
              <a:t>processes.</a:t>
            </a:r>
            <a:endParaRPr sz="2400">
              <a:latin typeface="Cambria"/>
              <a:cs typeface="Cambria"/>
            </a:endParaRPr>
          </a:p>
          <a:p>
            <a:pPr marL="12700" marR="358775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Cambria"/>
                <a:cs typeface="Cambria"/>
              </a:rPr>
              <a:t>	Defines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increments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based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on </a:t>
            </a:r>
            <a:r>
              <a:rPr sz="2400" dirty="0">
                <a:latin typeface="Cambria"/>
                <a:cs typeface="Cambria"/>
              </a:rPr>
              <a:t>function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feature dependencies.</a:t>
            </a:r>
            <a:endParaRPr sz="2400">
              <a:latin typeface="Cambria"/>
              <a:cs typeface="Cambria"/>
            </a:endParaRPr>
          </a:p>
          <a:p>
            <a:pPr marL="118745" indent="-114300">
              <a:lnSpc>
                <a:spcPct val="100000"/>
              </a:lnSpc>
              <a:spcBef>
                <a:spcPts val="5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Cambria"/>
                <a:cs typeface="Cambria"/>
              </a:rPr>
              <a:t>Requires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more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customer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6217" y="3524504"/>
            <a:ext cx="7988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4300">
              <a:lnSpc>
                <a:spcPct val="100000"/>
              </a:lnSpc>
              <a:spcBef>
                <a:spcPts val="100"/>
              </a:spcBef>
              <a:buSzPct val="95833"/>
              <a:buFont typeface="Arial MT"/>
              <a:buChar char="•"/>
              <a:tabLst>
                <a:tab pos="118745" algn="l"/>
                <a:tab pos="4393565" algn="l"/>
              </a:tabLst>
            </a:pPr>
            <a:r>
              <a:rPr sz="2400" dirty="0">
                <a:latin typeface="Cambria"/>
                <a:cs typeface="Cambria"/>
              </a:rPr>
              <a:t>Can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accommodate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some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change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involvement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than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linear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47361" y="3890264"/>
            <a:ext cx="407924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"/>
                <a:cs typeface="Cambria"/>
              </a:rPr>
              <a:t>approaches.</a:t>
            </a:r>
            <a:endParaRPr sz="2400">
              <a:latin typeface="Cambria"/>
              <a:cs typeface="Cambria"/>
            </a:endParaRPr>
          </a:p>
          <a:p>
            <a:pPr marL="12700" marR="74295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Cambria"/>
                <a:cs typeface="Cambria"/>
              </a:rPr>
              <a:t>	Partitioning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functions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and </a:t>
            </a:r>
            <a:r>
              <a:rPr sz="2400" dirty="0">
                <a:latin typeface="Cambria"/>
                <a:cs typeface="Cambria"/>
              </a:rPr>
              <a:t>features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might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problematic.</a:t>
            </a:r>
            <a:endParaRPr sz="2400">
              <a:latin typeface="Cambria"/>
              <a:cs typeface="Cambria"/>
            </a:endParaRPr>
          </a:p>
          <a:p>
            <a:pPr marL="12700" marR="5080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spc="-10" dirty="0">
                <a:latin typeface="Cambria"/>
                <a:cs typeface="Cambria"/>
              </a:rPr>
              <a:t>	Integration</a:t>
            </a:r>
            <a:r>
              <a:rPr sz="2400" spc="-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between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the </a:t>
            </a:r>
            <a:r>
              <a:rPr sz="2400" spc="-10" dirty="0">
                <a:latin typeface="Cambria"/>
                <a:cs typeface="Cambria"/>
              </a:rPr>
              <a:t>iterations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issue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is </a:t>
            </a:r>
            <a:r>
              <a:rPr sz="2400" dirty="0">
                <a:latin typeface="Cambria"/>
                <a:cs typeface="Cambria"/>
              </a:rPr>
              <a:t>not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considered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during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the </a:t>
            </a:r>
            <a:r>
              <a:rPr sz="2400" spc="-10" dirty="0">
                <a:latin typeface="Cambria"/>
                <a:cs typeface="Cambria"/>
              </a:rPr>
              <a:t>development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project planning.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2082" y="483234"/>
            <a:ext cx="32581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rgbClr val="6F2F9F"/>
                </a:solidFill>
                <a:latin typeface="Cambria"/>
                <a:cs typeface="Cambria"/>
              </a:rPr>
              <a:t>Spiral</a:t>
            </a:r>
            <a:r>
              <a:rPr b="1" spc="-114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b="1" spc="-20" dirty="0">
                <a:solidFill>
                  <a:srgbClr val="6F2F9F"/>
                </a:solidFill>
                <a:latin typeface="Cambria"/>
                <a:cs typeface="Cambria"/>
              </a:rPr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501" y="1600479"/>
            <a:ext cx="4032630" cy="49621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27294" y="1290574"/>
            <a:ext cx="3344545" cy="5514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24460" indent="-342900">
              <a:lnSpc>
                <a:spcPct val="100099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combination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iterative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development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sequential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linear </a:t>
            </a:r>
            <a:r>
              <a:rPr sz="2000" dirty="0">
                <a:latin typeface="Calibri"/>
                <a:cs typeface="Calibri"/>
              </a:rPr>
              <a:t>development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i.e.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waterfall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very </a:t>
            </a:r>
            <a:r>
              <a:rPr sz="2000" dirty="0">
                <a:latin typeface="Calibri"/>
                <a:cs typeface="Calibri"/>
              </a:rPr>
              <a:t>high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emphasis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risk </a:t>
            </a:r>
            <a:r>
              <a:rPr sz="2000" spc="-10" dirty="0">
                <a:latin typeface="Calibri"/>
                <a:cs typeface="Calibri"/>
              </a:rPr>
              <a:t>analysis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Cambria"/>
                <a:cs typeface="Cambria"/>
              </a:rPr>
              <a:t>Spiral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model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one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25" dirty="0">
                <a:latin typeface="Cambria"/>
                <a:cs typeface="Cambria"/>
              </a:rPr>
              <a:t> the </a:t>
            </a:r>
            <a:r>
              <a:rPr sz="2000" dirty="0">
                <a:latin typeface="Cambria"/>
                <a:cs typeface="Cambria"/>
              </a:rPr>
              <a:t>most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important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Software Development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Life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Cycle </a:t>
            </a:r>
            <a:r>
              <a:rPr sz="2000" dirty="0">
                <a:latin typeface="Cambria"/>
                <a:cs typeface="Cambria"/>
              </a:rPr>
              <a:t>models,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which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provides </a:t>
            </a:r>
            <a:r>
              <a:rPr sz="2000" dirty="0">
                <a:latin typeface="Cambria"/>
                <a:cs typeface="Cambria"/>
              </a:rPr>
              <a:t>support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Risk</a:t>
            </a:r>
            <a:r>
              <a:rPr sz="2000" b="1" spc="-4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Handling</a:t>
            </a:r>
            <a:r>
              <a:rPr sz="2000" spc="-10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355600" marR="240029" indent="-342900">
              <a:lnSpc>
                <a:spcPts val="2400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spiral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four </a:t>
            </a:r>
            <a:r>
              <a:rPr sz="2000" dirty="0">
                <a:latin typeface="Calibri"/>
                <a:cs typeface="Calibri"/>
              </a:rPr>
              <a:t>phases.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software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project repeatedly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through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phases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iterations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ts val="2330"/>
              </a:lnSpc>
            </a:pP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Spirals.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542" y="420751"/>
            <a:ext cx="7604759" cy="521144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88900" indent="-342900">
              <a:lnSpc>
                <a:spcPts val="2920"/>
              </a:lnSpc>
              <a:spcBef>
                <a:spcPts val="459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mbria"/>
                <a:cs typeface="Cambria"/>
              </a:rPr>
              <a:t>In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its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diagrammatic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representation,</a:t>
            </a:r>
            <a:r>
              <a:rPr sz="2700" spc="-7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it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looks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like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spc="-50" dirty="0">
                <a:latin typeface="Cambria"/>
                <a:cs typeface="Cambria"/>
              </a:rPr>
              <a:t>a </a:t>
            </a:r>
            <a:r>
              <a:rPr sz="2700" dirty="0">
                <a:latin typeface="Cambria"/>
                <a:cs typeface="Cambria"/>
              </a:rPr>
              <a:t>spiral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with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many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loops.</a:t>
            </a:r>
            <a:endParaRPr sz="2700">
              <a:latin typeface="Cambria"/>
              <a:cs typeface="Cambria"/>
            </a:endParaRPr>
          </a:p>
          <a:p>
            <a:pPr marL="355600" marR="467359" indent="-342900">
              <a:lnSpc>
                <a:spcPts val="2920"/>
              </a:lnSpc>
              <a:spcBef>
                <a:spcPts val="64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mbria"/>
                <a:cs typeface="Cambria"/>
              </a:rPr>
              <a:t>The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exact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number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of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loops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of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spiral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is </a:t>
            </a:r>
            <a:r>
              <a:rPr sz="2700" dirty="0">
                <a:latin typeface="Cambria"/>
                <a:cs typeface="Cambria"/>
              </a:rPr>
              <a:t>unknown</a:t>
            </a:r>
            <a:r>
              <a:rPr sz="2700" spc="-6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and</a:t>
            </a:r>
            <a:r>
              <a:rPr sz="2700" spc="-6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can</a:t>
            </a:r>
            <a:r>
              <a:rPr sz="2700" spc="-6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vary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from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project</a:t>
            </a:r>
            <a:r>
              <a:rPr sz="2700" spc="-8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to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project.</a:t>
            </a:r>
            <a:endParaRPr sz="2700">
              <a:latin typeface="Cambria"/>
              <a:cs typeface="Cambria"/>
            </a:endParaRPr>
          </a:p>
          <a:p>
            <a:pPr marL="355600" marR="147320" indent="-342900">
              <a:lnSpc>
                <a:spcPts val="2920"/>
              </a:lnSpc>
              <a:spcBef>
                <a:spcPts val="64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b="1" dirty="0">
                <a:latin typeface="Cambria"/>
                <a:cs typeface="Cambria"/>
              </a:rPr>
              <a:t>Each</a:t>
            </a:r>
            <a:r>
              <a:rPr sz="2700" b="1" spc="-40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loop</a:t>
            </a:r>
            <a:r>
              <a:rPr sz="2700" b="1" spc="-50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of</a:t>
            </a:r>
            <a:r>
              <a:rPr sz="2700" b="1" spc="-60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the</a:t>
            </a:r>
            <a:r>
              <a:rPr sz="2700" b="1" spc="-40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spiral</a:t>
            </a:r>
            <a:r>
              <a:rPr sz="2700" b="1" spc="-40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is</a:t>
            </a:r>
            <a:r>
              <a:rPr sz="2700" b="1" spc="-60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called</a:t>
            </a:r>
            <a:r>
              <a:rPr sz="2700" b="1" spc="-20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a</a:t>
            </a:r>
            <a:r>
              <a:rPr sz="2700" b="1" spc="-60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Phase</a:t>
            </a:r>
            <a:r>
              <a:rPr sz="2700" b="1" spc="-30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of</a:t>
            </a:r>
            <a:r>
              <a:rPr sz="2700" b="1" spc="-55" dirty="0">
                <a:latin typeface="Cambria"/>
                <a:cs typeface="Cambria"/>
              </a:rPr>
              <a:t> </a:t>
            </a:r>
            <a:r>
              <a:rPr sz="2700" b="1" spc="-25" dirty="0">
                <a:latin typeface="Cambria"/>
                <a:cs typeface="Cambria"/>
              </a:rPr>
              <a:t>the </a:t>
            </a:r>
            <a:r>
              <a:rPr sz="2700" b="1" spc="-10" dirty="0">
                <a:latin typeface="Cambria"/>
                <a:cs typeface="Cambria"/>
              </a:rPr>
              <a:t>software</a:t>
            </a:r>
            <a:r>
              <a:rPr sz="2700" b="1" spc="-114" dirty="0">
                <a:latin typeface="Cambria"/>
                <a:cs typeface="Cambria"/>
              </a:rPr>
              <a:t> </a:t>
            </a:r>
            <a:r>
              <a:rPr sz="2700" b="1" spc="-10" dirty="0">
                <a:latin typeface="Cambria"/>
                <a:cs typeface="Cambria"/>
              </a:rPr>
              <a:t>development</a:t>
            </a:r>
            <a:r>
              <a:rPr sz="2700" b="1" spc="-90" dirty="0">
                <a:latin typeface="Cambria"/>
                <a:cs typeface="Cambria"/>
              </a:rPr>
              <a:t> </a:t>
            </a:r>
            <a:r>
              <a:rPr sz="2700" b="1" spc="-10" dirty="0">
                <a:latin typeface="Cambria"/>
                <a:cs typeface="Cambria"/>
              </a:rPr>
              <a:t>process.</a:t>
            </a:r>
            <a:endParaRPr sz="2700">
              <a:latin typeface="Cambria"/>
              <a:cs typeface="Cambria"/>
            </a:endParaRPr>
          </a:p>
          <a:p>
            <a:pPr marL="355600" marR="64135" indent="-342900">
              <a:lnSpc>
                <a:spcPts val="2920"/>
              </a:lnSpc>
              <a:spcBef>
                <a:spcPts val="64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mbria"/>
                <a:cs typeface="Cambria"/>
              </a:rPr>
              <a:t>The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exact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number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of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phases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needed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to</a:t>
            </a:r>
            <a:r>
              <a:rPr sz="2700" spc="-10" dirty="0">
                <a:latin typeface="Cambria"/>
                <a:cs typeface="Cambria"/>
              </a:rPr>
              <a:t> develop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product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can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be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varied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by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project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manager </a:t>
            </a:r>
            <a:r>
              <a:rPr sz="2700" dirty="0">
                <a:latin typeface="Cambria"/>
                <a:cs typeface="Cambria"/>
              </a:rPr>
              <a:t>depending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upon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project</a:t>
            </a:r>
            <a:r>
              <a:rPr sz="2700" spc="-6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risks.</a:t>
            </a:r>
            <a:endParaRPr sz="2700">
              <a:latin typeface="Cambria"/>
              <a:cs typeface="Cambria"/>
            </a:endParaRPr>
          </a:p>
          <a:p>
            <a:pPr marL="355600" marR="5080" indent="-342900">
              <a:lnSpc>
                <a:spcPts val="2920"/>
              </a:lnSpc>
              <a:spcBef>
                <a:spcPts val="64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mbria"/>
                <a:cs typeface="Cambria"/>
              </a:rPr>
              <a:t>As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project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manager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dynamically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determines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number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of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phases,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so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project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manager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has </a:t>
            </a:r>
            <a:r>
              <a:rPr sz="2700" dirty="0">
                <a:latin typeface="Cambria"/>
                <a:cs typeface="Cambria"/>
              </a:rPr>
              <a:t>an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important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role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to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develop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product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using </a:t>
            </a:r>
            <a:r>
              <a:rPr sz="2700" dirty="0">
                <a:latin typeface="Cambria"/>
                <a:cs typeface="Cambria"/>
              </a:rPr>
              <a:t>spiral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model.</a:t>
            </a:r>
            <a:endParaRPr sz="2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8760" y="461899"/>
            <a:ext cx="45847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Spiral</a:t>
            </a:r>
            <a:r>
              <a:rPr spc="-145" dirty="0"/>
              <a:t> </a:t>
            </a:r>
            <a:r>
              <a:rPr spc="-10" dirty="0"/>
              <a:t>Model-Design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67" y="1248917"/>
            <a:ext cx="4304665" cy="5038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1500" spc="-10" dirty="0">
                <a:latin typeface="Calibri"/>
                <a:cs typeface="Calibri"/>
              </a:rPr>
              <a:t>Identification</a:t>
            </a:r>
            <a:endParaRPr sz="15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Font typeface="Arial MT"/>
              <a:buChar char="–"/>
              <a:tabLst>
                <a:tab pos="756285" algn="l"/>
              </a:tabLst>
            </a:pPr>
            <a:r>
              <a:rPr sz="1200" spc="-10" dirty="0">
                <a:latin typeface="Calibri"/>
                <a:cs typeface="Calibri"/>
              </a:rPr>
              <a:t>gathering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business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requirements.</a:t>
            </a:r>
            <a:endParaRPr sz="1200">
              <a:latin typeface="Calibri"/>
              <a:cs typeface="Calibri"/>
            </a:endParaRPr>
          </a:p>
          <a:p>
            <a:pPr marL="756285" marR="58419" lvl="1" indent="-287020">
              <a:lnSpc>
                <a:spcPts val="1150"/>
              </a:lnSpc>
              <a:spcBef>
                <a:spcPts val="280"/>
              </a:spcBef>
              <a:buFont typeface="Arial MT"/>
              <a:buChar char="–"/>
              <a:tabLst>
                <a:tab pos="756285" algn="l"/>
              </a:tabLst>
            </a:pP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subsequent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spirals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product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matures, identification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system</a:t>
            </a:r>
            <a:r>
              <a:rPr sz="1200" b="1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requirements,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subsystem requirements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unit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requirements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 all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done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 </a:t>
            </a:r>
            <a:r>
              <a:rPr sz="1200" spc="-20" dirty="0">
                <a:latin typeface="Calibri"/>
                <a:cs typeface="Calibri"/>
              </a:rPr>
              <a:t>this </a:t>
            </a:r>
            <a:r>
              <a:rPr sz="1200" spc="-10" dirty="0">
                <a:latin typeface="Calibri"/>
                <a:cs typeface="Calibri"/>
              </a:rPr>
              <a:t>phase.</a:t>
            </a:r>
            <a:endParaRPr sz="1200">
              <a:latin typeface="Calibri"/>
              <a:cs typeface="Calibri"/>
            </a:endParaRPr>
          </a:p>
          <a:p>
            <a:pPr marL="756285" marR="215265" lvl="1" indent="-287020">
              <a:lnSpc>
                <a:spcPct val="80000"/>
              </a:lnSpc>
              <a:spcBef>
                <a:spcPts val="305"/>
              </a:spcBef>
              <a:buFont typeface="Arial MT"/>
              <a:buChar char="–"/>
              <a:tabLst>
                <a:tab pos="756285" algn="l"/>
              </a:tabLst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phase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 includes</a:t>
            </a:r>
            <a:r>
              <a:rPr sz="1200" spc="-10" dirty="0">
                <a:latin typeface="Calibri"/>
                <a:cs typeface="Calibri"/>
              </a:rPr>
              <a:t> understanding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system requirements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continuous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communication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between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customer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system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analyst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ts val="1789"/>
              </a:lnSpc>
              <a:buFont typeface="Arial MT"/>
              <a:buChar char="•"/>
              <a:tabLst>
                <a:tab pos="354965" algn="l"/>
              </a:tabLst>
            </a:pPr>
            <a:r>
              <a:rPr sz="1500" spc="-10" dirty="0">
                <a:latin typeface="Calibri"/>
                <a:cs typeface="Calibri"/>
              </a:rPr>
              <a:t>Design</a:t>
            </a:r>
            <a:endParaRPr sz="1500">
              <a:latin typeface="Calibri"/>
              <a:cs typeface="Calibri"/>
            </a:endParaRPr>
          </a:p>
          <a:p>
            <a:pPr marL="756285" marR="33020" lvl="1" indent="-287020">
              <a:lnSpc>
                <a:spcPct val="80000"/>
              </a:lnSpc>
              <a:spcBef>
                <a:spcPts val="300"/>
              </a:spcBef>
              <a:buFont typeface="Arial MT"/>
              <a:buChar char="–"/>
              <a:tabLst>
                <a:tab pos="75628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conceptual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design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baseline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spiral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involves </a:t>
            </a:r>
            <a:r>
              <a:rPr sz="1200" b="1" spc="-10" dirty="0">
                <a:latin typeface="Calibri"/>
                <a:cs typeface="Calibri"/>
              </a:rPr>
              <a:t>architectural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design,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logical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design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modules,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physical </a:t>
            </a:r>
            <a:r>
              <a:rPr sz="1200" b="1" dirty="0">
                <a:latin typeface="Calibri"/>
                <a:cs typeface="Calibri"/>
              </a:rPr>
              <a:t>product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design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final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design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subsequent spirals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ts val="1789"/>
              </a:lnSpc>
              <a:buFont typeface="Arial MT"/>
              <a:buChar char="•"/>
              <a:tabLst>
                <a:tab pos="354965" algn="l"/>
              </a:tabLst>
            </a:pPr>
            <a:r>
              <a:rPr sz="1500" dirty="0">
                <a:latin typeface="Calibri"/>
                <a:cs typeface="Calibri"/>
              </a:rPr>
              <a:t>Construct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Build</a:t>
            </a:r>
            <a:endParaRPr sz="15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Font typeface="Arial MT"/>
              <a:buChar char="–"/>
              <a:tabLst>
                <a:tab pos="75628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actual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software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product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every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spiral</a:t>
            </a:r>
            <a:endParaRPr sz="1200">
              <a:latin typeface="Calibri"/>
              <a:cs typeface="Calibri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290"/>
              </a:spcBef>
              <a:buFont typeface="Arial MT"/>
              <a:buChar char="–"/>
              <a:tabLst>
                <a:tab pos="756285" algn="l"/>
              </a:tabLst>
            </a:pP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baseline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spiral,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product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just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thought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of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design is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being</a:t>
            </a:r>
            <a:r>
              <a:rPr sz="1200" b="1" spc="-10" dirty="0">
                <a:latin typeface="Calibri"/>
                <a:cs typeface="Calibri"/>
              </a:rPr>
              <a:t> developed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POC </a:t>
            </a:r>
            <a:r>
              <a:rPr sz="1200" dirty="0">
                <a:latin typeface="Calibri"/>
                <a:cs typeface="Calibri"/>
              </a:rPr>
              <a:t>(Proof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of </a:t>
            </a:r>
            <a:r>
              <a:rPr sz="1200" dirty="0">
                <a:latin typeface="Calibri"/>
                <a:cs typeface="Calibri"/>
              </a:rPr>
              <a:t>Concept)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developed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phase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 get </a:t>
            </a:r>
            <a:r>
              <a:rPr sz="1200" spc="-10" dirty="0">
                <a:latin typeface="Calibri"/>
                <a:cs typeface="Calibri"/>
              </a:rPr>
              <a:t>customer feedback</a:t>
            </a:r>
            <a:endParaRPr sz="1200">
              <a:latin typeface="Calibri"/>
              <a:cs typeface="Calibri"/>
            </a:endParaRPr>
          </a:p>
          <a:p>
            <a:pPr marL="756285" marR="8255" lvl="1" indent="-287020">
              <a:lnSpc>
                <a:spcPts val="1150"/>
              </a:lnSpc>
              <a:spcBef>
                <a:spcPts val="280"/>
              </a:spcBef>
              <a:buFont typeface="Arial MT"/>
              <a:buChar char="–"/>
              <a:tabLst>
                <a:tab pos="75628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subsequent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spirals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higher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clarity</a:t>
            </a:r>
            <a:r>
              <a:rPr sz="1200" spc="-25" dirty="0">
                <a:latin typeface="Calibri"/>
                <a:cs typeface="Calibri"/>
              </a:rPr>
              <a:t> on </a:t>
            </a:r>
            <a:r>
              <a:rPr sz="1200" spc="-10" dirty="0">
                <a:latin typeface="Calibri"/>
                <a:cs typeface="Calibri"/>
              </a:rPr>
              <a:t>requirements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design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details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working model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software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called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build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produced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version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number</a:t>
            </a:r>
            <a:r>
              <a:rPr sz="1200" spc="-10" dirty="0">
                <a:latin typeface="Calibri"/>
                <a:cs typeface="Calibri"/>
              </a:rPr>
              <a:t>. </a:t>
            </a:r>
            <a:r>
              <a:rPr sz="1200" dirty="0">
                <a:latin typeface="Calibri"/>
                <a:cs typeface="Calibri"/>
              </a:rPr>
              <a:t>These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builds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sent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customer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for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feedback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1500" spc="-10" dirty="0">
                <a:latin typeface="Calibri"/>
                <a:cs typeface="Calibri"/>
              </a:rPr>
              <a:t>Evaluation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Risk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Analysis</a:t>
            </a:r>
            <a:endParaRPr sz="1500">
              <a:latin typeface="Calibri"/>
              <a:cs typeface="Calibri"/>
            </a:endParaRPr>
          </a:p>
          <a:p>
            <a:pPr marL="756285" marR="40005" lvl="1" indent="-287020">
              <a:lnSpc>
                <a:spcPct val="80000"/>
              </a:lnSpc>
              <a:spcBef>
                <a:spcPts val="300"/>
              </a:spcBef>
              <a:buFont typeface="Arial MT"/>
              <a:buChar char="–"/>
              <a:tabLst>
                <a:tab pos="756285" algn="l"/>
              </a:tabLst>
            </a:pPr>
            <a:r>
              <a:rPr sz="1200" dirty="0">
                <a:latin typeface="Calibri"/>
                <a:cs typeface="Calibri"/>
              </a:rPr>
              <a:t>Risk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Analysis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includes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identifying,</a:t>
            </a:r>
            <a:r>
              <a:rPr sz="1200" b="1" spc="-10" dirty="0">
                <a:latin typeface="Calibri"/>
                <a:cs typeface="Calibri"/>
              </a:rPr>
              <a:t> estimating</a:t>
            </a:r>
            <a:r>
              <a:rPr sz="1200" b="1" spc="-25" dirty="0">
                <a:latin typeface="Calibri"/>
                <a:cs typeface="Calibri"/>
              </a:rPr>
              <a:t> and </a:t>
            </a:r>
            <a:r>
              <a:rPr sz="1200" b="1" dirty="0">
                <a:latin typeface="Calibri"/>
                <a:cs typeface="Calibri"/>
              </a:rPr>
              <a:t>monitoring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technical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feasibility</a:t>
            </a:r>
            <a:r>
              <a:rPr sz="1200" b="1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management </a:t>
            </a:r>
            <a:r>
              <a:rPr sz="1200" dirty="0">
                <a:latin typeface="Calibri"/>
                <a:cs typeface="Calibri"/>
              </a:rPr>
              <a:t>risks,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schedule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slippage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cost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overrun.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After </a:t>
            </a:r>
            <a:r>
              <a:rPr sz="1200" dirty="0">
                <a:latin typeface="Calibri"/>
                <a:cs typeface="Calibri"/>
              </a:rPr>
              <a:t>testing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build,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first</a:t>
            </a:r>
            <a:r>
              <a:rPr sz="1200" spc="-10" dirty="0">
                <a:latin typeface="Calibri"/>
                <a:cs typeface="Calibri"/>
              </a:rPr>
              <a:t> iteration,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customer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evaluates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software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provides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feedback.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4009" y="1700745"/>
            <a:ext cx="4321302" cy="446455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9767" rIns="0" bIns="0" rtlCol="0">
            <a:spAutoFit/>
          </a:bodyPr>
          <a:lstStyle/>
          <a:p>
            <a:pPr marL="1076325">
              <a:lnSpc>
                <a:spcPct val="100000"/>
              </a:lnSpc>
              <a:spcBef>
                <a:spcPts val="105"/>
              </a:spcBef>
            </a:pPr>
            <a:r>
              <a:rPr dirty="0"/>
              <a:t>Spiral</a:t>
            </a:r>
            <a:r>
              <a:rPr spc="-80" dirty="0"/>
              <a:t> </a:t>
            </a:r>
            <a:r>
              <a:rPr spc="-10" dirty="0"/>
              <a:t>Model-</a:t>
            </a:r>
            <a:r>
              <a:rPr dirty="0"/>
              <a:t>The</a:t>
            </a:r>
            <a:r>
              <a:rPr spc="-75" dirty="0"/>
              <a:t> </a:t>
            </a:r>
            <a:r>
              <a:rPr spc="-10" dirty="0"/>
              <a:t>Usage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5081"/>
            <a:ext cx="8006080" cy="44011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351155" indent="-342900">
              <a:lnSpc>
                <a:spcPts val="24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following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pointers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explain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typical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uses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Spiral Model</a:t>
            </a:r>
            <a:endParaRPr sz="2500">
              <a:latin typeface="Calibri"/>
              <a:cs typeface="Calibri"/>
            </a:endParaRPr>
          </a:p>
          <a:p>
            <a:pPr marL="756285" marR="958215" lvl="1" indent="-287020">
              <a:lnSpc>
                <a:spcPts val="2110"/>
              </a:lnSpc>
              <a:spcBef>
                <a:spcPts val="545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When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there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budget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constraint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risk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evaluation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is </a:t>
            </a:r>
            <a:r>
              <a:rPr sz="2200" spc="-10" dirty="0">
                <a:latin typeface="Calibri"/>
                <a:cs typeface="Calibri"/>
              </a:rPr>
              <a:t>important.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0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For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medium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high-</a:t>
            </a:r>
            <a:r>
              <a:rPr sz="2200" dirty="0">
                <a:latin typeface="Calibri"/>
                <a:cs typeface="Calibri"/>
              </a:rPr>
              <a:t>risk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projects.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lnSpc>
                <a:spcPts val="2375"/>
              </a:lnSpc>
              <a:buFont typeface="Arial MT"/>
              <a:buChar char="–"/>
              <a:tabLst>
                <a:tab pos="756285" algn="l"/>
              </a:tabLst>
            </a:pPr>
            <a:r>
              <a:rPr sz="2200" spc="-20" dirty="0">
                <a:latin typeface="Calibri"/>
                <a:cs typeface="Calibri"/>
              </a:rPr>
              <a:t>Long-</a:t>
            </a:r>
            <a:r>
              <a:rPr sz="2200" dirty="0">
                <a:latin typeface="Calibri"/>
                <a:cs typeface="Calibri"/>
              </a:rPr>
              <a:t>term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project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commitment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because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potential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changes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</a:t>
            </a:r>
            <a:endParaRPr sz="2200">
              <a:latin typeface="Calibri"/>
              <a:cs typeface="Calibri"/>
            </a:endParaRPr>
          </a:p>
          <a:p>
            <a:pPr marL="756285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economic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priorities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requirements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change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time.</a:t>
            </a:r>
            <a:endParaRPr sz="2200">
              <a:latin typeface="Calibri"/>
              <a:cs typeface="Calibri"/>
            </a:endParaRPr>
          </a:p>
          <a:p>
            <a:pPr marL="756285" marR="139700" lvl="1" indent="-287020">
              <a:lnSpc>
                <a:spcPts val="2110"/>
              </a:lnSpc>
              <a:spcBef>
                <a:spcPts val="515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spc="-10" dirty="0">
                <a:latin typeface="Calibri"/>
                <a:cs typeface="Calibri"/>
              </a:rPr>
              <a:t>Customer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sure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their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requirements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usually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case.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0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spc="-10" dirty="0">
                <a:latin typeface="Calibri"/>
                <a:cs typeface="Calibri"/>
              </a:rPr>
              <a:t>Requirements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complex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evaluation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clarity.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lnSpc>
                <a:spcPts val="2375"/>
              </a:lnSpc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New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product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line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released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phases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get</a:t>
            </a:r>
            <a:endParaRPr sz="2200">
              <a:latin typeface="Calibri"/>
              <a:cs typeface="Calibri"/>
            </a:endParaRPr>
          </a:p>
          <a:p>
            <a:pPr marL="756285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enough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customer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feedback.</a:t>
            </a:r>
            <a:endParaRPr sz="2200">
              <a:latin typeface="Calibri"/>
              <a:cs typeface="Calibri"/>
            </a:endParaRPr>
          </a:p>
          <a:p>
            <a:pPr marL="756285" marR="652780" lvl="1" indent="-287020">
              <a:lnSpc>
                <a:spcPts val="2110"/>
              </a:lnSpc>
              <a:spcBef>
                <a:spcPts val="515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Significant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changes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expected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product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during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development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cycle.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96950" y="484695"/>
          <a:ext cx="7407909" cy="5332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6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005">
                <a:tc>
                  <a:txBody>
                    <a:bodyPr/>
                    <a:lstStyle/>
                    <a:p>
                      <a:pPr marL="8083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3000" b="1" spc="-10" dirty="0">
                          <a:solidFill>
                            <a:srgbClr val="6F2F9F"/>
                          </a:solidFill>
                          <a:latin typeface="Cambria"/>
                          <a:cs typeface="Cambria"/>
                        </a:rPr>
                        <a:t>Advantages</a:t>
                      </a:r>
                      <a:endParaRPr sz="3000">
                        <a:latin typeface="Cambria"/>
                        <a:cs typeface="Cambria"/>
                      </a:endParaRPr>
                    </a:p>
                  </a:txBody>
                  <a:tcPr marL="0" marR="0" marT="34925" marB="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lnB w="952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80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3000" b="1" spc="-10" dirty="0">
                          <a:solidFill>
                            <a:srgbClr val="6F2F9F"/>
                          </a:solidFill>
                          <a:latin typeface="Cambria"/>
                          <a:cs typeface="Cambria"/>
                        </a:rPr>
                        <a:t>Disadvantages</a:t>
                      </a:r>
                      <a:endParaRPr sz="3000">
                        <a:latin typeface="Cambria"/>
                        <a:cs typeface="Cambria"/>
                      </a:endParaRPr>
                    </a:p>
                  </a:txBody>
                  <a:tcPr marL="0" marR="0" marT="34925" marB="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lnB w="9525">
                      <a:solidFill>
                        <a:srgbClr val="EAEAE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4725">
                <a:tc>
                  <a:txBody>
                    <a:bodyPr/>
                    <a:lstStyle/>
                    <a:p>
                      <a:pPr marL="35560" marR="163830" indent="-10795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96428"/>
                        <a:buFont typeface="Arial MT"/>
                        <a:buChar char="•"/>
                        <a:tabLst>
                          <a:tab pos="158115" algn="l"/>
                        </a:tabLst>
                      </a:pPr>
                      <a:r>
                        <a:rPr sz="2800" spc="-10" dirty="0">
                          <a:latin typeface="Cambria"/>
                          <a:cs typeface="Cambria"/>
                        </a:rPr>
                        <a:t>	Estimates</a:t>
                      </a:r>
                      <a:r>
                        <a:rPr sz="28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(i.e.</a:t>
                      </a:r>
                      <a:r>
                        <a:rPr sz="28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10" dirty="0">
                          <a:latin typeface="Cambria"/>
                          <a:cs typeface="Cambria"/>
                        </a:rPr>
                        <a:t>budget,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schedule,</a:t>
                      </a:r>
                      <a:r>
                        <a:rPr sz="2800" spc="-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etc.)</a:t>
                      </a:r>
                      <a:r>
                        <a:rPr sz="2800" spc="-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10" dirty="0">
                          <a:latin typeface="Cambria"/>
                          <a:cs typeface="Cambria"/>
                        </a:rPr>
                        <a:t>become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more</a:t>
                      </a:r>
                      <a:r>
                        <a:rPr sz="2800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realistic</a:t>
                      </a:r>
                      <a:r>
                        <a:rPr sz="2800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as</a:t>
                      </a:r>
                      <a:r>
                        <a:rPr sz="2800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20" dirty="0">
                          <a:latin typeface="Cambria"/>
                          <a:cs typeface="Cambria"/>
                        </a:rPr>
                        <a:t>work </a:t>
                      </a:r>
                      <a:r>
                        <a:rPr sz="2800" spc="-10" dirty="0">
                          <a:latin typeface="Cambria"/>
                          <a:cs typeface="Cambria"/>
                        </a:rPr>
                        <a:t>progressed</a:t>
                      </a:r>
                      <a:r>
                        <a:rPr sz="28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10" dirty="0">
                          <a:latin typeface="Cambria"/>
                          <a:cs typeface="Cambria"/>
                        </a:rPr>
                        <a:t>because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important</a:t>
                      </a:r>
                      <a:r>
                        <a:rPr sz="2800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issues</a:t>
                      </a:r>
                      <a:r>
                        <a:rPr sz="2800" spc="-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25" dirty="0">
                          <a:latin typeface="Cambria"/>
                          <a:cs typeface="Cambria"/>
                        </a:rPr>
                        <a:t>are </a:t>
                      </a:r>
                      <a:r>
                        <a:rPr sz="2800" spc="-20" dirty="0">
                          <a:latin typeface="Cambria"/>
                          <a:cs typeface="Cambria"/>
                        </a:rPr>
                        <a:t>discovered</a:t>
                      </a:r>
                      <a:r>
                        <a:rPr sz="28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10" dirty="0">
                          <a:latin typeface="Cambria"/>
                          <a:cs typeface="Cambria"/>
                        </a:rPr>
                        <a:t>earlier.</a:t>
                      </a:r>
                      <a:endParaRPr sz="2800">
                        <a:latin typeface="Cambria"/>
                        <a:cs typeface="Cambria"/>
                      </a:endParaRPr>
                    </a:p>
                    <a:p>
                      <a:pPr marL="35560" marR="375920" indent="-10795">
                        <a:lnSpc>
                          <a:spcPct val="100000"/>
                        </a:lnSpc>
                        <a:buSzPct val="96428"/>
                        <a:buFont typeface="Arial MT"/>
                        <a:buChar char="•"/>
                        <a:tabLst>
                          <a:tab pos="158115" algn="l"/>
                        </a:tabLst>
                      </a:pPr>
                      <a:r>
                        <a:rPr sz="2800" dirty="0">
                          <a:latin typeface="Cambria"/>
                          <a:cs typeface="Cambria"/>
                        </a:rPr>
                        <a:t>	Early</a:t>
                      </a:r>
                      <a:r>
                        <a:rPr sz="2800" spc="-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20" dirty="0">
                          <a:latin typeface="Cambria"/>
                          <a:cs typeface="Cambria"/>
                        </a:rPr>
                        <a:t>involvement</a:t>
                      </a:r>
                      <a:r>
                        <a:rPr sz="2800" spc="-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25" dirty="0">
                          <a:latin typeface="Cambria"/>
                          <a:cs typeface="Cambria"/>
                        </a:rPr>
                        <a:t>of </a:t>
                      </a:r>
                      <a:r>
                        <a:rPr sz="2800" spc="-10" dirty="0">
                          <a:latin typeface="Cambria"/>
                          <a:cs typeface="Cambria"/>
                        </a:rPr>
                        <a:t>developers.</a:t>
                      </a:r>
                      <a:endParaRPr sz="2800">
                        <a:latin typeface="Cambria"/>
                        <a:cs typeface="Cambria"/>
                      </a:endParaRPr>
                    </a:p>
                    <a:p>
                      <a:pPr marL="35560" marR="560070" indent="-10795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96428"/>
                        <a:buFont typeface="Arial MT"/>
                        <a:buChar char="•"/>
                        <a:tabLst>
                          <a:tab pos="158115" algn="l"/>
                        </a:tabLst>
                      </a:pPr>
                      <a:r>
                        <a:rPr sz="2800" dirty="0">
                          <a:latin typeface="Cambria"/>
                          <a:cs typeface="Cambria"/>
                        </a:rPr>
                        <a:t>	Manages</a:t>
                      </a:r>
                      <a:r>
                        <a:rPr sz="2800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risks</a:t>
                      </a:r>
                      <a:r>
                        <a:rPr sz="2800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25" dirty="0">
                          <a:latin typeface="Cambria"/>
                          <a:cs typeface="Cambria"/>
                        </a:rPr>
                        <a:t>and </a:t>
                      </a:r>
                      <a:r>
                        <a:rPr sz="2800" spc="-10" dirty="0">
                          <a:latin typeface="Cambria"/>
                          <a:cs typeface="Cambria"/>
                        </a:rPr>
                        <a:t>develops</a:t>
                      </a:r>
                      <a:r>
                        <a:rPr sz="2800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8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10" dirty="0">
                          <a:latin typeface="Cambria"/>
                          <a:cs typeface="Cambria"/>
                        </a:rPr>
                        <a:t>system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into</a:t>
                      </a:r>
                      <a:r>
                        <a:rPr sz="2800" spc="-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10" dirty="0">
                          <a:latin typeface="Cambria"/>
                          <a:cs typeface="Cambria"/>
                        </a:rPr>
                        <a:t>phases.</a:t>
                      </a:r>
                      <a:endParaRPr sz="2800">
                        <a:latin typeface="Cambria"/>
                        <a:cs typeface="Cambria"/>
                      </a:endParaRPr>
                    </a:p>
                  </a:txBody>
                  <a:tcPr marL="0" marR="0" marT="36195" marB="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lnB w="952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6195" marR="99060" indent="-10795">
                        <a:lnSpc>
                          <a:spcPct val="100000"/>
                        </a:lnSpc>
                        <a:buSzPct val="96428"/>
                        <a:buFont typeface="Arial MT"/>
                        <a:buChar char="•"/>
                        <a:tabLst>
                          <a:tab pos="158750" algn="l"/>
                        </a:tabLst>
                      </a:pPr>
                      <a:r>
                        <a:rPr sz="2800" dirty="0">
                          <a:latin typeface="Cambria"/>
                          <a:cs typeface="Cambria"/>
                        </a:rPr>
                        <a:t>	High</a:t>
                      </a:r>
                      <a:r>
                        <a:rPr sz="2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cost</a:t>
                      </a:r>
                      <a:r>
                        <a:rPr sz="2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time</a:t>
                      </a:r>
                      <a:r>
                        <a:rPr sz="2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35" dirty="0">
                          <a:latin typeface="Cambria"/>
                          <a:cs typeface="Cambria"/>
                        </a:rPr>
                        <a:t>to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reach</a:t>
                      </a:r>
                      <a:r>
                        <a:rPr sz="28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8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final</a:t>
                      </a:r>
                      <a:r>
                        <a:rPr sz="28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10" dirty="0">
                          <a:latin typeface="Cambria"/>
                          <a:cs typeface="Cambria"/>
                        </a:rPr>
                        <a:t>product.</a:t>
                      </a:r>
                      <a:endParaRPr sz="2800">
                        <a:latin typeface="Cambria"/>
                        <a:cs typeface="Cambria"/>
                      </a:endParaRPr>
                    </a:p>
                    <a:p>
                      <a:pPr marL="36195" marR="185420" indent="-10795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96428"/>
                        <a:buFont typeface="Arial MT"/>
                        <a:buChar char="•"/>
                        <a:tabLst>
                          <a:tab pos="158750" algn="l"/>
                        </a:tabLst>
                      </a:pPr>
                      <a:r>
                        <a:rPr sz="2800" dirty="0">
                          <a:latin typeface="Cambria"/>
                          <a:cs typeface="Cambria"/>
                        </a:rPr>
                        <a:t>	Needs</a:t>
                      </a:r>
                      <a:r>
                        <a:rPr sz="2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special</a:t>
                      </a:r>
                      <a:r>
                        <a:rPr sz="28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skills</a:t>
                      </a:r>
                      <a:r>
                        <a:rPr sz="28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25" dirty="0">
                          <a:latin typeface="Cambria"/>
                          <a:cs typeface="Cambria"/>
                        </a:rPr>
                        <a:t>to </a:t>
                      </a:r>
                      <a:r>
                        <a:rPr sz="2800" spc="-10" dirty="0">
                          <a:latin typeface="Cambria"/>
                          <a:cs typeface="Cambria"/>
                        </a:rPr>
                        <a:t>evaluate</a:t>
                      </a:r>
                      <a:r>
                        <a:rPr sz="2800" spc="-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8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risks</a:t>
                      </a:r>
                      <a:r>
                        <a:rPr sz="2800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25" dirty="0">
                          <a:latin typeface="Cambria"/>
                          <a:cs typeface="Cambria"/>
                        </a:rPr>
                        <a:t>and </a:t>
                      </a:r>
                      <a:r>
                        <a:rPr sz="2800" spc="-10" dirty="0">
                          <a:latin typeface="Cambria"/>
                          <a:cs typeface="Cambria"/>
                        </a:rPr>
                        <a:t>assumptions.</a:t>
                      </a:r>
                      <a:endParaRPr sz="2800">
                        <a:latin typeface="Cambria"/>
                        <a:cs typeface="Cambria"/>
                      </a:endParaRPr>
                    </a:p>
                    <a:p>
                      <a:pPr marL="36195" marR="613410" indent="-10795">
                        <a:lnSpc>
                          <a:spcPct val="100000"/>
                        </a:lnSpc>
                        <a:buSzPct val="96428"/>
                        <a:buFont typeface="Arial MT"/>
                        <a:buChar char="•"/>
                        <a:tabLst>
                          <a:tab pos="158750" algn="l"/>
                        </a:tabLst>
                      </a:pPr>
                      <a:r>
                        <a:rPr sz="2800" spc="-10" dirty="0">
                          <a:latin typeface="Cambria"/>
                          <a:cs typeface="Cambria"/>
                        </a:rPr>
                        <a:t>	Highly</a:t>
                      </a:r>
                      <a:r>
                        <a:rPr sz="2800" spc="-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10" dirty="0">
                          <a:latin typeface="Cambria"/>
                          <a:cs typeface="Cambria"/>
                        </a:rPr>
                        <a:t>customized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limiting</a:t>
                      </a:r>
                      <a:r>
                        <a:rPr sz="2800" spc="-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25" dirty="0">
                          <a:latin typeface="Cambria"/>
                          <a:cs typeface="Cambria"/>
                        </a:rPr>
                        <a:t>re-</a:t>
                      </a:r>
                      <a:r>
                        <a:rPr sz="2800" spc="-10" dirty="0">
                          <a:latin typeface="Cambria"/>
                          <a:cs typeface="Cambria"/>
                        </a:rPr>
                        <a:t>usability</a:t>
                      </a:r>
                      <a:endParaRPr sz="28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lnB w="9525">
                      <a:solidFill>
                        <a:srgbClr val="EAEAE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4209" rIns="0" bIns="0" rtlCol="0">
            <a:spAutoFit/>
          </a:bodyPr>
          <a:lstStyle/>
          <a:p>
            <a:pPr marL="2261235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rgbClr val="6F2F9F"/>
                </a:solidFill>
                <a:latin typeface="Cambria"/>
                <a:cs typeface="Cambria"/>
              </a:rPr>
              <a:t>Agile</a:t>
            </a:r>
            <a:r>
              <a:rPr b="1" spc="-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b="1" spc="-10" dirty="0">
                <a:solidFill>
                  <a:srgbClr val="6F2F9F"/>
                </a:solidFill>
                <a:latin typeface="Cambria"/>
                <a:cs typeface="Cambria"/>
              </a:rPr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506727"/>
            <a:ext cx="7501890" cy="4286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Cambria"/>
                <a:cs typeface="Cambria"/>
              </a:rPr>
              <a:t>It</a:t>
            </a:r>
            <a:r>
              <a:rPr sz="2300" spc="-3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is</a:t>
            </a:r>
            <a:r>
              <a:rPr sz="2300" spc="-3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based</a:t>
            </a:r>
            <a:r>
              <a:rPr sz="2300" spc="-3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on</a:t>
            </a:r>
            <a:r>
              <a:rPr sz="2300" spc="-30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iterative</a:t>
            </a:r>
            <a:r>
              <a:rPr sz="2300" spc="-3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and</a:t>
            </a:r>
            <a:r>
              <a:rPr sz="2300" spc="-2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incremental</a:t>
            </a:r>
            <a:r>
              <a:rPr sz="2300" spc="-40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development,</a:t>
            </a:r>
            <a:endParaRPr sz="2300">
              <a:latin typeface="Cambria"/>
              <a:cs typeface="Cambria"/>
            </a:endParaRPr>
          </a:p>
          <a:p>
            <a:pPr marL="354965" indent="-342265">
              <a:lnSpc>
                <a:spcPts val="2485"/>
              </a:lnSpc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Cambria"/>
                <a:cs typeface="Cambria"/>
              </a:rPr>
              <a:t>where</a:t>
            </a:r>
            <a:r>
              <a:rPr sz="2300" spc="-5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requirements</a:t>
            </a:r>
            <a:r>
              <a:rPr sz="2300" spc="-5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and</a:t>
            </a:r>
            <a:r>
              <a:rPr sz="2300" spc="-5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solutions</a:t>
            </a:r>
            <a:r>
              <a:rPr sz="2300" spc="-55" dirty="0">
                <a:latin typeface="Cambria"/>
                <a:cs typeface="Cambria"/>
              </a:rPr>
              <a:t> </a:t>
            </a:r>
            <a:r>
              <a:rPr sz="2300" spc="-20" dirty="0">
                <a:latin typeface="Cambria"/>
                <a:cs typeface="Cambria"/>
              </a:rPr>
              <a:t>evolve</a:t>
            </a:r>
            <a:r>
              <a:rPr sz="2300" spc="-50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through</a:t>
            </a:r>
            <a:endParaRPr sz="2300">
              <a:latin typeface="Cambria"/>
              <a:cs typeface="Cambria"/>
            </a:endParaRPr>
          </a:p>
          <a:p>
            <a:pPr marL="355600">
              <a:lnSpc>
                <a:spcPts val="2475"/>
              </a:lnSpc>
            </a:pPr>
            <a:r>
              <a:rPr sz="2300" dirty="0">
                <a:latin typeface="Cambria"/>
                <a:cs typeface="Cambria"/>
              </a:rPr>
              <a:t>collaboration</a:t>
            </a:r>
            <a:r>
              <a:rPr sz="2300" spc="-7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between</a:t>
            </a:r>
            <a:r>
              <a:rPr sz="2300" spc="-80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cross-</a:t>
            </a:r>
            <a:r>
              <a:rPr sz="2300" dirty="0">
                <a:latin typeface="Cambria"/>
                <a:cs typeface="Cambria"/>
              </a:rPr>
              <a:t>functional</a:t>
            </a:r>
            <a:r>
              <a:rPr sz="2300" spc="-90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teams.</a:t>
            </a:r>
            <a:endParaRPr sz="2300">
              <a:latin typeface="Cambria"/>
              <a:cs typeface="Cambria"/>
            </a:endParaRPr>
          </a:p>
          <a:p>
            <a:pPr marL="354965" indent="-342265">
              <a:lnSpc>
                <a:spcPts val="263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Agile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Methods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break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product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small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incremental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builds.</a:t>
            </a:r>
            <a:endParaRPr sz="2200">
              <a:latin typeface="Calibri"/>
              <a:cs typeface="Calibri"/>
            </a:endParaRPr>
          </a:p>
          <a:p>
            <a:pPr marL="355600" marR="131445" indent="-342900">
              <a:lnSpc>
                <a:spcPct val="8000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These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builds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provided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iterations.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iteration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typically </a:t>
            </a:r>
            <a:r>
              <a:rPr sz="2200" dirty="0">
                <a:latin typeface="Calibri"/>
                <a:cs typeface="Calibri"/>
              </a:rPr>
              <a:t>lasts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about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three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weeks.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38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Every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iteration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involves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cross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functional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teams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working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380"/>
              </a:lnSpc>
            </a:pPr>
            <a:r>
              <a:rPr sz="2200" spc="-10" dirty="0">
                <a:latin typeface="Calibri"/>
                <a:cs typeface="Calibri"/>
              </a:rPr>
              <a:t>simultaneously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various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like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−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6285" algn="l"/>
              </a:tabLst>
            </a:pPr>
            <a:r>
              <a:rPr sz="1900" spc="-10" dirty="0">
                <a:latin typeface="Calibri"/>
                <a:cs typeface="Calibri"/>
              </a:rPr>
              <a:t>Planning</a:t>
            </a:r>
            <a:endParaRPr sz="19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sz="1900" spc="-10" dirty="0">
                <a:latin typeface="Calibri"/>
                <a:cs typeface="Calibri"/>
              </a:rPr>
              <a:t>Requirements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Analysis</a:t>
            </a:r>
            <a:endParaRPr sz="19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sz="1900" spc="-10" dirty="0">
                <a:latin typeface="Calibri"/>
                <a:cs typeface="Calibri"/>
              </a:rPr>
              <a:t>Design</a:t>
            </a:r>
            <a:endParaRPr sz="19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sz="1900" spc="-10" dirty="0">
                <a:latin typeface="Calibri"/>
                <a:cs typeface="Calibri"/>
              </a:rPr>
              <a:t>Coding</a:t>
            </a:r>
            <a:endParaRPr sz="19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sz="1900" dirty="0">
                <a:latin typeface="Calibri"/>
                <a:cs typeface="Calibri"/>
              </a:rPr>
              <a:t>Unit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Testing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and</a:t>
            </a:r>
            <a:endParaRPr sz="19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sz="1900" spc="-10" dirty="0">
                <a:latin typeface="Calibri"/>
                <a:cs typeface="Calibri"/>
              </a:rPr>
              <a:t>Acceptance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Testing.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3549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Graphical</a:t>
            </a:r>
            <a:r>
              <a:rPr sz="4000" spc="-105" dirty="0"/>
              <a:t> </a:t>
            </a:r>
            <a:r>
              <a:rPr sz="4000" spc="-10" dirty="0"/>
              <a:t>illustration</a:t>
            </a:r>
            <a:r>
              <a:rPr sz="4000" spc="-114" dirty="0"/>
              <a:t> </a:t>
            </a:r>
            <a:r>
              <a:rPr sz="4000" dirty="0"/>
              <a:t>of</a:t>
            </a:r>
            <a:r>
              <a:rPr sz="4000" spc="-90" dirty="0"/>
              <a:t> </a:t>
            </a:r>
            <a:r>
              <a:rPr sz="4000" dirty="0"/>
              <a:t>Agile</a:t>
            </a:r>
            <a:r>
              <a:rPr sz="4000" spc="-100" dirty="0"/>
              <a:t> </a:t>
            </a:r>
            <a:r>
              <a:rPr sz="4000" spc="-10" dirty="0"/>
              <a:t>Model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514" y="1412836"/>
            <a:ext cx="5256530" cy="48244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52059" y="1718817"/>
            <a:ext cx="344106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Iterative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approach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taken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dirty="0">
                <a:latin typeface="Calibri"/>
                <a:cs typeface="Calibri"/>
              </a:rPr>
              <a:t>working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software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build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delivered </a:t>
            </a:r>
            <a:r>
              <a:rPr sz="1800" dirty="0">
                <a:latin typeface="Calibri"/>
                <a:cs typeface="Calibri"/>
              </a:rPr>
              <a:t>after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iteration.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build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incremental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terms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features;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final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build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holds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features </a:t>
            </a:r>
            <a:r>
              <a:rPr sz="1800" dirty="0">
                <a:latin typeface="Calibri"/>
                <a:cs typeface="Calibri"/>
              </a:rPr>
              <a:t>required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9767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Agile-</a:t>
            </a:r>
            <a:r>
              <a:rPr spc="-10" dirty="0"/>
              <a:t>Principles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5081"/>
            <a:ext cx="7927975" cy="42932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marR="188595" indent="-342900">
              <a:lnSpc>
                <a:spcPct val="8000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b="1" dirty="0">
                <a:latin typeface="Calibri"/>
                <a:cs typeface="Calibri"/>
              </a:rPr>
              <a:t>Individuals</a:t>
            </a:r>
            <a:r>
              <a:rPr sz="2500" b="1" spc="-6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and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interactions</a:t>
            </a:r>
            <a:r>
              <a:rPr sz="2500" b="1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−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Agile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development,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self- organization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motivation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important,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as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are </a:t>
            </a:r>
            <a:r>
              <a:rPr sz="2500" spc="-10" dirty="0">
                <a:latin typeface="Calibri"/>
                <a:cs typeface="Calibri"/>
              </a:rPr>
              <a:t>interactions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like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30" dirty="0">
                <a:latin typeface="Calibri"/>
                <a:cs typeface="Calibri"/>
              </a:rPr>
              <a:t>co-</a:t>
            </a:r>
            <a:r>
              <a:rPr sz="2500" dirty="0">
                <a:latin typeface="Calibri"/>
                <a:cs typeface="Calibri"/>
              </a:rPr>
              <a:t>location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pair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programming.</a:t>
            </a:r>
            <a:endParaRPr sz="2500">
              <a:latin typeface="Calibri"/>
              <a:cs typeface="Calibri"/>
            </a:endParaRPr>
          </a:p>
          <a:p>
            <a:pPr marL="355600" marR="66675" indent="-342900">
              <a:lnSpc>
                <a:spcPts val="2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b="1" spc="-10" dirty="0">
                <a:latin typeface="Calibri"/>
                <a:cs typeface="Calibri"/>
              </a:rPr>
              <a:t>Working</a:t>
            </a:r>
            <a:r>
              <a:rPr sz="2500" b="1" spc="-7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software</a:t>
            </a:r>
            <a:r>
              <a:rPr sz="2500" b="1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−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Demo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working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software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considered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best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means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communication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with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customers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to </a:t>
            </a:r>
            <a:r>
              <a:rPr sz="2500" spc="-10" dirty="0">
                <a:latin typeface="Calibri"/>
                <a:cs typeface="Calibri"/>
              </a:rPr>
              <a:t>understand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their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requirements,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instead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just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depending </a:t>
            </a:r>
            <a:r>
              <a:rPr sz="2500" dirty="0">
                <a:latin typeface="Calibri"/>
                <a:cs typeface="Calibri"/>
              </a:rPr>
              <a:t>on</a:t>
            </a:r>
            <a:r>
              <a:rPr sz="2500" spc="-10" dirty="0">
                <a:latin typeface="Calibri"/>
                <a:cs typeface="Calibri"/>
              </a:rPr>
              <a:t> documentation.</a:t>
            </a:r>
            <a:endParaRPr sz="2500">
              <a:latin typeface="Calibri"/>
              <a:cs typeface="Calibri"/>
            </a:endParaRPr>
          </a:p>
          <a:p>
            <a:pPr marL="355600" marR="5080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b="1" dirty="0">
                <a:latin typeface="Calibri"/>
                <a:cs typeface="Calibri"/>
              </a:rPr>
              <a:t>Customer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collaboration</a:t>
            </a:r>
            <a:r>
              <a:rPr sz="2500" b="1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−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As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requirements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cannot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be </a:t>
            </a:r>
            <a:r>
              <a:rPr sz="2500" spc="-10" dirty="0">
                <a:latin typeface="Calibri"/>
                <a:cs typeface="Calibri"/>
              </a:rPr>
              <a:t>gathered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completely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beginning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project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due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to </a:t>
            </a:r>
            <a:r>
              <a:rPr sz="2500" dirty="0">
                <a:latin typeface="Calibri"/>
                <a:cs typeface="Calibri"/>
              </a:rPr>
              <a:t>various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factors,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continuous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customer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interaction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very </a:t>
            </a:r>
            <a:r>
              <a:rPr sz="2500" spc="-10" dirty="0">
                <a:latin typeface="Calibri"/>
                <a:cs typeface="Calibri"/>
              </a:rPr>
              <a:t>important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get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proper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product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requirements.</a:t>
            </a:r>
            <a:endParaRPr sz="2500">
              <a:latin typeface="Calibri"/>
              <a:cs typeface="Calibri"/>
            </a:endParaRPr>
          </a:p>
          <a:p>
            <a:pPr marL="354965" indent="-342265">
              <a:lnSpc>
                <a:spcPts val="2700"/>
              </a:lnSpc>
              <a:spcBef>
                <a:spcPts val="25"/>
              </a:spcBef>
              <a:buFont typeface="Arial MT"/>
              <a:buChar char="•"/>
              <a:tabLst>
                <a:tab pos="354965" algn="l"/>
              </a:tabLst>
            </a:pPr>
            <a:r>
              <a:rPr sz="2500" b="1" dirty="0">
                <a:latin typeface="Calibri"/>
                <a:cs typeface="Calibri"/>
              </a:rPr>
              <a:t>Responding</a:t>
            </a:r>
            <a:r>
              <a:rPr sz="2500" b="1" spc="-7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to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change</a:t>
            </a:r>
            <a:r>
              <a:rPr sz="2500" b="1" spc="-11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−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Agile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Development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focused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on</a:t>
            </a:r>
            <a:endParaRPr sz="2500">
              <a:latin typeface="Calibri"/>
              <a:cs typeface="Calibri"/>
            </a:endParaRPr>
          </a:p>
          <a:p>
            <a:pPr marL="355600">
              <a:lnSpc>
                <a:spcPts val="2700"/>
              </a:lnSpc>
            </a:pPr>
            <a:r>
              <a:rPr sz="2500" dirty="0">
                <a:latin typeface="Calibri"/>
                <a:cs typeface="Calibri"/>
              </a:rPr>
              <a:t>quick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responses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change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continuous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development.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88110" y="536892"/>
          <a:ext cx="7773034" cy="5819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3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3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5655">
                <a:tc>
                  <a:txBody>
                    <a:bodyPr/>
                    <a:lstStyle/>
                    <a:p>
                      <a:pPr marL="83185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3200" b="1" spc="-10" dirty="0">
                          <a:solidFill>
                            <a:srgbClr val="6F2F9F"/>
                          </a:solidFill>
                          <a:latin typeface="Cambria"/>
                          <a:cs typeface="Cambria"/>
                        </a:rPr>
                        <a:t>Advantages</a:t>
                      </a:r>
                      <a:endParaRPr sz="3200">
                        <a:latin typeface="Cambria"/>
                        <a:cs typeface="Cambria"/>
                      </a:endParaRPr>
                    </a:p>
                  </a:txBody>
                  <a:tcPr marL="0" marR="0" marT="142240" marB="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lnB w="952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3200" b="1" spc="-10" dirty="0">
                          <a:solidFill>
                            <a:srgbClr val="6F2F9F"/>
                          </a:solidFill>
                          <a:latin typeface="Cambria"/>
                          <a:cs typeface="Cambria"/>
                        </a:rPr>
                        <a:t>Disadvantages</a:t>
                      </a:r>
                      <a:endParaRPr sz="3200">
                        <a:latin typeface="Cambria"/>
                        <a:cs typeface="Cambria"/>
                      </a:endParaRPr>
                    </a:p>
                  </a:txBody>
                  <a:tcPr marL="0" marR="0" marT="142240" marB="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lnB w="9525">
                      <a:solidFill>
                        <a:srgbClr val="EAEAE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3485">
                <a:tc>
                  <a:txBody>
                    <a:bodyPr/>
                    <a:lstStyle/>
                    <a:p>
                      <a:pPr marL="35560" marR="165735" indent="-8255">
                        <a:lnSpc>
                          <a:spcPct val="100000"/>
                        </a:lnSpc>
                        <a:spcBef>
                          <a:spcPts val="2440"/>
                        </a:spcBef>
                        <a:buSzPct val="95833"/>
                        <a:buFont typeface="Arial MT"/>
                        <a:buChar char="•"/>
                        <a:tabLst>
                          <a:tab pos="141605" algn="l"/>
                        </a:tabLst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	Decrease</a:t>
                      </a:r>
                      <a:r>
                        <a:rPr sz="24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4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time</a:t>
                      </a:r>
                      <a:r>
                        <a:rPr sz="2400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required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4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avail</a:t>
                      </a:r>
                      <a:r>
                        <a:rPr sz="2400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some</a:t>
                      </a:r>
                      <a:r>
                        <a:rPr sz="24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system features.</a:t>
                      </a:r>
                      <a:endParaRPr sz="2400">
                        <a:latin typeface="Cambria"/>
                        <a:cs typeface="Cambria"/>
                      </a:endParaRPr>
                    </a:p>
                    <a:p>
                      <a:pPr marL="35560" marR="93980" indent="-8255">
                        <a:lnSpc>
                          <a:spcPct val="100000"/>
                        </a:lnSpc>
                        <a:buSzPct val="95833"/>
                        <a:buFont typeface="Arial MT"/>
                        <a:buChar char="•"/>
                        <a:tabLst>
                          <a:tab pos="141605" algn="l"/>
                        </a:tabLst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	Face</a:t>
                      </a:r>
                      <a:r>
                        <a:rPr sz="24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400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face</a:t>
                      </a:r>
                      <a:r>
                        <a:rPr sz="2400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communication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4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continuous</a:t>
                      </a:r>
                      <a:r>
                        <a:rPr sz="24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inputs</a:t>
                      </a:r>
                      <a:r>
                        <a:rPr sz="24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20" dirty="0">
                          <a:latin typeface="Cambria"/>
                          <a:cs typeface="Cambria"/>
                        </a:rPr>
                        <a:t>from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customer</a:t>
                      </a:r>
                      <a:r>
                        <a:rPr sz="2400" spc="-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representative leaves</a:t>
                      </a:r>
                      <a:r>
                        <a:rPr sz="24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no</a:t>
                      </a:r>
                      <a:r>
                        <a:rPr sz="24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space</a:t>
                      </a:r>
                      <a:r>
                        <a:rPr sz="24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25" dirty="0">
                          <a:latin typeface="Cambria"/>
                          <a:cs typeface="Cambria"/>
                        </a:rPr>
                        <a:t>for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guesswork.</a:t>
                      </a:r>
                      <a:endParaRPr sz="2400">
                        <a:latin typeface="Cambria"/>
                        <a:cs typeface="Cambria"/>
                      </a:endParaRPr>
                    </a:p>
                    <a:p>
                      <a:pPr marL="35560" marR="197485" indent="-8255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95833"/>
                        <a:buFont typeface="Arial MT"/>
                        <a:buChar char="•"/>
                        <a:tabLst>
                          <a:tab pos="141605" algn="l"/>
                        </a:tabLst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	The</a:t>
                      </a:r>
                      <a:r>
                        <a:rPr sz="24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end</a:t>
                      </a:r>
                      <a:r>
                        <a:rPr sz="24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result</a:t>
                      </a:r>
                      <a:r>
                        <a:rPr sz="24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24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4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high-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quality</a:t>
                      </a:r>
                      <a:r>
                        <a:rPr sz="24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software</a:t>
                      </a:r>
                      <a:r>
                        <a:rPr sz="24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24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4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least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possible</a:t>
                      </a:r>
                      <a:r>
                        <a:rPr sz="2400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time</a:t>
                      </a:r>
                      <a:r>
                        <a:rPr sz="2400" spc="-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duration</a:t>
                      </a:r>
                      <a:r>
                        <a:rPr sz="2400" spc="-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25" dirty="0">
                          <a:latin typeface="Cambria"/>
                          <a:cs typeface="Cambria"/>
                        </a:rPr>
                        <a:t>and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satisfied</a:t>
                      </a:r>
                      <a:r>
                        <a:rPr sz="2400" spc="-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customer.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309880" marB="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lnB w="9525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42240" indent="-114300">
                        <a:lnSpc>
                          <a:spcPct val="100000"/>
                        </a:lnSpc>
                        <a:buSzPct val="95833"/>
                        <a:buFont typeface="Arial MT"/>
                        <a:buChar char="•"/>
                        <a:tabLst>
                          <a:tab pos="142240" algn="l"/>
                        </a:tabLst>
                      </a:pPr>
                      <a:r>
                        <a:rPr sz="2400" spc="-10" dirty="0">
                          <a:latin typeface="Cambria"/>
                          <a:cs typeface="Cambria"/>
                        </a:rPr>
                        <a:t>Scalability.</a:t>
                      </a:r>
                      <a:endParaRPr sz="2400">
                        <a:latin typeface="Cambria"/>
                        <a:cs typeface="Cambria"/>
                      </a:endParaRPr>
                    </a:p>
                    <a:p>
                      <a:pPr marL="36195" marR="538480" indent="-8255">
                        <a:lnSpc>
                          <a:spcPct val="100000"/>
                        </a:lnSpc>
                        <a:buSzPct val="95833"/>
                        <a:buFont typeface="Arial MT"/>
                        <a:buChar char="•"/>
                        <a:tabLst>
                          <a:tab pos="142240" algn="l"/>
                        </a:tabLst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	The</a:t>
                      </a:r>
                      <a:r>
                        <a:rPr sz="24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ability</a:t>
                      </a:r>
                      <a:r>
                        <a:rPr sz="24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25" dirty="0">
                          <a:latin typeface="Cambria"/>
                          <a:cs typeface="Cambria"/>
                        </a:rPr>
                        <a:t>and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collaboration</a:t>
                      </a:r>
                      <a:r>
                        <a:rPr sz="2400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2400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2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customer</a:t>
                      </a:r>
                      <a:r>
                        <a:rPr sz="2400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400" spc="-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express</a:t>
                      </a:r>
                      <a:r>
                        <a:rPr sz="2400" spc="-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20" dirty="0">
                          <a:latin typeface="Cambria"/>
                          <a:cs typeface="Cambria"/>
                        </a:rPr>
                        <a:t>user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needs.</a:t>
                      </a:r>
                      <a:endParaRPr sz="2400">
                        <a:latin typeface="Cambria"/>
                        <a:cs typeface="Cambria"/>
                      </a:endParaRPr>
                    </a:p>
                    <a:p>
                      <a:pPr marL="36195" marR="363855" indent="-8255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95833"/>
                        <a:buFont typeface="Arial MT"/>
                        <a:buChar char="•"/>
                        <a:tabLst>
                          <a:tab pos="142240" algn="l"/>
                        </a:tabLst>
                      </a:pPr>
                      <a:r>
                        <a:rPr sz="2400" spc="-10" dirty="0">
                          <a:latin typeface="Cambria"/>
                          <a:cs typeface="Cambria"/>
                        </a:rPr>
                        <a:t>	Documentation</a:t>
                      </a:r>
                      <a:r>
                        <a:rPr sz="24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24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done</a:t>
                      </a:r>
                      <a:r>
                        <a:rPr sz="24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25" dirty="0">
                          <a:latin typeface="Cambria"/>
                          <a:cs typeface="Cambria"/>
                        </a:rPr>
                        <a:t>at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later</a:t>
                      </a:r>
                      <a:r>
                        <a:rPr sz="24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stages.</a:t>
                      </a:r>
                      <a:endParaRPr sz="2400">
                        <a:latin typeface="Cambria"/>
                        <a:cs typeface="Cambria"/>
                      </a:endParaRPr>
                    </a:p>
                    <a:p>
                      <a:pPr marL="142240" indent="-114300">
                        <a:lnSpc>
                          <a:spcPct val="100000"/>
                        </a:lnSpc>
                        <a:buSzPct val="95833"/>
                        <a:buFont typeface="Arial MT"/>
                        <a:buChar char="•"/>
                        <a:tabLst>
                          <a:tab pos="142240" algn="l"/>
                        </a:tabLst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Reduce</a:t>
                      </a:r>
                      <a:r>
                        <a:rPr sz="2400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400" spc="-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usability</a:t>
                      </a:r>
                      <a:r>
                        <a:rPr sz="2400" spc="-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25" dirty="0">
                          <a:latin typeface="Cambria"/>
                          <a:cs typeface="Cambria"/>
                        </a:rPr>
                        <a:t>of</a:t>
                      </a:r>
                      <a:endParaRPr sz="2400">
                        <a:latin typeface="Cambria"/>
                        <a:cs typeface="Cambria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</a:pPr>
                      <a:r>
                        <a:rPr sz="2400" spc="-10" dirty="0">
                          <a:latin typeface="Cambria"/>
                          <a:cs typeface="Cambria"/>
                        </a:rPr>
                        <a:t>components.</a:t>
                      </a:r>
                      <a:endParaRPr sz="2400">
                        <a:latin typeface="Cambria"/>
                        <a:cs typeface="Cambria"/>
                      </a:endParaRPr>
                    </a:p>
                    <a:p>
                      <a:pPr marL="36195" marR="247650" indent="-8255">
                        <a:lnSpc>
                          <a:spcPct val="100000"/>
                        </a:lnSpc>
                        <a:buSzPct val="95833"/>
                        <a:buFont typeface="Arial MT"/>
                        <a:buChar char="•"/>
                        <a:tabLst>
                          <a:tab pos="142240" algn="l"/>
                        </a:tabLst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	Needs</a:t>
                      </a:r>
                      <a:r>
                        <a:rPr sz="24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special</a:t>
                      </a:r>
                      <a:r>
                        <a:rPr sz="24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skills</a:t>
                      </a:r>
                      <a:r>
                        <a:rPr sz="24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for</a:t>
                      </a:r>
                      <a:r>
                        <a:rPr sz="2400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2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team.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142240" marB="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lnB w="9525">
                      <a:solidFill>
                        <a:srgbClr val="EAEAE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1103" rIns="0" bIns="0" rtlCol="0">
            <a:spAutoFit/>
          </a:bodyPr>
          <a:lstStyle/>
          <a:p>
            <a:pPr marL="2353945">
              <a:lnSpc>
                <a:spcPct val="100000"/>
              </a:lnSpc>
              <a:spcBef>
                <a:spcPts val="105"/>
              </a:spcBef>
            </a:pPr>
            <a:r>
              <a:rPr b="1" spc="-20" dirty="0">
                <a:latin typeface="Cambria"/>
                <a:cs typeface="Cambria"/>
              </a:rPr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8785"/>
            <a:ext cx="8007984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4765" indent="-34290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sz="3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https://melsatar.blog/2012/03/15/softwaredevel</a:t>
            </a: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opment-</a:t>
            </a:r>
            <a:r>
              <a:rPr sz="30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life-</a:t>
            </a:r>
            <a:r>
              <a:rPr sz="3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cycle-</a:t>
            </a:r>
            <a:r>
              <a:rPr sz="30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models-</a:t>
            </a:r>
            <a:r>
              <a:rPr sz="3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andmethodologies/</a:t>
            </a:r>
            <a:endParaRPr sz="3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25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sz="3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https://www.geeksforgeeks.org/softwareenginee</a:t>
            </a: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ring-</a:t>
            </a:r>
            <a:r>
              <a:rPr sz="30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spiral-</a:t>
            </a:r>
            <a:r>
              <a:rPr sz="3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model/</a:t>
            </a:r>
            <a:endParaRPr sz="3000">
              <a:latin typeface="Calibri"/>
              <a:cs typeface="Calibri"/>
            </a:endParaRPr>
          </a:p>
          <a:p>
            <a:pPr marL="355600" marR="887730" indent="-3429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sz="3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https://medium.com/@lizparody/waterfall-</a:t>
            </a: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vsagile-</a:t>
            </a:r>
            <a:r>
              <a:rPr sz="30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methodology-</a:t>
            </a:r>
            <a:r>
              <a:rPr sz="3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in-software-</a:t>
            </a: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development1e19ef168cf6</a:t>
            </a:r>
            <a:endParaRPr sz="3000">
              <a:latin typeface="Calibri"/>
              <a:cs typeface="Calibri"/>
            </a:endParaRPr>
          </a:p>
          <a:p>
            <a:pPr marL="355600" marR="15875" indent="-342900">
              <a:lnSpc>
                <a:spcPct val="100000"/>
              </a:lnSpc>
              <a:spcBef>
                <a:spcPts val="725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sz="30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https://www.tutorialspoint.com/sdlc/sdlc_waterf</a:t>
            </a:r>
            <a:r>
              <a:rPr sz="30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all_model.htm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9767" rIns="0" bIns="0" rtlCol="0">
            <a:spAutoFit/>
          </a:bodyPr>
          <a:lstStyle/>
          <a:p>
            <a:pPr marL="1670685">
              <a:lnSpc>
                <a:spcPct val="100000"/>
              </a:lnSpc>
              <a:spcBef>
                <a:spcPts val="105"/>
              </a:spcBef>
            </a:pPr>
            <a:r>
              <a:rPr dirty="0"/>
              <a:t>Identify</a:t>
            </a:r>
            <a:r>
              <a:rPr spc="-4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962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Consider</a:t>
            </a:r>
            <a:r>
              <a:rPr spc="-6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system</a:t>
            </a:r>
            <a:r>
              <a:rPr spc="-3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develop</a:t>
            </a:r>
            <a:r>
              <a:rPr spc="-45" dirty="0"/>
              <a:t> </a:t>
            </a:r>
            <a:r>
              <a:rPr dirty="0"/>
              <a:t>an</a:t>
            </a:r>
            <a:r>
              <a:rPr spc="-50" dirty="0"/>
              <a:t> </a:t>
            </a:r>
            <a:r>
              <a:rPr dirty="0"/>
              <a:t>IoT</a:t>
            </a:r>
            <a:r>
              <a:rPr spc="-60" dirty="0"/>
              <a:t> </a:t>
            </a:r>
            <a:r>
              <a:rPr spc="-10" dirty="0"/>
              <a:t>system</a:t>
            </a:r>
            <a:r>
              <a:rPr spc="-25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monitors</a:t>
            </a:r>
            <a:r>
              <a:rPr spc="-45" dirty="0"/>
              <a:t> </a:t>
            </a:r>
            <a:r>
              <a:rPr spc="-20" dirty="0"/>
              <a:t>room </a:t>
            </a:r>
            <a:r>
              <a:rPr spc="-10" dirty="0"/>
              <a:t>temperature,</a:t>
            </a:r>
            <a:r>
              <a:rPr spc="-20" dirty="0"/>
              <a:t> </a:t>
            </a:r>
            <a:r>
              <a:rPr dirty="0"/>
              <a:t>displays</a:t>
            </a:r>
            <a:r>
              <a:rPr spc="-35" dirty="0"/>
              <a:t> </a:t>
            </a:r>
            <a:r>
              <a:rPr spc="-30" dirty="0"/>
              <a:t>real-</a:t>
            </a:r>
            <a:r>
              <a:rPr dirty="0"/>
              <a:t>time</a:t>
            </a:r>
            <a:r>
              <a:rPr spc="5" dirty="0"/>
              <a:t> </a:t>
            </a: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on</a:t>
            </a:r>
            <a:r>
              <a:rPr spc="-5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mobile</a:t>
            </a:r>
            <a:r>
              <a:rPr spc="-35" dirty="0"/>
              <a:t> </a:t>
            </a:r>
            <a:r>
              <a:rPr dirty="0"/>
              <a:t>app,</a:t>
            </a:r>
            <a:r>
              <a:rPr spc="-4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sends</a:t>
            </a:r>
            <a:r>
              <a:rPr spc="-35" dirty="0"/>
              <a:t> </a:t>
            </a:r>
            <a:r>
              <a:rPr dirty="0"/>
              <a:t>alerts</a:t>
            </a:r>
            <a:r>
              <a:rPr spc="-10" dirty="0"/>
              <a:t> </a:t>
            </a:r>
            <a:r>
              <a:rPr spc="-25" dirty="0"/>
              <a:t>if </a:t>
            </a:r>
            <a:r>
              <a:rPr spc="-10" dirty="0"/>
              <a:t>temperatures</a:t>
            </a:r>
            <a:r>
              <a:rPr spc="-30" dirty="0"/>
              <a:t> </a:t>
            </a:r>
            <a:r>
              <a:rPr dirty="0"/>
              <a:t>go</a:t>
            </a:r>
            <a:r>
              <a:rPr spc="-70" dirty="0"/>
              <a:t> </a:t>
            </a:r>
            <a:r>
              <a:rPr dirty="0"/>
              <a:t>beyond</a:t>
            </a:r>
            <a:r>
              <a:rPr spc="-7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set</a:t>
            </a:r>
            <a:r>
              <a:rPr spc="-30" dirty="0"/>
              <a:t> </a:t>
            </a:r>
            <a:r>
              <a:rPr dirty="0"/>
              <a:t>range.</a:t>
            </a:r>
            <a:r>
              <a:rPr spc="-7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process</a:t>
            </a:r>
            <a:r>
              <a:rPr spc="-45" dirty="0"/>
              <a:t> </a:t>
            </a:r>
            <a:r>
              <a:rPr dirty="0"/>
              <a:t>enables</a:t>
            </a:r>
            <a:r>
              <a:rPr spc="-40" dirty="0"/>
              <a:t> </a:t>
            </a:r>
            <a:r>
              <a:rPr dirty="0"/>
              <a:t>flexibility</a:t>
            </a:r>
            <a:r>
              <a:rPr spc="-20" dirty="0"/>
              <a:t> </a:t>
            </a:r>
            <a:r>
              <a:rPr spc="-25" dirty="0"/>
              <a:t>and </a:t>
            </a:r>
            <a:r>
              <a:rPr dirty="0"/>
              <a:t>rapid</a:t>
            </a:r>
            <a:r>
              <a:rPr spc="-55" dirty="0"/>
              <a:t> </a:t>
            </a:r>
            <a:r>
              <a:rPr dirty="0"/>
              <a:t>updates,</a:t>
            </a:r>
            <a:r>
              <a:rPr spc="-45" dirty="0"/>
              <a:t> </a:t>
            </a:r>
            <a:r>
              <a:rPr dirty="0"/>
              <a:t>which</a:t>
            </a:r>
            <a:r>
              <a:rPr spc="-45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ideal</a:t>
            </a:r>
            <a:r>
              <a:rPr spc="-4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IoT</a:t>
            </a:r>
            <a:r>
              <a:rPr spc="-50" dirty="0"/>
              <a:t> </a:t>
            </a:r>
            <a:r>
              <a:rPr dirty="0"/>
              <a:t>projects</a:t>
            </a:r>
            <a:r>
              <a:rPr spc="-50" dirty="0"/>
              <a:t> </a:t>
            </a:r>
            <a:r>
              <a:rPr dirty="0"/>
              <a:t>where</a:t>
            </a:r>
            <a:r>
              <a:rPr spc="-45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needs</a:t>
            </a:r>
            <a:r>
              <a:rPr spc="-40" dirty="0"/>
              <a:t> </a:t>
            </a:r>
            <a:r>
              <a:rPr dirty="0"/>
              <a:t>evolve</a:t>
            </a:r>
            <a:r>
              <a:rPr spc="-30" dirty="0"/>
              <a:t> </a:t>
            </a:r>
            <a:r>
              <a:rPr spc="-25" dirty="0"/>
              <a:t>and </a:t>
            </a:r>
            <a:r>
              <a:rPr dirty="0"/>
              <a:t>technology</a:t>
            </a:r>
            <a:r>
              <a:rPr spc="-75" dirty="0"/>
              <a:t> </a:t>
            </a:r>
            <a:r>
              <a:rPr spc="-10" dirty="0"/>
              <a:t>integration</a:t>
            </a:r>
            <a:r>
              <a:rPr spc="-40" dirty="0"/>
              <a:t> </a:t>
            </a:r>
            <a:r>
              <a:rPr dirty="0"/>
              <a:t>changes</a:t>
            </a:r>
            <a:r>
              <a:rPr spc="-70" dirty="0"/>
              <a:t> </a:t>
            </a:r>
            <a:r>
              <a:rPr spc="-10" dirty="0"/>
              <a:t>frequently.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453" y="3661497"/>
            <a:ext cx="7834590" cy="189195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9767" rIns="0" bIns="0" rtlCol="0">
            <a:spAutoFit/>
          </a:bodyPr>
          <a:lstStyle/>
          <a:p>
            <a:pPr marL="1221105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160" dirty="0"/>
              <a:t> </a:t>
            </a:r>
            <a:r>
              <a:rPr spc="-10" dirty="0"/>
              <a:t>demonstration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7764145" cy="2075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4660900" algn="l"/>
              </a:tabLst>
            </a:pPr>
            <a:r>
              <a:rPr sz="3200" dirty="0">
                <a:latin typeface="Calibri"/>
                <a:cs typeface="Calibri"/>
              </a:rPr>
              <a:t>REV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2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demonstration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	AI Model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(April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1st </a:t>
            </a:r>
            <a:r>
              <a:rPr sz="3200" spc="-10" dirty="0">
                <a:latin typeface="Calibri"/>
                <a:cs typeface="Calibri"/>
              </a:rPr>
              <a:t>week).</a:t>
            </a:r>
            <a:endParaRPr sz="3200">
              <a:latin typeface="Calibri"/>
              <a:cs typeface="Calibri"/>
            </a:endParaRPr>
          </a:p>
          <a:p>
            <a:pPr marL="355600" marR="162687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4036695" algn="l"/>
              </a:tabLst>
            </a:pPr>
            <a:r>
              <a:rPr sz="3200" dirty="0">
                <a:latin typeface="Calibri"/>
                <a:cs typeface="Calibri"/>
              </a:rPr>
              <a:t>REV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3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Deployment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document </a:t>
            </a:r>
            <a:r>
              <a:rPr sz="3200" dirty="0">
                <a:latin typeface="Calibri"/>
                <a:cs typeface="Calibri"/>
              </a:rPr>
              <a:t>submission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(April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3rd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week)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3269</Words>
  <Application>Microsoft Office PowerPoint</Application>
  <PresentationFormat>On-screen Show (4:3)</PresentationFormat>
  <Paragraphs>290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 MT</vt:lpstr>
      <vt:lpstr>Calibri</vt:lpstr>
      <vt:lpstr>Cambria</vt:lpstr>
      <vt:lpstr>Times New Roman</vt:lpstr>
      <vt:lpstr>Office Theme</vt:lpstr>
      <vt:lpstr>Value engineering and Analysis</vt:lpstr>
      <vt:lpstr>Definitions &amp; Importance</vt:lpstr>
      <vt:lpstr>Principles of VE</vt:lpstr>
      <vt:lpstr>Value Analysis</vt:lpstr>
      <vt:lpstr>Phases or Steps in Value Engineering</vt:lpstr>
      <vt:lpstr>PowerPoint Presentation</vt:lpstr>
      <vt:lpstr>PowerPoint Presentation</vt:lpstr>
      <vt:lpstr>PowerPoint Presentation</vt:lpstr>
      <vt:lpstr>PowerPoint Presentation</vt:lpstr>
      <vt:lpstr>SDLC Models</vt:lpstr>
      <vt:lpstr>SDLC Models</vt:lpstr>
      <vt:lpstr>Waterfall Model</vt:lpstr>
      <vt:lpstr>The usage</vt:lpstr>
      <vt:lpstr>Phases in Waterfall model</vt:lpstr>
      <vt:lpstr>PowerPoint Presentation</vt:lpstr>
      <vt:lpstr>V-Shaped Model</vt:lpstr>
      <vt:lpstr>PowerPoint Presentation</vt:lpstr>
      <vt:lpstr>V-Model -The usage</vt:lpstr>
      <vt:lpstr>PowerPoint Presentation</vt:lpstr>
      <vt:lpstr>Evolutionary prototyping</vt:lpstr>
      <vt:lpstr>Iterative and Incremental Method</vt:lpstr>
      <vt:lpstr>PowerPoint Presentation</vt:lpstr>
      <vt:lpstr>Iterative Model-The Usage</vt:lpstr>
      <vt:lpstr>Advantages</vt:lpstr>
      <vt:lpstr>Spiral Model</vt:lpstr>
      <vt:lpstr>PowerPoint Presentation</vt:lpstr>
      <vt:lpstr>Spiral Model-Design</vt:lpstr>
      <vt:lpstr>Spiral Model-The Usage</vt:lpstr>
      <vt:lpstr>PowerPoint Presentation</vt:lpstr>
      <vt:lpstr>Agile Model</vt:lpstr>
      <vt:lpstr>Graphical illustration of Agile Model</vt:lpstr>
      <vt:lpstr>Agile-Principles</vt:lpstr>
      <vt:lpstr>PowerPoint Presentation</vt:lpstr>
      <vt:lpstr>References</vt:lpstr>
      <vt:lpstr>Identify the model</vt:lpstr>
      <vt:lpstr>Project demonstration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engineering and Analysis</dc:title>
  <dc:creator>Windows User</dc:creator>
  <cp:lastModifiedBy>Hemalatha K</cp:lastModifiedBy>
  <cp:revision>5</cp:revision>
  <dcterms:created xsi:type="dcterms:W3CDTF">2026-03-10T06:51:32Z</dcterms:created>
  <dcterms:modified xsi:type="dcterms:W3CDTF">2026-03-10T07:56:53Z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2026-03-10T00:00:00Z</vt:filetime>
  </property>
  <property fmtid="{D5CDD505-2E9C-101B-9397-08002B2CF9AE}" pid="5" name="Producer">
    <vt:lpwstr>Microsoft® PowerPoint® 2021</vt:lpwstr>
  </property>
</Properties>
</file>