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5306" y="461899"/>
            <a:ext cx="6933387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31414" y="3818610"/>
            <a:ext cx="328295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1538018"/>
            <a:ext cx="3759835" cy="450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7575" y="1559542"/>
            <a:ext cx="3818254" cy="474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0054" y="461899"/>
            <a:ext cx="766389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37461"/>
            <a:ext cx="7882890" cy="428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 u="sng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eeksforgeeks.or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sanity.com/text-message-marketing/why-tags-are-the-best-way-to-organize-your-data/" TargetMode="External"/><Relationship Id="rId2" Type="http://schemas.openxmlformats.org/officeDocument/2006/relationships/hyperlink" Target="https://www.godaddy.com/garage/what-is-hypertarget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forecasting-fundamentals-you-should-know-before-building-predictive-models-299a18c2093b" TargetMode="External"/><Relationship Id="rId5" Type="http://schemas.openxmlformats.org/officeDocument/2006/relationships/hyperlink" Target="https://medium.com/%40osiolabs/what-is-an-etl-extract-transform-load-pipeline-in-node-js-9a1a17de30f1" TargetMode="External"/><Relationship Id="rId4" Type="http://schemas.openxmlformats.org/officeDocument/2006/relationships/hyperlink" Target="https://www.investopedia.com/terms/p/predictive-modeling.asp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sanity.com/text-message-marketing/why-tags-are-the-best-way-to-organize-your-data/" TargetMode="External"/><Relationship Id="rId2" Type="http://schemas.openxmlformats.org/officeDocument/2006/relationships/hyperlink" Target="https://www.godaddy.com/garage/what-is-hypertarget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forecasting-fundamentals-you-should-know-before-building-predictive-models-299a18c2093b" TargetMode="External"/><Relationship Id="rId5" Type="http://schemas.openxmlformats.org/officeDocument/2006/relationships/hyperlink" Target="https://medium.com/%40osiolabs/what-is-an-etl-extract-transform-load-pipeline-in-node-js-9a1a17de30f1" TargetMode="External"/><Relationship Id="rId4" Type="http://schemas.openxmlformats.org/officeDocument/2006/relationships/hyperlink" Target="https://www.investopedia.com/terms/p/predictive-modeling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4294" y="2146173"/>
            <a:ext cx="29127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8435" marR="5080" indent="-16637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Data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Models (Module-</a:t>
            </a:r>
            <a:r>
              <a:rPr sz="4400" spc="-25" dirty="0">
                <a:latin typeface="Calibri"/>
                <a:cs typeface="Calibri"/>
              </a:rPr>
              <a:t>II)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931414" y="3818610"/>
            <a:ext cx="3469386" cy="1704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 algn="just">
              <a:lnSpc>
                <a:spcPct val="115599"/>
              </a:lnSpc>
              <a:spcBef>
                <a:spcPts val="100"/>
              </a:spcBef>
            </a:pPr>
            <a:r>
              <a:rPr sz="3200" u="none" dirty="0">
                <a:solidFill>
                  <a:srgbClr val="878787"/>
                </a:solidFill>
              </a:rPr>
              <a:t>Dr</a:t>
            </a:r>
            <a:r>
              <a:rPr lang="en-IN" sz="3200" u="none" spc="-40" dirty="0">
                <a:solidFill>
                  <a:srgbClr val="878787"/>
                </a:solidFill>
              </a:rPr>
              <a:t>.Hemalatha K</a:t>
            </a:r>
            <a:r>
              <a:rPr sz="3200" u="none" spc="-10" dirty="0">
                <a:solidFill>
                  <a:srgbClr val="878787"/>
                </a:solidFill>
              </a:rPr>
              <a:t> </a:t>
            </a:r>
            <a:endParaRPr lang="en-IN" sz="3200" u="none" spc="-10" dirty="0">
              <a:solidFill>
                <a:srgbClr val="878787"/>
              </a:solidFill>
            </a:endParaRPr>
          </a:p>
          <a:p>
            <a:pPr marL="12700" marR="5080" indent="112395" algn="just">
              <a:lnSpc>
                <a:spcPct val="115599"/>
              </a:lnSpc>
              <a:spcBef>
                <a:spcPts val="100"/>
              </a:spcBef>
            </a:pPr>
            <a:r>
              <a:rPr sz="3200" u="none" dirty="0">
                <a:solidFill>
                  <a:srgbClr val="878787"/>
                </a:solidFill>
              </a:rPr>
              <a:t>Ass</a:t>
            </a:r>
            <a:r>
              <a:rPr lang="en-IN" sz="3200" u="none" dirty="0" err="1">
                <a:solidFill>
                  <a:srgbClr val="878787"/>
                </a:solidFill>
              </a:rPr>
              <a:t>istant</a:t>
            </a:r>
            <a:r>
              <a:rPr sz="3200" u="none" spc="-20" dirty="0">
                <a:solidFill>
                  <a:srgbClr val="878787"/>
                </a:solidFill>
              </a:rPr>
              <a:t> </a:t>
            </a:r>
            <a:r>
              <a:rPr sz="3200" u="none" spc="-10" dirty="0">
                <a:solidFill>
                  <a:srgbClr val="878787"/>
                </a:solidFill>
              </a:rPr>
              <a:t>professor </a:t>
            </a:r>
            <a:r>
              <a:rPr sz="3200" u="none" dirty="0">
                <a:solidFill>
                  <a:srgbClr val="878787"/>
                </a:solidFill>
              </a:rPr>
              <a:t>SCOPE,VIT</a:t>
            </a:r>
            <a:r>
              <a:rPr sz="3200" u="none" spc="-25" dirty="0">
                <a:solidFill>
                  <a:srgbClr val="878787"/>
                </a:solidFill>
              </a:rPr>
              <a:t> </a:t>
            </a:r>
            <a:r>
              <a:rPr sz="3200" u="none" spc="-10" dirty="0">
                <a:solidFill>
                  <a:srgbClr val="878787"/>
                </a:solidFill>
              </a:rPr>
              <a:t>Chennai.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IoT</a:t>
            </a:r>
            <a:r>
              <a:rPr spc="-5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69745"/>
            <a:ext cx="7773034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  <a:tabLst>
                <a:tab pos="494538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enables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b="1" dirty="0">
                <a:latin typeface="Times New Roman"/>
                <a:cs typeface="Times New Roman"/>
              </a:rPr>
              <a:t>track,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monitor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manage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devices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ensure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devices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work </a:t>
            </a:r>
            <a:r>
              <a:rPr sz="3200" b="1" dirty="0">
                <a:latin typeface="Times New Roman"/>
                <a:cs typeface="Times New Roman"/>
              </a:rPr>
              <a:t>properly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securely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after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-10" dirty="0">
                <a:latin typeface="Times New Roman"/>
                <a:cs typeface="Times New Roman"/>
              </a:rPr>
              <a:t>deployment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5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Management</a:t>
            </a:r>
            <a:r>
              <a:rPr spc="-7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need?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673098"/>
            <a:ext cx="8001634" cy="42915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4495" marR="356870" indent="-392430" algn="just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405765" algn="l"/>
              </a:tabLst>
            </a:pPr>
            <a:r>
              <a:rPr sz="2600" b="1" dirty="0">
                <a:latin typeface="Times New Roman"/>
                <a:cs typeface="Times New Roman"/>
              </a:rPr>
              <a:t>IoT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sensors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interact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people,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homes,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cities,</a:t>
            </a:r>
            <a:r>
              <a:rPr sz="2600" spc="-10" dirty="0">
                <a:latin typeface="Times New Roman"/>
                <a:cs typeface="Times New Roman"/>
              </a:rPr>
              <a:t> farms, 	</a:t>
            </a:r>
            <a:r>
              <a:rPr sz="2600" dirty="0">
                <a:latin typeface="Times New Roman"/>
                <a:cs typeface="Times New Roman"/>
              </a:rPr>
              <a:t>factories,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workplaces,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vehicles, wearables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medical 	</a:t>
            </a:r>
            <a:r>
              <a:rPr sz="2600" dirty="0">
                <a:latin typeface="Times New Roman"/>
                <a:cs typeface="Times New Roman"/>
              </a:rPr>
              <a:t>devices,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beyond.</a:t>
            </a:r>
            <a:endParaRPr sz="2600" dirty="0">
              <a:latin typeface="Times New Roman"/>
              <a:cs typeface="Times New Roman"/>
            </a:endParaRPr>
          </a:p>
          <a:p>
            <a:pPr marL="404495" marR="5080" indent="-392430" algn="just">
              <a:lnSpc>
                <a:spcPct val="100000"/>
              </a:lnSpc>
              <a:buChar char="●"/>
              <a:tabLst>
                <a:tab pos="405765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 changing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lives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 managing home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appliances 	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vehicles.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technology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devices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now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advise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us 	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</a:t>
            </a:r>
            <a:r>
              <a:rPr sz="2600" b="1" dirty="0">
                <a:latin typeface="Times New Roman"/>
                <a:cs typeface="Times New Roman"/>
              </a:rPr>
              <a:t>hat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do, when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do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where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to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go</a:t>
            </a:r>
            <a:r>
              <a:rPr sz="2600" spc="-25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  <a:p>
            <a:pPr marL="404495" marR="53975" indent="-392430" algn="just">
              <a:lnSpc>
                <a:spcPct val="100000"/>
              </a:lnSpc>
              <a:spcBef>
                <a:spcPts val="5"/>
              </a:spcBef>
              <a:buChar char="●"/>
              <a:tabLst>
                <a:tab pos="405765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Industrial</a:t>
            </a:r>
            <a:r>
              <a:rPr sz="2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IoT applications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assist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us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in managing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data 	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for  processes, and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predicting</a:t>
            </a:r>
            <a:r>
              <a:rPr sz="2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faults and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disasters.</a:t>
            </a:r>
            <a:endParaRPr sz="26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62330" lvl="1" indent="-392430" algn="just">
              <a:lnSpc>
                <a:spcPct val="100000"/>
              </a:lnSpc>
              <a:buSzPct val="118181"/>
              <a:buChar char="●"/>
              <a:tabLst>
                <a:tab pos="86233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platforms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maintain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parameters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refine</a:t>
            </a:r>
            <a:endParaRPr sz="2200" dirty="0">
              <a:latin typeface="Times New Roman"/>
              <a:cs typeface="Times New Roman"/>
            </a:endParaRPr>
          </a:p>
          <a:p>
            <a:pPr marL="862965" algn="just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accordingly.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533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Management</a:t>
            </a:r>
            <a:r>
              <a:rPr spc="-7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262307"/>
            <a:ext cx="7929880" cy="190180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4965" marR="534670" indent="-342900" algn="just">
              <a:lnSpc>
                <a:spcPts val="1839"/>
              </a:lnSpc>
              <a:spcBef>
                <a:spcPts val="330"/>
              </a:spcBef>
              <a:buSzPct val="120000"/>
              <a:buChar char="•"/>
              <a:tabLst>
                <a:tab pos="354965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taking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overall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available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refining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important information</a:t>
            </a:r>
            <a:r>
              <a:rPr lang="en-IN" sz="1600" b="1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812165" lvl="1" indent="-336550" algn="just">
              <a:lnSpc>
                <a:spcPts val="1310"/>
              </a:lnSpc>
              <a:buSzPct val="130769"/>
              <a:buChar char="•"/>
              <a:tabLst>
                <a:tab pos="812165" algn="l"/>
              </a:tabLst>
            </a:pP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devices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applications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large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volumes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varieties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information.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all</a:t>
            </a:r>
            <a:r>
              <a:rPr lang="en-IN"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developing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executing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architectures,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policies,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practices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procedures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that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meet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full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lifecycle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needs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354965" indent="-336550" algn="just">
              <a:lnSpc>
                <a:spcPts val="1700"/>
              </a:lnSpc>
              <a:buChar char="•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Things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controlled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smart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devices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 automate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time.</a:t>
            </a:r>
            <a:endParaRPr sz="1600" dirty="0">
              <a:latin typeface="Times New Roman"/>
              <a:cs typeface="Times New Roman"/>
            </a:endParaRPr>
          </a:p>
          <a:p>
            <a:pPr marL="354965" marR="84455" algn="just">
              <a:lnSpc>
                <a:spcPts val="1839"/>
              </a:lnSpc>
              <a:spcBef>
                <a:spcPts val="125"/>
              </a:spcBef>
            </a:pPr>
            <a:r>
              <a:rPr sz="1600" b="1" dirty="0">
                <a:latin typeface="Times New Roman"/>
                <a:cs typeface="Times New Roman"/>
              </a:rPr>
              <a:t>Intelligent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things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collect,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transmit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understand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information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tool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will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required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aggregate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draw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inferences,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trends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patterns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036" y="3267925"/>
            <a:ext cx="6594602" cy="3448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IoT</a:t>
            </a:r>
            <a:r>
              <a:rPr spc="-50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management</a:t>
            </a:r>
            <a:r>
              <a:rPr spc="-7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/>
              <a:t>cloud</a:t>
            </a:r>
            <a:r>
              <a:rPr spc="-75" dirty="0"/>
              <a:t> </a:t>
            </a:r>
            <a:r>
              <a:rPr spc="-10" dirty="0"/>
              <a:t>computing</a:t>
            </a:r>
          </a:p>
          <a:p>
            <a:pPr marL="469900" marR="222885" indent="-361315">
              <a:lnSpc>
                <a:spcPct val="100000"/>
              </a:lnSpc>
              <a:spcBef>
                <a:spcPts val="715"/>
              </a:spcBef>
              <a:buChar char="●"/>
              <a:tabLst>
                <a:tab pos="469900" algn="l"/>
              </a:tabLst>
            </a:pP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1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1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happens</a:t>
            </a:r>
            <a:r>
              <a:rPr sz="21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1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centralised</a:t>
            </a:r>
            <a:r>
              <a:rPr sz="21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1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storage location</a:t>
            </a:r>
            <a:endParaRPr sz="21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5080" indent="-361315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2100" dirty="0">
                <a:latin typeface="Times New Roman"/>
                <a:cs typeface="Times New Roman"/>
              </a:rPr>
              <a:t>Sensors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devices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can </a:t>
            </a:r>
            <a:r>
              <a:rPr sz="2100" dirty="0">
                <a:latin typeface="Times New Roman"/>
                <a:cs typeface="Times New Roman"/>
              </a:rPr>
              <a:t>connect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indirectly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through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the </a:t>
            </a:r>
            <a:r>
              <a:rPr sz="2100" dirty="0">
                <a:latin typeface="Times New Roman"/>
                <a:cs typeface="Times New Roman"/>
              </a:rPr>
              <a:t>cloud,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where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 </a:t>
            </a:r>
            <a:r>
              <a:rPr sz="2100" spc="-10" dirty="0">
                <a:latin typeface="Times New Roman"/>
                <a:cs typeface="Times New Roman"/>
              </a:rPr>
              <a:t>centrally- </a:t>
            </a:r>
            <a:r>
              <a:rPr sz="2100" dirty="0">
                <a:latin typeface="Times New Roman"/>
                <a:cs typeface="Times New Roman"/>
              </a:rPr>
              <a:t>managed,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directly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other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devices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locally </a:t>
            </a:r>
            <a:r>
              <a:rPr sz="2100" dirty="0">
                <a:latin typeface="Times New Roman"/>
                <a:cs typeface="Times New Roman"/>
              </a:rPr>
              <a:t>collect,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store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analyse</a:t>
            </a:r>
            <a:r>
              <a:rPr sz="2100" spc="-25" dirty="0">
                <a:latin typeface="Times New Roman"/>
                <a:cs typeface="Times New Roman"/>
              </a:rPr>
              <a:t> the </a:t>
            </a:r>
            <a:r>
              <a:rPr sz="2100" dirty="0">
                <a:latin typeface="Times New Roman"/>
                <a:cs typeface="Times New Roman"/>
              </a:rPr>
              <a:t>data,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selected </a:t>
            </a:r>
            <a:r>
              <a:rPr sz="2100" dirty="0">
                <a:latin typeface="Times New Roman"/>
                <a:cs typeface="Times New Roman"/>
              </a:rPr>
              <a:t>findings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or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information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with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cloud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727575" y="1559542"/>
            <a:ext cx="3818254" cy="481413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/>
              <a:t>Edge </a:t>
            </a:r>
            <a:r>
              <a:rPr spc="-10" dirty="0"/>
              <a:t>computing</a:t>
            </a:r>
          </a:p>
          <a:p>
            <a:pPr marL="469900" marR="52705" indent="-355600">
              <a:lnSpc>
                <a:spcPct val="90000"/>
              </a:lnSpc>
              <a:spcBef>
                <a:spcPts val="720"/>
              </a:spcBef>
              <a:buChar char="●"/>
              <a:tabLst>
                <a:tab pos="4699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processed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near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source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at the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edge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network.</a:t>
            </a:r>
            <a:r>
              <a:rPr sz="2000" b="1" spc="4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locally,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IoT </a:t>
            </a:r>
            <a:r>
              <a:rPr sz="2000" dirty="0">
                <a:latin typeface="Times New Roman"/>
                <a:cs typeface="Times New Roman"/>
              </a:rPr>
              <a:t>saves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data,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meets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challenges.</a:t>
            </a:r>
            <a:endParaRPr sz="2000" dirty="0">
              <a:latin typeface="Times New Roman"/>
              <a:cs typeface="Times New Roman"/>
            </a:endParaRPr>
          </a:p>
          <a:p>
            <a:pPr marL="469900" marR="5080" indent="-355600">
              <a:lnSpc>
                <a:spcPts val="2160"/>
              </a:lnSpc>
              <a:spcBef>
                <a:spcPts val="30"/>
              </a:spcBef>
              <a:buChar char="●"/>
              <a:tabLst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Sensors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amount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gateway</a:t>
            </a:r>
            <a:r>
              <a:rPr sz="2000" spc="-10" dirty="0">
                <a:latin typeface="Times New Roman"/>
                <a:cs typeface="Times New Roman"/>
              </a:rPr>
              <a:t> devices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decisions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 dirty="0">
              <a:latin typeface="Times New Roman"/>
              <a:cs typeface="Times New Roman"/>
            </a:endParaRPr>
          </a:p>
          <a:p>
            <a:pPr marL="469900" indent="-355600">
              <a:lnSpc>
                <a:spcPts val="2010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 dirty="0">
              <a:latin typeface="Times New Roman"/>
              <a:cs typeface="Times New Roman"/>
            </a:endParaRPr>
          </a:p>
          <a:p>
            <a:pPr marL="469900" marR="5461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most </a:t>
            </a:r>
            <a:r>
              <a:rPr sz="2000" b="1" dirty="0">
                <a:latin typeface="Times New Roman"/>
                <a:cs typeface="Times New Roman"/>
              </a:rPr>
              <a:t>valuable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reduce </a:t>
            </a:r>
            <a:r>
              <a:rPr sz="2000" b="1" dirty="0">
                <a:latin typeface="Times New Roman"/>
                <a:cs typeface="Times New Roman"/>
              </a:rPr>
              <a:t>bandwidth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cost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767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Management</a:t>
            </a:r>
            <a:r>
              <a:rPr spc="-75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76146"/>
            <a:ext cx="7950834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Space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Optimization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challenges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real-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reduce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storage</a:t>
            </a:r>
            <a:r>
              <a:rPr lang="en-US"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marR="244475" indent="-342900" algn="just">
              <a:lnSpc>
                <a:spcPct val="10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Identification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tools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adaptive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maintenance,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predictive </a:t>
            </a:r>
            <a:r>
              <a:rPr sz="2400" b="1" dirty="0">
                <a:latin typeface="Times New Roman"/>
                <a:cs typeface="Times New Roman"/>
              </a:rPr>
              <a:t>repair,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security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monitoring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optimization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 </a:t>
            </a:r>
            <a:r>
              <a:rPr sz="2400" dirty="0">
                <a:latin typeface="Times New Roman"/>
                <a:cs typeface="Times New Roman"/>
              </a:rPr>
              <a:t>selecting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right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challenge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because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integration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different </a:t>
            </a:r>
            <a:r>
              <a:rPr sz="2400" b="1" dirty="0">
                <a:latin typeface="Times New Roman"/>
                <a:cs typeface="Times New Roman"/>
              </a:rPr>
              <a:t>sensors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 be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proven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compatibilities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confirmed.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endParaRPr lang="en-US" sz="2400" b="1" spc="-90" dirty="0">
              <a:latin typeface="Times New Roman"/>
              <a:cs typeface="Times New Roman"/>
            </a:endParaRPr>
          </a:p>
          <a:p>
            <a:pPr marL="355600" marR="244475" indent="-342900" algn="just">
              <a:lnSpc>
                <a:spcPct val="10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no </a:t>
            </a:r>
            <a:r>
              <a:rPr sz="2400" dirty="0">
                <a:latin typeface="Times New Roman"/>
                <a:cs typeface="Times New Roman"/>
              </a:rPr>
              <a:t>connection,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insights,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 </a:t>
            </a:r>
            <a:r>
              <a:rPr sz="2400" spc="-10" dirty="0">
                <a:latin typeface="Times New Roman"/>
                <a:cs typeface="Times New Roman"/>
              </a:rPr>
              <a:t>distribution</a:t>
            </a:r>
            <a:r>
              <a:rPr lang="en-US"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157" y="2481452"/>
            <a:ext cx="35661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Tagging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20" dirty="0"/>
              <a:t>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7111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6370320" cy="446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5445" indent="-372745">
              <a:lnSpc>
                <a:spcPts val="3650"/>
              </a:lnSpc>
              <a:spcBef>
                <a:spcPts val="105"/>
              </a:spcBef>
              <a:buFont typeface="Arial MT"/>
              <a:buChar char="•"/>
              <a:tabLst>
                <a:tab pos="385445" algn="l"/>
              </a:tabLst>
            </a:pPr>
            <a:r>
              <a:rPr sz="3200" dirty="0">
                <a:latin typeface="Calibri"/>
                <a:cs typeface="Calibri"/>
              </a:rPr>
              <a:t>Text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paper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Bytes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electronic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storage.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Twitter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image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structured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semi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unstructured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views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454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likes</a:t>
            </a:r>
            <a:endParaRPr sz="3200">
              <a:latin typeface="Calibri"/>
              <a:cs typeface="Calibri"/>
            </a:endParaRPr>
          </a:p>
          <a:p>
            <a:pPr marL="354965" indent="-284480">
              <a:lnSpc>
                <a:spcPts val="3650"/>
              </a:lnSpc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tagged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meta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114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Example-</a:t>
            </a:r>
            <a:r>
              <a:rPr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6166"/>
            <a:ext cx="7840980" cy="43218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Google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power</a:t>
            </a:r>
            <a:endParaRPr sz="3200">
              <a:latin typeface="Calibri"/>
              <a:cs typeface="Calibri"/>
            </a:endParaRPr>
          </a:p>
          <a:p>
            <a:pPr marL="755015" marR="5080" lvl="1" indent="-285750">
              <a:lnSpc>
                <a:spcPts val="303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pop-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5" dirty="0">
                <a:latin typeface="Calibri"/>
                <a:cs typeface="Calibri"/>
              </a:rPr>
              <a:t> you 	</a:t>
            </a:r>
            <a:r>
              <a:rPr sz="2800" dirty="0">
                <a:latin typeface="Calibri"/>
                <a:cs typeface="Calibri"/>
              </a:rPr>
              <a:t>saw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browser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before.</a:t>
            </a:r>
            <a:endParaRPr sz="2800">
              <a:latin typeface="Calibri"/>
              <a:cs typeface="Calibri"/>
            </a:endParaRPr>
          </a:p>
          <a:p>
            <a:pPr marL="756285" lvl="1" indent="-226695">
              <a:lnSpc>
                <a:spcPct val="100000"/>
              </a:lnSpc>
              <a:spcBef>
                <a:spcPts val="120"/>
              </a:spcBef>
              <a:buSzPct val="64285"/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How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happening?</a:t>
            </a:r>
            <a:endParaRPr sz="2800">
              <a:latin typeface="Calibri"/>
              <a:cs typeface="Calibri"/>
            </a:endParaRPr>
          </a:p>
          <a:p>
            <a:pPr marL="1211580" marR="65405" lvl="2" indent="-285115">
              <a:lnSpc>
                <a:spcPct val="90000"/>
              </a:lnSpc>
              <a:spcBef>
                <a:spcPts val="520"/>
              </a:spcBef>
              <a:buFont typeface="Arial MT"/>
              <a:buChar char="–"/>
              <a:tabLst>
                <a:tab pos="1213485" algn="l"/>
              </a:tabLst>
            </a:pP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you 	</a:t>
            </a:r>
            <a:r>
              <a:rPr sz="2400" dirty="0">
                <a:latin typeface="Calibri"/>
                <a:cs typeface="Calibri"/>
              </a:rPr>
              <a:t>mentioned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unicorn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hoodies,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advertisement 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offered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you.</a:t>
            </a:r>
            <a:endParaRPr sz="2400">
              <a:latin typeface="Calibri"/>
              <a:cs typeface="Calibri"/>
            </a:endParaRPr>
          </a:p>
          <a:p>
            <a:pPr marL="1211580" marR="472440" lvl="2" indent="-285115">
              <a:lnSpc>
                <a:spcPts val="2590"/>
              </a:lnSpc>
              <a:spcBef>
                <a:spcPts val="540"/>
              </a:spcBef>
              <a:buFont typeface="Arial MT"/>
              <a:buChar char="–"/>
              <a:tabLst>
                <a:tab pos="1213485" algn="l"/>
              </a:tabLst>
            </a:pP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billions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	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around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world.</a:t>
            </a:r>
            <a:endParaRPr sz="2400">
              <a:latin typeface="Calibri"/>
              <a:cs typeface="Calibri"/>
            </a:endParaRPr>
          </a:p>
          <a:p>
            <a:pPr marL="1211580" marR="474345" lvl="2" indent="-285115">
              <a:lnSpc>
                <a:spcPts val="2590"/>
              </a:lnSpc>
              <a:spcBef>
                <a:spcPts val="509"/>
              </a:spcBef>
              <a:buFont typeface="Arial MT"/>
              <a:buChar char="–"/>
              <a:tabLst>
                <a:tab pos="12134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Gmail,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G 	</a:t>
            </a:r>
            <a:r>
              <a:rPr sz="2400" dirty="0">
                <a:latin typeface="Calibri"/>
                <a:cs typeface="Calibri"/>
              </a:rPr>
              <a:t>Suite,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Chrome,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YouTube,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78735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5" dirty="0"/>
              <a:t> </a:t>
            </a:r>
            <a:r>
              <a:rPr spc="-25" dirty="0"/>
              <a:t>-II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1215897"/>
            <a:ext cx="8028305" cy="43395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44450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5600" algn="l"/>
                <a:tab pos="370840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000" dirty="0">
                <a:latin typeface="Calibri"/>
                <a:cs typeface="Calibri"/>
              </a:rPr>
              <a:t>Real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estate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website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home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values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free.</a:t>
            </a:r>
            <a:endParaRPr sz="3000">
              <a:latin typeface="Calibri"/>
              <a:cs typeface="Calibri"/>
            </a:endParaRPr>
          </a:p>
          <a:p>
            <a:pPr marL="355600" marR="224790" indent="-342900">
              <a:lnSpc>
                <a:spcPts val="3240"/>
              </a:lnSpc>
              <a:spcBef>
                <a:spcPts val="605"/>
              </a:spcBef>
              <a:buChar char="•"/>
              <a:tabLst>
                <a:tab pos="355600" algn="l"/>
                <a:tab pos="370840" algn="l"/>
                <a:tab pos="1290320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000" spc="-20" dirty="0">
                <a:latin typeface="Calibri"/>
                <a:cs typeface="Calibri"/>
              </a:rPr>
              <a:t>They</a:t>
            </a:r>
            <a:r>
              <a:rPr sz="3000" dirty="0">
                <a:latin typeface="Calibri"/>
                <a:cs typeface="Calibri"/>
              </a:rPr>
              <a:t>	started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making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agreements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local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real </a:t>
            </a:r>
            <a:r>
              <a:rPr sz="3000" dirty="0">
                <a:latin typeface="Calibri"/>
                <a:cs typeface="Calibri"/>
              </a:rPr>
              <a:t>estate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associations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port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their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local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sales </a:t>
            </a:r>
            <a:r>
              <a:rPr sz="3000" dirty="0">
                <a:latin typeface="Calibri"/>
                <a:cs typeface="Calibri"/>
              </a:rPr>
              <a:t>information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directly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Zillow’s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database.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550"/>
              </a:spcBef>
              <a:buChar char="•"/>
              <a:tabLst>
                <a:tab pos="355600" algn="l"/>
                <a:tab pos="370840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000" dirty="0">
                <a:latin typeface="Calibri"/>
                <a:cs typeface="Calibri"/>
              </a:rPr>
              <a:t>Zillow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gets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realtors.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attract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homebuyers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online,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generating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leads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realtors,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sells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back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the </a:t>
            </a:r>
            <a:r>
              <a:rPr sz="3000" dirty="0">
                <a:latin typeface="Calibri"/>
                <a:cs typeface="Calibri"/>
              </a:rPr>
              <a:t>realtors,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who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gave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them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first place.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483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80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69745"/>
            <a:ext cx="8024495" cy="320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44195" indent="-34290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85445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powerful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organized properly</a:t>
            </a:r>
            <a:endParaRPr sz="3200" dirty="0">
              <a:latin typeface="Calibri"/>
              <a:cs typeface="Calibri"/>
            </a:endParaRPr>
          </a:p>
          <a:p>
            <a:pPr marL="756285" marR="566420" indent="-313055" algn="just">
              <a:lnSpc>
                <a:spcPct val="100000"/>
              </a:lnSpc>
              <a:spcBef>
                <a:spcPts val="53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It’s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ability,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business owner,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b="1" dirty="0">
                <a:latin typeface="Calibri"/>
                <a:cs typeface="Calibri"/>
              </a:rPr>
              <a:t>understands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trends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your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customers’ </a:t>
            </a:r>
            <a:r>
              <a:rPr sz="2800" b="1" dirty="0">
                <a:latin typeface="Calibri"/>
                <a:cs typeface="Calibri"/>
              </a:rPr>
              <a:t>behavior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proactive,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rather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than</a:t>
            </a:r>
            <a:endParaRPr sz="2800" dirty="0">
              <a:latin typeface="Calibri"/>
              <a:cs typeface="Calibri"/>
            </a:endParaRPr>
          </a:p>
          <a:p>
            <a:pPr marL="756285" marR="5080" algn="just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reactive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bottom </a:t>
            </a:r>
            <a:r>
              <a:rPr sz="2800" dirty="0">
                <a:latin typeface="Calibri"/>
                <a:cs typeface="Calibri"/>
              </a:rPr>
              <a:t>line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sales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spc="-10" dirty="0"/>
              <a:t>collectors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713"/>
            <a:ext cx="7920355" cy="258699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Monetization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gaining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money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Facebook,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Twitter,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LinkedIn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money.</a:t>
            </a:r>
            <a:endParaRPr sz="2800">
              <a:latin typeface="Calibri"/>
              <a:cs typeface="Calibri"/>
            </a:endParaRPr>
          </a:p>
          <a:p>
            <a:pPr marL="355600" marR="311785" indent="-34290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Collecting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customers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their trends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6982" y="15620"/>
            <a:ext cx="10477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652018"/>
            <a:ext cx="8095615" cy="529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385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Organizing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data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35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Collecting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 marL="756285" lvl="1" indent="-286385">
              <a:lnSpc>
                <a:spcPts val="2130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Learn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track</a:t>
            </a:r>
            <a:endParaRPr sz="1800" dirty="0">
              <a:latin typeface="Calibri"/>
              <a:cs typeface="Calibri"/>
            </a:endParaRPr>
          </a:p>
          <a:p>
            <a:pPr marL="756285" lvl="1" indent="-286385">
              <a:lnSpc>
                <a:spcPts val="2095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2115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Tags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something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assign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25" dirty="0">
                <a:latin typeface="Calibri"/>
                <a:cs typeface="Calibri"/>
              </a:rPr>
              <a:t> be</a:t>
            </a:r>
            <a:endParaRPr sz="2000" dirty="0">
              <a:latin typeface="Calibri"/>
              <a:cs typeface="Calibri"/>
            </a:endParaRPr>
          </a:p>
          <a:p>
            <a:pPr marL="469900" indent="-114935">
              <a:lnSpc>
                <a:spcPts val="2155"/>
              </a:lnSpc>
            </a:pPr>
            <a:r>
              <a:rPr sz="2000" dirty="0">
                <a:latin typeface="Calibri"/>
                <a:cs typeface="Calibri"/>
              </a:rPr>
              <a:t>tagged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tags.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05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hashtags.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234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Tagging</a:t>
            </a:r>
            <a:endParaRPr sz="2000" dirty="0">
              <a:latin typeface="Calibri"/>
              <a:cs typeface="Calibri"/>
            </a:endParaRPr>
          </a:p>
          <a:p>
            <a:pPr marL="756285" marR="109855" lvl="1" indent="-287020">
              <a:lnSpc>
                <a:spcPct val="80000"/>
              </a:lnSpc>
              <a:spcBef>
                <a:spcPts val="41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indexing,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process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labelling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categorizing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made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resource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discovery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users.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ts val="1570"/>
              </a:lnSpc>
              <a:buFont typeface="Arial MT"/>
              <a:buChar char="•"/>
              <a:tabLst>
                <a:tab pos="1155700" algn="l"/>
              </a:tabLst>
            </a:pPr>
            <a:r>
              <a:rPr sz="1500" dirty="0">
                <a:latin typeface="Calibri"/>
                <a:cs typeface="Calibri"/>
              </a:rPr>
              <a:t>Social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tagging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generally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practice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whereby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internet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generate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keywords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</a:t>
            </a:r>
            <a:endParaRPr sz="1500" dirty="0">
              <a:latin typeface="Calibri"/>
              <a:cs typeface="Calibri"/>
            </a:endParaRPr>
          </a:p>
          <a:p>
            <a:pPr marL="1155700">
              <a:lnSpc>
                <a:spcPts val="1575"/>
              </a:lnSpc>
            </a:pPr>
            <a:r>
              <a:rPr sz="1500" dirty="0">
                <a:latin typeface="Calibri"/>
                <a:cs typeface="Calibri"/>
              </a:rPr>
              <a:t>describe,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categorize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comment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digital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content</a:t>
            </a:r>
            <a:endParaRPr sz="1500" dirty="0">
              <a:latin typeface="Calibri"/>
              <a:cs typeface="Calibri"/>
            </a:endParaRPr>
          </a:p>
          <a:p>
            <a:pPr marL="411480" indent="-398780">
              <a:lnSpc>
                <a:spcPts val="2340"/>
              </a:lnSpc>
              <a:buFont typeface="Arial MT"/>
              <a:buChar char="•"/>
              <a:tabLst>
                <a:tab pos="411480" algn="l"/>
              </a:tabLst>
            </a:pPr>
            <a:r>
              <a:rPr sz="2000" i="1" dirty="0">
                <a:latin typeface="Calibri"/>
                <a:cs typeface="Calibri"/>
              </a:rPr>
              <a:t>Tags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efficient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organize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customers,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00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improve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experience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businesses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categoric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2345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 </a:t>
            </a:r>
            <a:r>
              <a:rPr sz="2000" spc="-20" dirty="0">
                <a:latin typeface="Calibri"/>
                <a:cs typeface="Calibri"/>
              </a:rPr>
              <a:t>tags.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05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Customer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might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tag.</a:t>
            </a:r>
            <a:endParaRPr sz="1800" dirty="0">
              <a:latin typeface="Calibri"/>
              <a:cs typeface="Calibri"/>
            </a:endParaRPr>
          </a:p>
          <a:p>
            <a:pPr marL="469900" marR="24130" indent="-457834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469900" algn="l"/>
              </a:tabLst>
            </a:pPr>
            <a:r>
              <a:rPr sz="2000" b="1" dirty="0">
                <a:latin typeface="Calibri"/>
                <a:cs typeface="Calibri"/>
              </a:rPr>
              <a:t>CRMs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have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multiple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fields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you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input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each </a:t>
            </a:r>
            <a:r>
              <a:rPr sz="2000" b="1" spc="-10" dirty="0">
                <a:latin typeface="Calibri"/>
                <a:cs typeface="Calibri"/>
              </a:rPr>
              <a:t>customer. </a:t>
            </a:r>
            <a:r>
              <a:rPr sz="2000" b="1" dirty="0">
                <a:latin typeface="Calibri"/>
                <a:cs typeface="Calibri"/>
              </a:rPr>
              <a:t>Any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field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where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you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add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category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common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across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the </a:t>
            </a:r>
            <a:r>
              <a:rPr sz="2000" b="1" dirty="0">
                <a:latin typeface="Calibri"/>
                <a:cs typeface="Calibri"/>
              </a:rPr>
              <a:t>different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customers,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if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you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categorize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them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with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more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one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those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category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options,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tags.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7709" y="215502"/>
            <a:ext cx="816351" cy="8163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1305" y="-151129"/>
            <a:ext cx="19596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HashTag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180" y="399668"/>
            <a:ext cx="6708140" cy="57365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0360" marR="548640" indent="-32766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40360" algn="l"/>
              </a:tabLst>
            </a:pPr>
            <a:r>
              <a:rPr sz="2500" dirty="0">
                <a:latin typeface="Calibri"/>
                <a:cs typeface="Calibri"/>
              </a:rPr>
              <a:t>Assigning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set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data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social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media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data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hashtags.</a:t>
            </a:r>
            <a:endParaRPr sz="2500">
              <a:latin typeface="Calibri"/>
              <a:cs typeface="Calibri"/>
            </a:endParaRPr>
          </a:p>
          <a:p>
            <a:pPr marL="340360" marR="5080" indent="-32766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40360" algn="l"/>
              </a:tabLst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hashtag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metadata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tag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prefaced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by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hash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symbol,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#.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Hashtags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widely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used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on </a:t>
            </a:r>
            <a:r>
              <a:rPr sz="2500" b="1" spc="-10" dirty="0">
                <a:latin typeface="Calibri"/>
                <a:cs typeface="Calibri"/>
              </a:rPr>
              <a:t>microblogging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photo-</a:t>
            </a:r>
            <a:r>
              <a:rPr sz="2500" b="1" dirty="0">
                <a:latin typeface="Calibri"/>
                <a:cs typeface="Calibri"/>
              </a:rPr>
              <a:t>sharing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services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such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Twitter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Instagram</a:t>
            </a:r>
            <a:r>
              <a:rPr sz="2500" b="1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form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user- </a:t>
            </a:r>
            <a:r>
              <a:rPr sz="2500" dirty="0">
                <a:latin typeface="Calibri"/>
                <a:cs typeface="Calibri"/>
              </a:rPr>
              <a:t>generated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tagging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enables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cross-referencing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content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sharing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subject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theme.</a:t>
            </a:r>
            <a:endParaRPr sz="2500">
              <a:latin typeface="Calibri"/>
              <a:cs typeface="Calibri"/>
            </a:endParaRPr>
          </a:p>
          <a:p>
            <a:pPr marL="340360" marR="127635" indent="-327660">
              <a:lnSpc>
                <a:spcPts val="2400"/>
              </a:lnSpc>
              <a:spcBef>
                <a:spcPts val="475"/>
              </a:spcBef>
              <a:buFont typeface="Arial MT"/>
              <a:buChar char="•"/>
              <a:tabLst>
                <a:tab pos="340360" algn="l"/>
              </a:tabLst>
            </a:pPr>
            <a:r>
              <a:rPr sz="2500" dirty="0">
                <a:latin typeface="Calibri"/>
                <a:cs typeface="Calibri"/>
              </a:rPr>
              <a:t>hashtag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draw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attention,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organize, </a:t>
            </a:r>
            <a:r>
              <a:rPr sz="2500" dirty="0">
                <a:latin typeface="Calibri"/>
                <a:cs typeface="Calibri"/>
              </a:rPr>
              <a:t>promote,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connect.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started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Twitter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as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way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making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easier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people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find, </a:t>
            </a:r>
            <a:r>
              <a:rPr sz="2500" b="1" dirty="0">
                <a:latin typeface="Calibri"/>
                <a:cs typeface="Calibri"/>
              </a:rPr>
              <a:t>follow,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contribute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conversation</a:t>
            </a:r>
            <a:endParaRPr sz="2500">
              <a:latin typeface="Calibri"/>
              <a:cs typeface="Calibri"/>
            </a:endParaRPr>
          </a:p>
          <a:p>
            <a:pPr marL="340360" marR="523875" indent="-327660">
              <a:lnSpc>
                <a:spcPts val="2400"/>
              </a:lnSpc>
              <a:spcBef>
                <a:spcPts val="500"/>
              </a:spcBef>
              <a:buFont typeface="Arial MT"/>
              <a:buChar char="•"/>
              <a:tabLst>
                <a:tab pos="340360" algn="l"/>
              </a:tabLst>
            </a:pPr>
            <a:r>
              <a:rPr sz="2500" dirty="0">
                <a:latin typeface="Calibri"/>
                <a:cs typeface="Calibri"/>
              </a:rPr>
              <a:t>Instagram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every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post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tagged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specific hashtag.</a:t>
            </a:r>
            <a:endParaRPr sz="2500">
              <a:latin typeface="Calibri"/>
              <a:cs typeface="Calibri"/>
            </a:endParaRPr>
          </a:p>
          <a:p>
            <a:pPr marL="741045" marR="387985" lvl="1" indent="-273050">
              <a:lnSpc>
                <a:spcPct val="80000"/>
              </a:lnSpc>
              <a:spcBef>
                <a:spcPts val="430"/>
              </a:spcBef>
              <a:buFont typeface="Arial MT"/>
              <a:buChar char="–"/>
              <a:tabLst>
                <a:tab pos="74104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hashtag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#chicagofood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attached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791,000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posts.</a:t>
            </a:r>
            <a:endParaRPr sz="2200">
              <a:latin typeface="Calibri"/>
              <a:cs typeface="Calibri"/>
            </a:endParaRPr>
          </a:p>
          <a:p>
            <a:pPr marL="741045" marR="301625" lvl="1" indent="-273050">
              <a:lnSpc>
                <a:spcPct val="80000"/>
              </a:lnSpc>
              <a:spcBef>
                <a:spcPts val="409"/>
              </a:spcBef>
              <a:buChar char="–"/>
              <a:tabLst>
                <a:tab pos="741045" algn="l"/>
                <a:tab pos="805180" algn="l"/>
              </a:tabLst>
            </a:pP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Calibri"/>
                <a:cs typeface="Calibri"/>
              </a:rPr>
              <a:t>#ginoseastpizza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restaurant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Chicago)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attached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1000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1521" y="260604"/>
            <a:ext cx="1792477" cy="23869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0364">
              <a:lnSpc>
                <a:spcPct val="100000"/>
              </a:lnSpc>
              <a:spcBef>
                <a:spcPts val="105"/>
              </a:spcBef>
            </a:pPr>
            <a:r>
              <a:rPr dirty="0"/>
              <a:t>Why use </a:t>
            </a:r>
            <a:r>
              <a:rPr spc="-10" dirty="0"/>
              <a:t>hashtags?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889875" cy="3745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630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Hashtags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helps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get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found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target audience.</a:t>
            </a:r>
            <a:endParaRPr sz="3200">
              <a:latin typeface="Calibri"/>
              <a:cs typeface="Calibri"/>
            </a:endParaRPr>
          </a:p>
          <a:p>
            <a:pPr marL="355600" marR="411480" indent="-3429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Hashtags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improve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your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click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through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rates (CTR)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Hashtags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are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great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for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research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Hashtags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bring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like-</a:t>
            </a:r>
            <a:r>
              <a:rPr sz="3200" b="1" dirty="0">
                <a:latin typeface="Calibri"/>
                <a:cs typeface="Calibri"/>
              </a:rPr>
              <a:t>minded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people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together.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Hashtags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be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used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for</a:t>
            </a:r>
            <a:r>
              <a:rPr sz="3200" b="1" spc="-10" dirty="0">
                <a:latin typeface="Calibri"/>
                <a:cs typeface="Calibri"/>
              </a:rPr>
              <a:t> humor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038" y="78994"/>
            <a:ext cx="1677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37031"/>
            <a:ext cx="7997190" cy="41275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#business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#entrepreneur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#marketing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Specifying</a:t>
            </a:r>
            <a:endParaRPr sz="3200">
              <a:latin typeface="Calibri"/>
              <a:cs typeface="Calibri"/>
            </a:endParaRPr>
          </a:p>
          <a:p>
            <a:pPr marL="755015" marR="5080" lvl="1" indent="-285750" algn="just">
              <a:lnSpc>
                <a:spcPct val="9000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put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pound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phrase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turn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hashtag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 	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rules: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spaces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punctuation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characters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capitalization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readability(optional)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592" y="1951101"/>
            <a:ext cx="664908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WITHOUT</a:t>
            </a:r>
            <a:r>
              <a:rPr sz="3600" b="1" spc="-10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TAGS,</a:t>
            </a:r>
            <a:r>
              <a:rPr sz="3600" b="1" spc="-11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SENDING </a:t>
            </a:r>
            <a:r>
              <a:rPr sz="3600" b="1" dirty="0">
                <a:latin typeface="Calibri"/>
                <a:cs typeface="Calibri"/>
              </a:rPr>
              <a:t>EVERYONE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YOUR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DATABASE EVERYTHING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YOU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HAVE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TO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OFFER, </a:t>
            </a:r>
            <a:r>
              <a:rPr sz="3600" b="1" dirty="0">
                <a:latin typeface="Calibri"/>
                <a:cs typeface="Calibri"/>
              </a:rPr>
              <a:t>WHICH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IS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NOT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AS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EFFECTIVE.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0251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0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1293"/>
            <a:ext cx="5597525" cy="17183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One </a:t>
            </a:r>
            <a:r>
              <a:rPr sz="3200" spc="-25" dirty="0">
                <a:latin typeface="Calibri"/>
                <a:cs typeface="Calibri"/>
              </a:rPr>
              <a:t>Tag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Hyper-</a:t>
            </a:r>
            <a:r>
              <a:rPr sz="3200" dirty="0">
                <a:latin typeface="Calibri"/>
                <a:cs typeface="Calibri"/>
              </a:rPr>
              <a:t>targeted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advertising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tags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0">
              <a:lnSpc>
                <a:spcPct val="100000"/>
              </a:lnSpc>
              <a:spcBef>
                <a:spcPts val="105"/>
              </a:spcBef>
            </a:pPr>
            <a:r>
              <a:rPr dirty="0"/>
              <a:t>One </a:t>
            </a:r>
            <a:r>
              <a:rPr spc="-25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28940" cy="2009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Only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associated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customer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Buying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beauty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Buying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sports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company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8573" y="174751"/>
            <a:ext cx="3007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 </a:t>
            </a:r>
            <a:r>
              <a:rPr spc="-20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71601"/>
            <a:ext cx="7969884" cy="42570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Assigning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by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company</a:t>
            </a:r>
            <a:endParaRPr sz="3200">
              <a:latin typeface="Calibri"/>
              <a:cs typeface="Calibri"/>
            </a:endParaRPr>
          </a:p>
          <a:p>
            <a:pPr marL="756285" marR="739775" lvl="1" indent="-287020">
              <a:lnSpc>
                <a:spcPts val="3020"/>
              </a:lnSpc>
              <a:spcBef>
                <a:spcPts val="61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buys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beauty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sporting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goods</a:t>
            </a:r>
            <a:endParaRPr sz="2800">
              <a:latin typeface="Calibri"/>
              <a:cs typeface="Calibri"/>
            </a:endParaRPr>
          </a:p>
          <a:p>
            <a:pPr marL="756285" marR="488950" lvl="1" indent="-287020">
              <a:lnSpc>
                <a:spcPct val="90000"/>
              </a:lnSpc>
              <a:spcBef>
                <a:spcPts val="560"/>
              </a:spcBef>
              <a:buChar char="–"/>
              <a:tabLst>
                <a:tab pos="756285" algn="l"/>
                <a:tab pos="836930" algn="l"/>
              </a:tabLst>
            </a:pPr>
            <a:r>
              <a:rPr sz="2800" dirty="0">
                <a:latin typeface="Arial MT"/>
                <a:cs typeface="Arial MT"/>
              </a:rPr>
              <a:t>	</a:t>
            </a:r>
            <a:r>
              <a:rPr sz="2800" b="1" dirty="0">
                <a:latin typeface="Calibri"/>
                <a:cs typeface="Calibri"/>
              </a:rPr>
              <a:t>With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tags,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company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can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assign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many </a:t>
            </a:r>
            <a:r>
              <a:rPr sz="2800" b="1" dirty="0">
                <a:latin typeface="Calibri"/>
                <a:cs typeface="Calibri"/>
              </a:rPr>
              <a:t>different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tags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customer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need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and </a:t>
            </a:r>
            <a:r>
              <a:rPr sz="2800" b="1" spc="-10" dirty="0">
                <a:latin typeface="Calibri"/>
                <a:cs typeface="Calibri"/>
              </a:rPr>
              <a:t>desire.</a:t>
            </a:r>
            <a:endParaRPr sz="2800">
              <a:latin typeface="Calibri"/>
              <a:cs typeface="Calibri"/>
            </a:endParaRPr>
          </a:p>
          <a:p>
            <a:pPr marL="756285" marR="213995" lvl="1" indent="-287020">
              <a:lnSpc>
                <a:spcPct val="9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Now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it’s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company’s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marketing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market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tagged;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4790">
              <a:lnSpc>
                <a:spcPct val="100000"/>
              </a:lnSpc>
              <a:spcBef>
                <a:spcPts val="105"/>
              </a:spcBef>
            </a:pPr>
            <a:r>
              <a:rPr dirty="0"/>
              <a:t>Targeted</a:t>
            </a:r>
            <a:r>
              <a:rPr spc="-190" dirty="0"/>
              <a:t> </a:t>
            </a:r>
            <a:r>
              <a:rPr spc="-10" dirty="0"/>
              <a:t>advertising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0990"/>
            <a:ext cx="8065770" cy="38334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108585" indent="-342900">
              <a:lnSpc>
                <a:spcPct val="90000"/>
              </a:lnSpc>
              <a:spcBef>
                <a:spcPts val="425"/>
              </a:spcBef>
              <a:buChar char="•"/>
              <a:tabLst>
                <a:tab pos="355600" algn="l"/>
                <a:tab pos="370205" algn="l"/>
              </a:tabLst>
            </a:pPr>
            <a:r>
              <a:rPr sz="2700" dirty="0">
                <a:latin typeface="Arial MT"/>
                <a:cs typeface="Arial MT"/>
              </a:rPr>
              <a:t>	</a:t>
            </a:r>
            <a:r>
              <a:rPr sz="2700" dirty="0">
                <a:latin typeface="Calibri"/>
                <a:cs typeface="Calibri"/>
              </a:rPr>
              <a:t>Targeted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advertising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form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advertising,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online </a:t>
            </a:r>
            <a:r>
              <a:rPr sz="2700" dirty="0">
                <a:latin typeface="Calibri"/>
                <a:cs typeface="Calibri"/>
              </a:rPr>
              <a:t>advertising,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directed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towards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audience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with </a:t>
            </a:r>
            <a:r>
              <a:rPr sz="2700" b="1" dirty="0">
                <a:latin typeface="Calibri"/>
                <a:cs typeface="Calibri"/>
              </a:rPr>
              <a:t>certain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traits(quality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parameters)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based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product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person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advertiser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0" dirty="0">
                <a:latin typeface="Calibri"/>
                <a:cs typeface="Calibri"/>
              </a:rPr>
              <a:t> promoting.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490"/>
              </a:spcBef>
              <a:buChar char="•"/>
              <a:tabLst>
                <a:tab pos="355600" algn="l"/>
                <a:tab pos="370205" algn="l"/>
              </a:tabLst>
            </a:pPr>
            <a:r>
              <a:rPr sz="2700" dirty="0">
                <a:latin typeface="Arial MT"/>
                <a:cs typeface="Arial MT"/>
              </a:rPr>
              <a:t>	</a:t>
            </a:r>
            <a:r>
              <a:rPr sz="2700" dirty="0">
                <a:latin typeface="Calibri"/>
                <a:cs typeface="Calibri"/>
              </a:rPr>
              <a:t>These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traits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either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demographic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focus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on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race,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economic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status,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gender,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age,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generation,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level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education,</a:t>
            </a:r>
            <a:r>
              <a:rPr sz="2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income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level,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employment,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700" spc="6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psychographic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focus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which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based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consumer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values,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personality,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attitude,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opinion, </a:t>
            </a:r>
            <a:r>
              <a:rPr sz="2700" dirty="0">
                <a:latin typeface="Calibri"/>
                <a:cs typeface="Calibri"/>
              </a:rPr>
              <a:t>lifestyle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interest.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Importance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target</a:t>
            </a:r>
            <a:r>
              <a:rPr spc="-40" dirty="0"/>
              <a:t> </a:t>
            </a:r>
            <a:r>
              <a:rPr spc="-10" dirty="0"/>
              <a:t>advertising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724140" cy="359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Digital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radically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increase,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spreads 	</a:t>
            </a:r>
            <a:r>
              <a:rPr sz="3200" dirty="0">
                <a:latin typeface="Calibri"/>
                <a:cs typeface="Calibri"/>
              </a:rPr>
              <a:t>across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numerous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ICT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cohesively.</a:t>
            </a:r>
            <a:endParaRPr sz="3200" dirty="0">
              <a:latin typeface="Calibri"/>
              <a:cs typeface="Calibri"/>
            </a:endParaRPr>
          </a:p>
          <a:p>
            <a:pPr marL="355600" marR="139065" indent="-342900" algn="just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emergence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new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online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3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targeted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advertising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increasing</a:t>
            </a:r>
            <a:endParaRPr sz="3200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1365885" indent="-342900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Companies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aim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minimize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wasted </a:t>
            </a:r>
            <a:r>
              <a:rPr sz="3200" dirty="0">
                <a:latin typeface="Calibri"/>
                <a:cs typeface="Calibri"/>
              </a:rPr>
              <a:t>advertising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means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information technology.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5"/>
              </a:spcBef>
            </a:pPr>
            <a:r>
              <a:rPr dirty="0"/>
              <a:t>Issues</a:t>
            </a:r>
            <a:r>
              <a:rPr spc="-90" dirty="0"/>
              <a:t> </a:t>
            </a:r>
            <a:r>
              <a:rPr dirty="0"/>
              <a:t>with</a:t>
            </a:r>
            <a:r>
              <a:rPr spc="-114" dirty="0"/>
              <a:t> </a:t>
            </a:r>
            <a:r>
              <a:rPr dirty="0"/>
              <a:t>targeted</a:t>
            </a:r>
            <a:r>
              <a:rPr spc="-100" dirty="0"/>
              <a:t> </a:t>
            </a:r>
            <a:r>
              <a:rPr spc="-10" dirty="0"/>
              <a:t>advertising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8905"/>
            <a:ext cx="7847965" cy="3410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93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lack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'new'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advertisements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goods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or </a:t>
            </a:r>
            <a:r>
              <a:rPr sz="3200" spc="-10" dirty="0">
                <a:latin typeface="Calibri"/>
                <a:cs typeface="Calibri"/>
              </a:rPr>
              <a:t>services.</a:t>
            </a:r>
            <a:endParaRPr sz="3200" dirty="0">
              <a:latin typeface="Calibri"/>
              <a:cs typeface="Calibri"/>
            </a:endParaRPr>
          </a:p>
          <a:p>
            <a:pPr marL="812800" marR="5080" lvl="1" indent="-343535">
              <a:lnSpc>
                <a:spcPct val="100000"/>
              </a:lnSpc>
              <a:spcBef>
                <a:spcPts val="620"/>
              </a:spcBef>
              <a:buSzPct val="114285"/>
              <a:buFont typeface="Arial MT"/>
              <a:buChar char="•"/>
              <a:tabLst>
                <a:tab pos="812800" algn="l"/>
              </a:tabLst>
            </a:pPr>
            <a:r>
              <a:rPr sz="2800" dirty="0">
                <a:latin typeface="Calibri"/>
                <a:cs typeface="Calibri"/>
              </a:rPr>
              <a:t>Seeing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ads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tailored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user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preferences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</a:t>
            </a:r>
            <a:r>
              <a:rPr sz="2800" dirty="0">
                <a:latin typeface="Calibri"/>
                <a:cs typeface="Calibri"/>
              </a:rPr>
              <a:t>introduced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consumer.</a:t>
            </a:r>
            <a:endParaRPr sz="2800" dirty="0">
              <a:latin typeface="Calibri"/>
              <a:cs typeface="Calibri"/>
            </a:endParaRPr>
          </a:p>
          <a:p>
            <a:pPr marL="299085" marR="278130" indent="-287020">
              <a:lnSpc>
                <a:spcPct val="100000"/>
              </a:lnSpc>
              <a:spcBef>
                <a:spcPts val="58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case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consumer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exposed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anything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new.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5425" y="87325"/>
            <a:ext cx="6150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Hyper-</a:t>
            </a:r>
            <a:r>
              <a:rPr dirty="0"/>
              <a:t>targeted</a:t>
            </a:r>
            <a:r>
              <a:rPr spc="-30" dirty="0"/>
              <a:t> </a:t>
            </a:r>
            <a:r>
              <a:rPr spc="-10" dirty="0"/>
              <a:t>advertising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334" y="864235"/>
            <a:ext cx="8564880" cy="52451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marR="22225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-20" dirty="0">
                <a:latin typeface="Calibri"/>
                <a:cs typeface="Calibri"/>
              </a:rPr>
              <a:t>Hyper-</a:t>
            </a:r>
            <a:r>
              <a:rPr sz="2200" dirty="0">
                <a:latin typeface="Calibri"/>
                <a:cs typeface="Calibri"/>
              </a:rPr>
              <a:t>targeting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marketing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strategy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clearly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identify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50" dirty="0">
                <a:latin typeface="Calibri"/>
                <a:cs typeface="Calibri"/>
              </a:rPr>
              <a:t>a </a:t>
            </a:r>
            <a:r>
              <a:rPr sz="2200" b="1" dirty="0">
                <a:latin typeface="Calibri"/>
                <a:cs typeface="Calibri"/>
              </a:rPr>
              <a:t>target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customer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deliver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extremely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relevant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messages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places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48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10" dirty="0">
                <a:latin typeface="Calibri"/>
                <a:cs typeface="Calibri"/>
              </a:rPr>
              <a:t>Definitions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Hyper-</a:t>
            </a:r>
            <a:r>
              <a:rPr sz="2200" dirty="0">
                <a:latin typeface="Calibri"/>
                <a:cs typeface="Calibri"/>
              </a:rPr>
              <a:t>targeted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advertising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ts val="232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Buyer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persona</a:t>
            </a:r>
            <a:endParaRPr sz="2000">
              <a:latin typeface="Calibri"/>
              <a:cs typeface="Calibri"/>
            </a:endParaRPr>
          </a:p>
          <a:p>
            <a:pPr marL="1155065" marR="608330" lvl="2" indent="-228600">
              <a:lnSpc>
                <a:spcPts val="1630"/>
              </a:lnSpc>
              <a:spcBef>
                <a:spcPts val="350"/>
              </a:spcBef>
              <a:buFont typeface="Arial MT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More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details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customer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profile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outlines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who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your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target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customer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25" dirty="0">
                <a:latin typeface="Calibri"/>
                <a:cs typeface="Calibri"/>
              </a:rPr>
              <a:t> by </a:t>
            </a:r>
            <a:r>
              <a:rPr sz="1700" dirty="0">
                <a:latin typeface="Calibri"/>
                <a:cs typeface="Calibri"/>
              </a:rPr>
              <a:t>defining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their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demographics,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sociographic,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professional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roles,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values,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goals, </a:t>
            </a:r>
            <a:r>
              <a:rPr sz="1700" dirty="0">
                <a:latin typeface="Calibri"/>
                <a:cs typeface="Calibri"/>
              </a:rPr>
              <a:t>challenges,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influences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buying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habits</a:t>
            </a:r>
            <a:endParaRPr sz="1700">
              <a:latin typeface="Calibri"/>
              <a:cs typeface="Calibri"/>
            </a:endParaRPr>
          </a:p>
          <a:p>
            <a:pPr marL="756285" lvl="1" indent="-286385">
              <a:lnSpc>
                <a:spcPts val="2275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Segmentation</a:t>
            </a:r>
            <a:endParaRPr sz="2000">
              <a:latin typeface="Calibri"/>
              <a:cs typeface="Calibri"/>
            </a:endParaRPr>
          </a:p>
          <a:p>
            <a:pPr marL="1155065" marR="344805" lvl="2" indent="-228600">
              <a:lnSpc>
                <a:spcPts val="1630"/>
              </a:lnSpc>
              <a:spcBef>
                <a:spcPts val="350"/>
              </a:spcBef>
              <a:buFont typeface="Arial MT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Dividing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the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audience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into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smaller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groups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based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on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their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interactions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with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b="1" spc="-20" dirty="0">
                <a:latin typeface="Calibri"/>
                <a:cs typeface="Calibri"/>
              </a:rPr>
              <a:t>your </a:t>
            </a:r>
            <a:r>
              <a:rPr sz="1700" b="1" dirty="0">
                <a:latin typeface="Calibri"/>
                <a:cs typeface="Calibri"/>
              </a:rPr>
              <a:t>brand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or</a:t>
            </a:r>
            <a:r>
              <a:rPr sz="1700" b="1" spc="-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their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demographics,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socio</a:t>
            </a:r>
            <a:r>
              <a:rPr sz="1700" dirty="0">
                <a:latin typeface="Calibri"/>
                <a:cs typeface="Calibri"/>
              </a:rPr>
              <a:t>graphic,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professional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roles,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values,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goals, </a:t>
            </a:r>
            <a:r>
              <a:rPr sz="1700" dirty="0">
                <a:latin typeface="Calibri"/>
                <a:cs typeface="Calibri"/>
              </a:rPr>
              <a:t>challenges,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influences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buying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habits.</a:t>
            </a:r>
            <a:endParaRPr sz="1700">
              <a:latin typeface="Calibri"/>
              <a:cs typeface="Calibri"/>
            </a:endParaRPr>
          </a:p>
          <a:p>
            <a:pPr marL="756285" lvl="1" indent="-286385">
              <a:lnSpc>
                <a:spcPts val="2275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spc="-20" dirty="0">
                <a:latin typeface="Calibri"/>
                <a:cs typeface="Calibri"/>
              </a:rPr>
              <a:t>Geo-</a:t>
            </a:r>
            <a:r>
              <a:rPr sz="2000" spc="-10" dirty="0">
                <a:latin typeface="Calibri"/>
                <a:cs typeface="Calibri"/>
              </a:rPr>
              <a:t>targeting</a:t>
            </a:r>
            <a:endParaRPr sz="2000">
              <a:latin typeface="Calibri"/>
              <a:cs typeface="Calibri"/>
            </a:endParaRPr>
          </a:p>
          <a:p>
            <a:pPr marL="1155065" marR="220345" lvl="2" indent="-228600" algn="just">
              <a:lnSpc>
                <a:spcPct val="80000"/>
              </a:lnSpc>
              <a:spcBef>
                <a:spcPts val="360"/>
              </a:spcBef>
              <a:buFont typeface="Arial MT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act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 targeting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customer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based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on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their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location</a:t>
            </a:r>
            <a:r>
              <a:rPr sz="1700" dirty="0">
                <a:latin typeface="Calibri"/>
                <a:cs typeface="Calibri"/>
              </a:rPr>
              <a:t>.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could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broad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as </a:t>
            </a:r>
            <a:r>
              <a:rPr sz="1700" dirty="0">
                <a:latin typeface="Calibri"/>
                <a:cs typeface="Calibri"/>
              </a:rPr>
              <a:t>targeting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country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narrow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targeting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zip-</a:t>
            </a:r>
            <a:r>
              <a:rPr sz="1700" dirty="0">
                <a:latin typeface="Calibri"/>
                <a:cs typeface="Calibri"/>
              </a:rPr>
              <a:t>code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mile-</a:t>
            </a:r>
            <a:r>
              <a:rPr sz="1700" dirty="0">
                <a:latin typeface="Calibri"/>
                <a:cs typeface="Calibri"/>
              </a:rPr>
              <a:t>radius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around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0" dirty="0">
                <a:latin typeface="Calibri"/>
                <a:cs typeface="Calibri"/>
              </a:rPr>
              <a:t>a </a:t>
            </a:r>
            <a:r>
              <a:rPr sz="1700" dirty="0">
                <a:latin typeface="Calibri"/>
                <a:cs typeface="Calibri"/>
              </a:rPr>
              <a:t>location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business.</a:t>
            </a:r>
            <a:endParaRPr sz="1700">
              <a:latin typeface="Calibri"/>
              <a:cs typeface="Calibri"/>
            </a:endParaRPr>
          </a:p>
          <a:p>
            <a:pPr marL="756285" lvl="1" indent="-286385">
              <a:lnSpc>
                <a:spcPts val="227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Retargeting</a:t>
            </a:r>
            <a:endParaRPr sz="2000">
              <a:latin typeface="Calibri"/>
              <a:cs typeface="Calibri"/>
            </a:endParaRPr>
          </a:p>
          <a:p>
            <a:pPr marL="1155065" marR="5080" lvl="2" indent="-228600">
              <a:lnSpc>
                <a:spcPct val="80000"/>
              </a:lnSpc>
              <a:spcBef>
                <a:spcPts val="360"/>
              </a:spcBef>
              <a:buFont typeface="Arial MT"/>
              <a:buChar char="•"/>
              <a:tabLst>
                <a:tab pos="1155065" algn="l"/>
              </a:tabLst>
            </a:pP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act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of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sending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messages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to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audiences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who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have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already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engaged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with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spc="-20" dirty="0">
                <a:latin typeface="Calibri"/>
                <a:cs typeface="Calibri"/>
              </a:rPr>
              <a:t>your </a:t>
            </a:r>
            <a:r>
              <a:rPr sz="1700" b="1" dirty="0">
                <a:latin typeface="Calibri"/>
                <a:cs typeface="Calibri"/>
              </a:rPr>
              <a:t>brand</a:t>
            </a:r>
            <a:r>
              <a:rPr sz="1700" dirty="0">
                <a:latin typeface="Calibri"/>
                <a:cs typeface="Calibri"/>
              </a:rPr>
              <a:t>.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could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include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remarketing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people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have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visited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website, </a:t>
            </a:r>
            <a:r>
              <a:rPr sz="1700" dirty="0">
                <a:latin typeface="Calibri"/>
                <a:cs typeface="Calibri"/>
              </a:rPr>
              <a:t>visited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store,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made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purchase,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followed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brand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social,</a:t>
            </a:r>
            <a:r>
              <a:rPr sz="1700" spc="3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signed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up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an </a:t>
            </a:r>
            <a:r>
              <a:rPr sz="1700" dirty="0">
                <a:latin typeface="Calibri"/>
                <a:cs typeface="Calibri"/>
              </a:rPr>
              <a:t>online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offer,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other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interaction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brand.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2177" y="206197"/>
            <a:ext cx="1885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81583"/>
            <a:ext cx="8032750" cy="43192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286385" indent="-3429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5600" algn="l"/>
                <a:tab pos="5185410" algn="l"/>
              </a:tabLst>
            </a:pPr>
            <a:r>
              <a:rPr sz="2200" dirty="0">
                <a:latin typeface="Calibri"/>
                <a:cs typeface="Calibri"/>
              </a:rPr>
              <a:t>Deliver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personalized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messages</a:t>
            </a:r>
            <a:r>
              <a:rPr sz="2200" b="1" dirty="0">
                <a:latin typeface="Calibri"/>
                <a:cs typeface="Calibri"/>
              </a:rPr>
              <a:t>	that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relevant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to </a:t>
            </a: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customers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actually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what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need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stop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sending </a:t>
            </a:r>
            <a:r>
              <a:rPr sz="2200" dirty="0">
                <a:latin typeface="Calibri"/>
                <a:cs typeface="Calibri"/>
              </a:rPr>
              <a:t>customers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marketing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services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they </a:t>
            </a:r>
            <a:r>
              <a:rPr sz="2200" b="1" dirty="0">
                <a:latin typeface="Calibri"/>
                <a:cs typeface="Calibri"/>
              </a:rPr>
              <a:t>have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interest</a:t>
            </a:r>
            <a:r>
              <a:rPr sz="2200" b="1" spc="-25" dirty="0">
                <a:latin typeface="Calibri"/>
                <a:cs typeface="Calibri"/>
              </a:rPr>
              <a:t> in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marR="367665" indent="-342900" algn="just">
              <a:lnSpc>
                <a:spcPts val="211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Get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better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 </a:t>
            </a:r>
            <a:r>
              <a:rPr sz="2200" b="1" dirty="0">
                <a:latin typeface="Calibri"/>
                <a:cs typeface="Calibri"/>
              </a:rPr>
              <a:t>can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reach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the </a:t>
            </a:r>
            <a:r>
              <a:rPr sz="2200" b="1" dirty="0">
                <a:latin typeface="Calibri"/>
                <a:cs typeface="Calibri"/>
              </a:rPr>
              <a:t>right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audiences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not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spend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money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on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campaigns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25" dirty="0">
                <a:latin typeface="Calibri"/>
                <a:cs typeface="Calibri"/>
              </a:rPr>
              <a:t> are </a:t>
            </a:r>
            <a:r>
              <a:rPr sz="2200" dirty="0">
                <a:latin typeface="Calibri"/>
                <a:cs typeface="Calibri"/>
              </a:rPr>
              <a:t>reaching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wrong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audiences.</a:t>
            </a:r>
            <a:endParaRPr sz="2200">
              <a:latin typeface="Calibri"/>
              <a:cs typeface="Calibri"/>
            </a:endParaRPr>
          </a:p>
          <a:p>
            <a:pPr marL="355600" marR="728345" indent="-342900">
              <a:lnSpc>
                <a:spcPct val="801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Get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qualified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leads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people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become </a:t>
            </a:r>
            <a:r>
              <a:rPr sz="2200" dirty="0">
                <a:latin typeface="Calibri"/>
                <a:cs typeface="Calibri"/>
              </a:rPr>
              <a:t>customers,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avoid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filling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your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funnel</a:t>
            </a:r>
            <a:r>
              <a:rPr sz="2200" b="1" spc="4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pipeline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with </a:t>
            </a:r>
            <a:r>
              <a:rPr sz="2200" b="1" dirty="0">
                <a:latin typeface="Calibri"/>
                <a:cs typeface="Calibri"/>
              </a:rPr>
              <a:t>uninterested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audiences.</a:t>
            </a:r>
            <a:endParaRPr sz="2200">
              <a:latin typeface="Calibri"/>
              <a:cs typeface="Calibri"/>
            </a:endParaRPr>
          </a:p>
          <a:p>
            <a:pPr marL="355600" marR="199390" indent="-342900">
              <a:lnSpc>
                <a:spcPct val="80000"/>
              </a:lnSpc>
              <a:spcBef>
                <a:spcPts val="3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Generate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marketing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right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offerings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right </a:t>
            </a:r>
            <a:r>
              <a:rPr sz="2200" b="1" dirty="0">
                <a:latin typeface="Calibri"/>
                <a:cs typeface="Calibri"/>
              </a:rPr>
              <a:t>customers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on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right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platforms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ts val="211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When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executed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properly,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hypertargeting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easier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you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connect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with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customers,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generate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leads,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increase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your </a:t>
            </a:r>
            <a:r>
              <a:rPr sz="2200" spc="-10" dirty="0">
                <a:latin typeface="Calibri"/>
                <a:cs typeface="Calibri"/>
              </a:rPr>
              <a:t>sales.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43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3357"/>
            <a:ext cx="7958455" cy="42271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SzPct val="60000"/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Consider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situation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shop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keeper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wants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know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buy</a:t>
            </a:r>
            <a:r>
              <a:rPr sz="3000" spc="-25" dirty="0">
                <a:latin typeface="Calibri"/>
                <a:cs typeface="Calibri"/>
              </a:rPr>
              <a:t> for </a:t>
            </a:r>
            <a:r>
              <a:rPr sz="3000" dirty="0">
                <a:latin typeface="Calibri"/>
                <a:cs typeface="Calibri"/>
              </a:rPr>
              <a:t>his next</a:t>
            </a:r>
            <a:r>
              <a:rPr sz="3000" spc="-10" dirty="0">
                <a:latin typeface="Calibri"/>
                <a:cs typeface="Calibri"/>
              </a:rPr>
              <a:t> seasons.</a:t>
            </a:r>
            <a:endParaRPr sz="30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125"/>
              </a:spcBef>
              <a:buSzPct val="69230"/>
              <a:buFont typeface="Arial MT"/>
              <a:buChar char="–"/>
              <a:tabLst>
                <a:tab pos="812800" algn="l"/>
              </a:tabLst>
            </a:pPr>
            <a:r>
              <a:rPr sz="2600" dirty="0">
                <a:latin typeface="Calibri"/>
                <a:cs typeface="Calibri"/>
              </a:rPr>
              <a:t>Who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regular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customers</a:t>
            </a:r>
            <a:endParaRPr sz="26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85"/>
              </a:spcBef>
              <a:buSzPct val="69230"/>
              <a:buFont typeface="Arial MT"/>
              <a:buChar char="–"/>
              <a:tabLst>
                <a:tab pos="812800" algn="l"/>
              </a:tabLst>
            </a:pP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items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seasonal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based.</a:t>
            </a:r>
            <a:endParaRPr sz="26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85"/>
              </a:spcBef>
              <a:buSzPct val="69230"/>
              <a:buFont typeface="Arial MT"/>
              <a:buChar char="–"/>
              <a:tabLst>
                <a:tab pos="812800" algn="l"/>
              </a:tabLst>
            </a:pPr>
            <a:r>
              <a:rPr sz="2600" dirty="0">
                <a:latin typeface="Calibri"/>
                <a:cs typeface="Calibri"/>
              </a:rPr>
              <a:t>Ordering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stock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predictions.</a:t>
            </a:r>
            <a:endParaRPr sz="2600">
              <a:latin typeface="Calibri"/>
              <a:cs typeface="Calibri"/>
            </a:endParaRPr>
          </a:p>
          <a:p>
            <a:pPr marL="355600" marR="137795" indent="-342900">
              <a:lnSpc>
                <a:spcPct val="90000"/>
              </a:lnSpc>
              <a:spcBef>
                <a:spcPts val="380"/>
              </a:spcBef>
              <a:buSzPct val="60000"/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Detail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about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collection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above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problem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how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be </a:t>
            </a:r>
            <a:r>
              <a:rPr sz="3000" dirty="0">
                <a:latin typeface="Calibri"/>
                <a:cs typeface="Calibri"/>
              </a:rPr>
              <a:t>organized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details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technique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that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structure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data.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128" y="2200097"/>
            <a:ext cx="6321425" cy="1536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9850" marR="5080" indent="-1327785">
              <a:lnSpc>
                <a:spcPct val="100000"/>
              </a:lnSpc>
              <a:spcBef>
                <a:spcPts val="105"/>
              </a:spcBef>
            </a:pPr>
            <a:r>
              <a:rPr sz="4950" b="1" spc="55" dirty="0">
                <a:solidFill>
                  <a:srgbClr val="92D050"/>
                </a:solidFill>
                <a:latin typeface="Times New Roman"/>
                <a:cs typeface="Times New Roman"/>
              </a:rPr>
              <a:t>Tag</a:t>
            </a:r>
            <a:r>
              <a:rPr sz="4950" b="1" spc="-11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4950" b="1" spc="-25" dirty="0">
                <a:solidFill>
                  <a:srgbClr val="92D050"/>
                </a:solidFill>
                <a:latin typeface="Times New Roman"/>
                <a:cs typeface="Times New Roman"/>
              </a:rPr>
              <a:t>data</a:t>
            </a:r>
            <a:r>
              <a:rPr sz="4950" b="1" spc="-8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4950" b="1" dirty="0">
                <a:solidFill>
                  <a:srgbClr val="92D050"/>
                </a:solidFill>
                <a:latin typeface="Times New Roman"/>
                <a:cs typeface="Times New Roman"/>
              </a:rPr>
              <a:t>to</a:t>
            </a:r>
            <a:r>
              <a:rPr sz="4950" b="1" spc="-10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4950" b="1" spc="-114" dirty="0">
                <a:solidFill>
                  <a:srgbClr val="92D050"/>
                </a:solidFill>
                <a:latin typeface="Times New Roman"/>
                <a:cs typeface="Times New Roman"/>
              </a:rPr>
              <a:t>pre-</a:t>
            </a:r>
            <a:r>
              <a:rPr sz="4950" b="1" spc="-10" dirty="0">
                <a:solidFill>
                  <a:srgbClr val="92D050"/>
                </a:solidFill>
                <a:latin typeface="Times New Roman"/>
                <a:cs typeface="Times New Roman"/>
              </a:rPr>
              <a:t>process </a:t>
            </a:r>
            <a:r>
              <a:rPr sz="4950" b="1" spc="-30" dirty="0">
                <a:solidFill>
                  <a:srgbClr val="92D050"/>
                </a:solidFill>
                <a:latin typeface="Times New Roman"/>
                <a:cs typeface="Times New Roman"/>
              </a:rPr>
              <a:t>large</a:t>
            </a:r>
            <a:r>
              <a:rPr sz="4950" b="1" spc="-28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4950" b="1" spc="-10" dirty="0">
                <a:solidFill>
                  <a:srgbClr val="92D050"/>
                </a:solidFill>
                <a:latin typeface="Times New Roman"/>
                <a:cs typeface="Times New Roman"/>
              </a:rPr>
              <a:t>datasets</a:t>
            </a:r>
            <a:endParaRPr sz="4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0967" y="2350770"/>
            <a:ext cx="68605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100"/>
              </a:spcBef>
            </a:pP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Steps</a:t>
            </a:r>
            <a:r>
              <a:rPr sz="4500" b="1" spc="-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to</a:t>
            </a:r>
            <a:r>
              <a:rPr sz="45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spc="-80" dirty="0">
                <a:solidFill>
                  <a:srgbClr val="6F2F9F"/>
                </a:solidFill>
                <a:latin typeface="Cambria"/>
                <a:cs typeface="Cambria"/>
              </a:rPr>
              <a:t>Tag</a:t>
            </a:r>
            <a:r>
              <a:rPr sz="4500" b="1" spc="-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45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for</a:t>
            </a:r>
            <a:r>
              <a:rPr sz="4500" b="1" spc="-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spc="-20" dirty="0">
                <a:solidFill>
                  <a:srgbClr val="6F2F9F"/>
                </a:solidFill>
                <a:latin typeface="Cambria"/>
                <a:cs typeface="Cambria"/>
              </a:rPr>
              <a:t>Pre- </a:t>
            </a: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Processing</a:t>
            </a:r>
            <a:r>
              <a:rPr sz="4500" b="1" spc="-1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dirty="0">
                <a:solidFill>
                  <a:srgbClr val="6F2F9F"/>
                </a:solidFill>
                <a:latin typeface="Cambria"/>
                <a:cs typeface="Cambria"/>
              </a:rPr>
              <a:t>Large</a:t>
            </a:r>
            <a:r>
              <a:rPr sz="4500" b="1" spc="-10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4500" b="1" spc="-10" dirty="0">
                <a:solidFill>
                  <a:srgbClr val="6F2F9F"/>
                </a:solidFill>
                <a:latin typeface="Cambria"/>
                <a:cs typeface="Cambria"/>
              </a:rPr>
              <a:t>Datasets</a:t>
            </a:r>
            <a:endParaRPr sz="4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2330957"/>
            <a:ext cx="7483475" cy="30968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05"/>
              </a:spcBef>
              <a:buSzPct val="66666"/>
              <a:buFont typeface="Cambria"/>
              <a:buAutoNum type="arabicPeriod"/>
              <a:tabLst>
                <a:tab pos="269875" algn="l"/>
              </a:tabLst>
            </a:pP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Understand</a:t>
            </a:r>
            <a:r>
              <a:rPr sz="27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27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6F2F9F"/>
                </a:solidFill>
                <a:latin typeface="Cambria"/>
                <a:cs typeface="Cambria"/>
              </a:rPr>
              <a:t>Dataset</a:t>
            </a:r>
            <a:r>
              <a:rPr sz="270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marR="436880" lvl="1" indent="-215265">
              <a:lnSpc>
                <a:spcPct val="100000"/>
              </a:lnSpc>
              <a:spcBef>
                <a:spcPts val="500"/>
              </a:spcBef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Analyze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dataset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identify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important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features,</a:t>
            </a:r>
            <a:r>
              <a:rPr sz="2700" b="1" spc="-4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patterns,</a:t>
            </a:r>
            <a:r>
              <a:rPr sz="2700" b="1" spc="-6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or</a:t>
            </a:r>
            <a:r>
              <a:rPr sz="2700" b="1" spc="-6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categories</a:t>
            </a:r>
            <a:r>
              <a:rPr sz="2700" b="1" spc="-4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that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need </a:t>
            </a:r>
            <a:r>
              <a:rPr sz="2700" spc="-10" dirty="0">
                <a:latin typeface="Cambria"/>
                <a:cs typeface="Cambria"/>
              </a:rPr>
              <a:t>tagging.</a:t>
            </a:r>
            <a:endParaRPr sz="2700">
              <a:latin typeface="Cambria"/>
              <a:cs typeface="Cambria"/>
            </a:endParaRPr>
          </a:p>
          <a:p>
            <a:pPr marL="570230" marR="5080" lvl="1" indent="-215265">
              <a:lnSpc>
                <a:spcPct val="100000"/>
              </a:lnSpc>
              <a:spcBef>
                <a:spcPts val="495"/>
              </a:spcBef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Example: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dataset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customer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reviews,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tags </a:t>
            </a:r>
            <a:r>
              <a:rPr sz="2700" dirty="0">
                <a:latin typeface="Cambria"/>
                <a:cs typeface="Cambria"/>
              </a:rPr>
              <a:t>could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include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"Positive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Sentiment,"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"Negative Sentiment,"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"Neutral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Sentiment."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2591180"/>
            <a:ext cx="834834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100"/>
              </a:spcBef>
              <a:buClr>
                <a:srgbClr val="6F2F9F"/>
              </a:buClr>
              <a:buFont typeface="Cambria"/>
              <a:buAutoNum type="arabicPeriod" startAt="2"/>
              <a:tabLst>
                <a:tab pos="370840" algn="l"/>
              </a:tabLst>
            </a:pP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Define</a:t>
            </a:r>
            <a:r>
              <a:rPr sz="27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20" dirty="0">
                <a:solidFill>
                  <a:srgbClr val="6F2F9F"/>
                </a:solidFill>
                <a:latin typeface="Cambria"/>
                <a:cs typeface="Cambria"/>
              </a:rPr>
              <a:t>Tagging</a:t>
            </a:r>
            <a:r>
              <a:rPr sz="27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6F2F9F"/>
                </a:solidFill>
                <a:latin typeface="Cambria"/>
                <a:cs typeface="Cambria"/>
              </a:rPr>
              <a:t>Criteria</a:t>
            </a:r>
            <a:r>
              <a:rPr sz="270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lvl="1" indent="-214629">
              <a:lnSpc>
                <a:spcPct val="100000"/>
              </a:lnSpc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Determine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rules</a:t>
            </a:r>
            <a:r>
              <a:rPr sz="2700" b="1" spc="-2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for</a:t>
            </a:r>
            <a:r>
              <a:rPr sz="2700" b="1" spc="-6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creating</a:t>
            </a:r>
            <a:r>
              <a:rPr sz="2700" b="1" spc="-5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and</a:t>
            </a:r>
            <a:r>
              <a:rPr sz="2700" b="1" spc="-7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applying</a:t>
            </a:r>
            <a:r>
              <a:rPr sz="2700" b="1" spc="-3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tags.</a:t>
            </a:r>
            <a:endParaRPr sz="2700">
              <a:latin typeface="Cambria"/>
              <a:cs typeface="Cambria"/>
            </a:endParaRPr>
          </a:p>
          <a:p>
            <a:pPr marL="570230" lvl="1" indent="-214629">
              <a:lnSpc>
                <a:spcPct val="100000"/>
              </a:lnSpc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spc="-40" dirty="0">
                <a:latin typeface="Cambria"/>
                <a:cs typeface="Cambria"/>
              </a:rPr>
              <a:t>Tags </a:t>
            </a:r>
            <a:r>
              <a:rPr sz="2700" dirty="0">
                <a:latin typeface="Cambria"/>
                <a:cs typeface="Cambria"/>
              </a:rPr>
              <a:t>could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be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based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on:</a:t>
            </a:r>
            <a:endParaRPr sz="2700">
              <a:latin typeface="Cambria"/>
              <a:cs typeface="Cambria"/>
            </a:endParaRPr>
          </a:p>
          <a:p>
            <a:pPr marL="870585" lvl="2" indent="-172085">
              <a:lnSpc>
                <a:spcPct val="100000"/>
              </a:lnSpc>
              <a:buSzPct val="37037"/>
              <a:buFont typeface="Wingdings"/>
              <a:buChar char=""/>
              <a:tabLst>
                <a:tab pos="870585" algn="l"/>
              </a:tabLst>
            </a:pPr>
            <a:r>
              <a:rPr sz="2700" dirty="0">
                <a:latin typeface="Cambria"/>
                <a:cs typeface="Cambria"/>
              </a:rPr>
              <a:t>Categories: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"High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Priority,"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"Low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Priority."</a:t>
            </a:r>
            <a:endParaRPr sz="2700">
              <a:latin typeface="Cambria"/>
              <a:cs typeface="Cambria"/>
            </a:endParaRPr>
          </a:p>
          <a:p>
            <a:pPr marL="870585" lvl="2" indent="-172085">
              <a:lnSpc>
                <a:spcPct val="100000"/>
              </a:lnSpc>
              <a:buSzPct val="37037"/>
              <a:buFont typeface="Wingdings"/>
              <a:buChar char=""/>
              <a:tabLst>
                <a:tab pos="870585" algn="l"/>
              </a:tabLst>
            </a:pPr>
            <a:r>
              <a:rPr sz="2700" dirty="0">
                <a:latin typeface="Cambria"/>
                <a:cs typeface="Cambria"/>
              </a:rPr>
              <a:t>Context:</a:t>
            </a:r>
            <a:r>
              <a:rPr sz="2700" spc="-10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"E-</a:t>
            </a:r>
            <a:r>
              <a:rPr sz="2700" spc="-20" dirty="0">
                <a:latin typeface="Cambria"/>
                <a:cs typeface="Cambria"/>
              </a:rPr>
              <a:t>commerce,"</a:t>
            </a:r>
            <a:r>
              <a:rPr sz="2700" spc="-9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"Healthcare."</a:t>
            </a:r>
            <a:endParaRPr sz="2700">
              <a:latin typeface="Cambria"/>
              <a:cs typeface="Cambria"/>
            </a:endParaRPr>
          </a:p>
          <a:p>
            <a:pPr marL="870585" lvl="2" indent="-172085">
              <a:lnSpc>
                <a:spcPct val="100000"/>
              </a:lnSpc>
              <a:buSzPct val="37037"/>
              <a:buFont typeface="Wingdings"/>
              <a:buChar char=""/>
              <a:tabLst>
                <a:tab pos="870585" algn="l"/>
              </a:tabLst>
            </a:pPr>
            <a:r>
              <a:rPr sz="2700" dirty="0">
                <a:latin typeface="Cambria"/>
                <a:cs typeface="Cambria"/>
              </a:rPr>
              <a:t>Data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Type: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"Numeric,"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"Categorical,"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"Text."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326" y="2580258"/>
            <a:ext cx="7934325" cy="22739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605"/>
              </a:spcBef>
              <a:buClr>
                <a:srgbClr val="6F2F9F"/>
              </a:buClr>
              <a:buFont typeface="Cambria"/>
              <a:buAutoNum type="arabicPeriod" startAt="3"/>
              <a:tabLst>
                <a:tab pos="370840" algn="l"/>
              </a:tabLst>
            </a:pP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Select</a:t>
            </a:r>
            <a:r>
              <a:rPr sz="27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or</a:t>
            </a:r>
            <a:r>
              <a:rPr sz="27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6F2F9F"/>
                </a:solidFill>
                <a:latin typeface="Cambria"/>
                <a:cs typeface="Cambria"/>
              </a:rPr>
              <a:t>Create</a:t>
            </a:r>
            <a:r>
              <a:rPr sz="27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6F2F9F"/>
                </a:solidFill>
                <a:latin typeface="Cambria"/>
                <a:cs typeface="Cambria"/>
              </a:rPr>
              <a:t>Tags</a:t>
            </a:r>
            <a:r>
              <a:rPr sz="270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marR="243204" lvl="1" indent="-215265">
              <a:lnSpc>
                <a:spcPct val="100000"/>
              </a:lnSpc>
              <a:spcBef>
                <a:spcPts val="500"/>
              </a:spcBef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Use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predefined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create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new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ones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based</a:t>
            </a:r>
            <a:r>
              <a:rPr sz="2700" spc="-25" dirty="0">
                <a:latin typeface="Cambria"/>
                <a:cs typeface="Cambria"/>
              </a:rPr>
              <a:t> on </a:t>
            </a:r>
            <a:r>
              <a:rPr sz="2700" spc="-20" dirty="0">
                <a:latin typeface="Cambria"/>
                <a:cs typeface="Cambria"/>
              </a:rPr>
              <a:t>domain-</a:t>
            </a:r>
            <a:r>
              <a:rPr sz="2700" dirty="0">
                <a:latin typeface="Cambria"/>
                <a:cs typeface="Cambria"/>
              </a:rPr>
              <a:t>specific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requirements.</a:t>
            </a:r>
            <a:endParaRPr sz="2700">
              <a:latin typeface="Cambria"/>
              <a:cs typeface="Cambria"/>
            </a:endParaRPr>
          </a:p>
          <a:p>
            <a:pPr marL="570230" marR="5080" lvl="1" indent="-215265">
              <a:lnSpc>
                <a:spcPct val="100000"/>
              </a:lnSpc>
              <a:spcBef>
                <a:spcPts val="495"/>
              </a:spcBef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Example: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product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catalog,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might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include </a:t>
            </a:r>
            <a:r>
              <a:rPr sz="2700" spc="-20" dirty="0">
                <a:latin typeface="Cambria"/>
                <a:cs typeface="Cambria"/>
              </a:rPr>
              <a:t>"Electronics,"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"Clothing,"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"Under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$50."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56" y="2223897"/>
            <a:ext cx="8701405" cy="3483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995" indent="-328295">
              <a:lnSpc>
                <a:spcPts val="2850"/>
              </a:lnSpc>
              <a:spcBef>
                <a:spcPts val="95"/>
              </a:spcBef>
              <a:buClr>
                <a:srgbClr val="6F2F9F"/>
              </a:buClr>
              <a:buFont typeface="Cambria"/>
              <a:buAutoNum type="arabicPeriod" startAt="4"/>
              <a:tabLst>
                <a:tab pos="340995" algn="l"/>
              </a:tabLst>
            </a:pPr>
            <a:r>
              <a:rPr sz="2500" b="1" spc="-20" dirty="0">
                <a:solidFill>
                  <a:srgbClr val="6F2F9F"/>
                </a:solidFill>
                <a:latin typeface="Cambria"/>
                <a:cs typeface="Cambria"/>
              </a:rPr>
              <a:t>Automate</a:t>
            </a:r>
            <a:r>
              <a:rPr sz="25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500" b="1" spc="-10" dirty="0">
                <a:solidFill>
                  <a:srgbClr val="6F2F9F"/>
                </a:solidFill>
                <a:latin typeface="Cambria"/>
                <a:cs typeface="Cambria"/>
              </a:rPr>
              <a:t>Tagging</a:t>
            </a:r>
            <a:r>
              <a:rPr sz="250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500">
              <a:latin typeface="Cambria"/>
              <a:cs typeface="Cambria"/>
            </a:endParaRPr>
          </a:p>
          <a:p>
            <a:pPr marL="500380" marR="5080" lvl="1" indent="-215265">
              <a:lnSpc>
                <a:spcPts val="2700"/>
              </a:lnSpc>
              <a:spcBef>
                <a:spcPts val="190"/>
              </a:spcBef>
              <a:buSzPct val="40000"/>
              <a:buFont typeface="Courier New"/>
              <a:buChar char="o"/>
              <a:tabLst>
                <a:tab pos="500380" algn="l"/>
              </a:tabLst>
            </a:pPr>
            <a:r>
              <a:rPr sz="2500" dirty="0">
                <a:latin typeface="Cambria"/>
                <a:cs typeface="Cambria"/>
              </a:rPr>
              <a:t>Use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tools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or</a:t>
            </a:r>
            <a:r>
              <a:rPr sz="2500" spc="-7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scripts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automate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tagging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process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for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large datasets.</a:t>
            </a:r>
            <a:endParaRPr sz="2500">
              <a:latin typeface="Cambria"/>
              <a:cs typeface="Cambria"/>
            </a:endParaRPr>
          </a:p>
          <a:p>
            <a:pPr marL="499745" lvl="1" indent="-214629">
              <a:lnSpc>
                <a:spcPts val="2510"/>
              </a:lnSpc>
              <a:buSzPct val="40000"/>
              <a:buFont typeface="Courier New"/>
              <a:buChar char="o"/>
              <a:tabLst>
                <a:tab pos="499745" algn="l"/>
              </a:tabLst>
            </a:pPr>
            <a:r>
              <a:rPr sz="2500" dirty="0">
                <a:latin typeface="Cambria"/>
                <a:cs typeface="Cambria"/>
              </a:rPr>
              <a:t>Methods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include:</a:t>
            </a:r>
            <a:endParaRPr sz="2500">
              <a:latin typeface="Cambria"/>
              <a:cs typeface="Cambria"/>
            </a:endParaRPr>
          </a:p>
          <a:p>
            <a:pPr marL="800100" marR="812165" lvl="2" indent="-172720">
              <a:lnSpc>
                <a:spcPts val="2700"/>
              </a:lnSpc>
              <a:spcBef>
                <a:spcPts val="190"/>
              </a:spcBef>
              <a:buClr>
                <a:srgbClr val="000000"/>
              </a:buClr>
              <a:buSzPct val="40000"/>
              <a:buFont typeface="Wingdings"/>
              <a:buChar char=""/>
              <a:tabLst>
                <a:tab pos="800100" algn="l"/>
              </a:tabLst>
            </a:pPr>
            <a:r>
              <a:rPr sz="2500" b="1" spc="-30" dirty="0">
                <a:solidFill>
                  <a:srgbClr val="4AACC5"/>
                </a:solidFill>
                <a:latin typeface="Cambria"/>
                <a:cs typeface="Cambria"/>
              </a:rPr>
              <a:t>Keyword</a:t>
            </a:r>
            <a:r>
              <a:rPr sz="2500" b="1" spc="-7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b="1" dirty="0">
                <a:solidFill>
                  <a:srgbClr val="4AACC5"/>
                </a:solidFill>
                <a:latin typeface="Cambria"/>
                <a:cs typeface="Cambria"/>
              </a:rPr>
              <a:t>Matching</a:t>
            </a:r>
            <a:r>
              <a:rPr sz="250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r>
              <a:rPr sz="2500" spc="-7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Applying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tags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based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on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specific </a:t>
            </a:r>
            <a:r>
              <a:rPr sz="2500" dirty="0">
                <a:latin typeface="Cambria"/>
                <a:cs typeface="Cambria"/>
              </a:rPr>
              <a:t>words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or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phrases.</a:t>
            </a:r>
            <a:endParaRPr sz="2500">
              <a:latin typeface="Cambria"/>
              <a:cs typeface="Cambria"/>
            </a:endParaRPr>
          </a:p>
          <a:p>
            <a:pPr marL="800100" marR="554990" lvl="2" indent="-172720">
              <a:lnSpc>
                <a:spcPts val="2700"/>
              </a:lnSpc>
              <a:spcBef>
                <a:spcPts val="5"/>
              </a:spcBef>
              <a:buClr>
                <a:srgbClr val="000000"/>
              </a:buClr>
              <a:buSzPct val="40000"/>
              <a:buFont typeface="Wingdings"/>
              <a:buChar char=""/>
              <a:tabLst>
                <a:tab pos="800100" algn="l"/>
              </a:tabLst>
            </a:pPr>
            <a:r>
              <a:rPr sz="2500" b="1" dirty="0">
                <a:solidFill>
                  <a:srgbClr val="4AACC5"/>
                </a:solidFill>
                <a:latin typeface="Cambria"/>
                <a:cs typeface="Cambria"/>
              </a:rPr>
              <a:t>Regular</a:t>
            </a:r>
            <a:r>
              <a:rPr sz="2500" b="1" spc="-8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b="1" spc="-10" dirty="0">
                <a:solidFill>
                  <a:srgbClr val="4AACC5"/>
                </a:solidFill>
                <a:latin typeface="Cambria"/>
                <a:cs typeface="Cambria"/>
              </a:rPr>
              <a:t>Expressions</a:t>
            </a:r>
            <a:r>
              <a:rPr sz="25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r>
              <a:rPr sz="2500" spc="-3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For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pattern-</a:t>
            </a:r>
            <a:r>
              <a:rPr sz="2500" dirty="0">
                <a:latin typeface="Cambria"/>
                <a:cs typeface="Cambria"/>
              </a:rPr>
              <a:t>based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tagging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(e.g., </a:t>
            </a:r>
            <a:r>
              <a:rPr sz="2500" dirty="0">
                <a:latin typeface="Cambria"/>
                <a:cs typeface="Cambria"/>
              </a:rPr>
              <a:t>detecting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email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addresses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or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phone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numbers).</a:t>
            </a:r>
            <a:endParaRPr sz="2500">
              <a:latin typeface="Cambria"/>
              <a:cs typeface="Cambria"/>
            </a:endParaRPr>
          </a:p>
          <a:p>
            <a:pPr marL="800100" marR="271780" lvl="2" indent="-172720">
              <a:lnSpc>
                <a:spcPts val="2630"/>
              </a:lnSpc>
              <a:spcBef>
                <a:spcPts val="55"/>
              </a:spcBef>
              <a:buClr>
                <a:srgbClr val="000000"/>
              </a:buClr>
              <a:buSzPct val="40000"/>
              <a:buFont typeface="Wingdings"/>
              <a:buChar char=""/>
              <a:tabLst>
                <a:tab pos="800100" algn="l"/>
              </a:tabLst>
            </a:pPr>
            <a:r>
              <a:rPr sz="2500" b="1" dirty="0">
                <a:solidFill>
                  <a:srgbClr val="4AACC5"/>
                </a:solidFill>
                <a:latin typeface="Cambria"/>
                <a:cs typeface="Cambria"/>
              </a:rPr>
              <a:t>Machine</a:t>
            </a:r>
            <a:r>
              <a:rPr sz="2500" b="1" spc="-8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b="1" dirty="0">
                <a:solidFill>
                  <a:srgbClr val="4AACC5"/>
                </a:solidFill>
                <a:latin typeface="Cambria"/>
                <a:cs typeface="Cambria"/>
              </a:rPr>
              <a:t>Learning</a:t>
            </a:r>
            <a:r>
              <a:rPr sz="2500" b="1" spc="-7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b="1" dirty="0">
                <a:solidFill>
                  <a:srgbClr val="4AACC5"/>
                </a:solidFill>
                <a:latin typeface="Cambria"/>
                <a:cs typeface="Cambria"/>
              </a:rPr>
              <a:t>Models</a:t>
            </a:r>
            <a:r>
              <a:rPr sz="250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r>
              <a:rPr sz="2500" spc="-5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Use</a:t>
            </a:r>
            <a:r>
              <a:rPr sz="2500" spc="-7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classification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models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to </a:t>
            </a:r>
            <a:r>
              <a:rPr sz="2500" dirty="0">
                <a:latin typeface="Cambria"/>
                <a:cs typeface="Cambria"/>
              </a:rPr>
              <a:t>predict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and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assign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tags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(e.g.,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spam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detection).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79" y="1887067"/>
            <a:ext cx="8442325" cy="416560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590"/>
              </a:spcBef>
              <a:buClr>
                <a:srgbClr val="6F2F9F"/>
              </a:buClr>
              <a:buFont typeface="Cambria"/>
              <a:buAutoNum type="arabicPeriod" startAt="5"/>
              <a:tabLst>
                <a:tab pos="349885" algn="l"/>
              </a:tabLst>
            </a:pPr>
            <a:r>
              <a:rPr sz="2550" b="1" spc="-25" dirty="0">
                <a:solidFill>
                  <a:srgbClr val="6F2F9F"/>
                </a:solidFill>
                <a:latin typeface="Cambria"/>
                <a:cs typeface="Cambria"/>
              </a:rPr>
              <a:t>Validate</a:t>
            </a:r>
            <a:r>
              <a:rPr sz="255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550" b="1" spc="-20" dirty="0">
                <a:solidFill>
                  <a:srgbClr val="6F2F9F"/>
                </a:solidFill>
                <a:latin typeface="Cambria"/>
                <a:cs typeface="Cambria"/>
              </a:rPr>
              <a:t>Tags</a:t>
            </a:r>
            <a:r>
              <a:rPr sz="2550" spc="-2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550">
              <a:latin typeface="Cambria"/>
              <a:cs typeface="Cambria"/>
            </a:endParaRPr>
          </a:p>
          <a:p>
            <a:pPr marL="570230" marR="229235" lvl="1" indent="-215265">
              <a:lnSpc>
                <a:spcPct val="100000"/>
              </a:lnSpc>
              <a:spcBef>
                <a:spcPts val="495"/>
              </a:spcBef>
              <a:buSzPct val="39215"/>
              <a:buFont typeface="Courier New"/>
              <a:buChar char="o"/>
              <a:tabLst>
                <a:tab pos="570230" algn="l"/>
              </a:tabLst>
            </a:pPr>
            <a:r>
              <a:rPr sz="2550" dirty="0">
                <a:latin typeface="Cambria"/>
                <a:cs typeface="Cambria"/>
              </a:rPr>
              <a:t>Check</a:t>
            </a:r>
            <a:r>
              <a:rPr sz="2550" spc="-3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the</a:t>
            </a:r>
            <a:r>
              <a:rPr sz="2550" spc="-5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accuracy</a:t>
            </a:r>
            <a:r>
              <a:rPr sz="2550" spc="-2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of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the</a:t>
            </a:r>
            <a:r>
              <a:rPr sz="2550" spc="-6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tags</a:t>
            </a:r>
            <a:r>
              <a:rPr sz="2550" spc="-5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to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ensure</a:t>
            </a:r>
            <a:r>
              <a:rPr sz="2550" spc="-3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they</a:t>
            </a:r>
            <a:r>
              <a:rPr sz="2550" spc="-4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align</a:t>
            </a:r>
            <a:r>
              <a:rPr sz="2550" spc="-55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with </a:t>
            </a:r>
            <a:r>
              <a:rPr sz="2550" dirty="0">
                <a:latin typeface="Cambria"/>
                <a:cs typeface="Cambria"/>
              </a:rPr>
              <a:t>the</a:t>
            </a:r>
            <a:r>
              <a:rPr sz="2550" spc="-9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dataset's</a:t>
            </a:r>
            <a:r>
              <a:rPr sz="2550" spc="-8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intended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use.</a:t>
            </a:r>
            <a:endParaRPr sz="2550">
              <a:latin typeface="Cambria"/>
              <a:cs typeface="Cambria"/>
            </a:endParaRPr>
          </a:p>
          <a:p>
            <a:pPr marL="570230" marR="786130" lvl="1" indent="-215265">
              <a:lnSpc>
                <a:spcPct val="100000"/>
              </a:lnSpc>
              <a:spcBef>
                <a:spcPts val="505"/>
              </a:spcBef>
              <a:buSzPct val="39215"/>
              <a:buFont typeface="Courier New"/>
              <a:buChar char="o"/>
              <a:tabLst>
                <a:tab pos="570230" algn="l"/>
              </a:tabLst>
            </a:pPr>
            <a:r>
              <a:rPr sz="2550" dirty="0">
                <a:latin typeface="Cambria"/>
                <a:cs typeface="Cambria"/>
              </a:rPr>
              <a:t>Example: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Verify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that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all</a:t>
            </a:r>
            <a:r>
              <a:rPr sz="2550" spc="-105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"Spam"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emails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are</a:t>
            </a:r>
            <a:r>
              <a:rPr sz="2550" spc="-8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correctly </a:t>
            </a:r>
            <a:r>
              <a:rPr sz="2550" dirty="0">
                <a:latin typeface="Cambria"/>
                <a:cs typeface="Cambria"/>
              </a:rPr>
              <a:t>tagged</a:t>
            </a:r>
            <a:r>
              <a:rPr sz="2550" spc="-4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in</a:t>
            </a:r>
            <a:r>
              <a:rPr sz="2550" spc="-4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an</a:t>
            </a:r>
            <a:r>
              <a:rPr sz="2550" spc="-4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email</a:t>
            </a:r>
            <a:r>
              <a:rPr sz="2550" spc="-3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dataset.</a:t>
            </a:r>
            <a:endParaRPr sz="2550">
              <a:latin typeface="Cambria"/>
              <a:cs typeface="Cambria"/>
            </a:endParaRPr>
          </a:p>
          <a:p>
            <a:pPr marL="349885" indent="-337185">
              <a:lnSpc>
                <a:spcPct val="100000"/>
              </a:lnSpc>
              <a:spcBef>
                <a:spcPts val="505"/>
              </a:spcBef>
              <a:buAutoNum type="arabicPeriod" startAt="5"/>
              <a:tabLst>
                <a:tab pos="349885" algn="l"/>
              </a:tabLst>
            </a:pPr>
            <a:r>
              <a:rPr sz="2550" b="1" dirty="0">
                <a:solidFill>
                  <a:srgbClr val="6F2F9F"/>
                </a:solidFill>
                <a:latin typeface="Cambria"/>
                <a:cs typeface="Cambria"/>
              </a:rPr>
              <a:t>Store</a:t>
            </a:r>
            <a:r>
              <a:rPr sz="2550" b="1" spc="-1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550" b="1" spc="-30" dirty="0">
                <a:solidFill>
                  <a:srgbClr val="6F2F9F"/>
                </a:solidFill>
                <a:latin typeface="Cambria"/>
                <a:cs typeface="Cambria"/>
              </a:rPr>
              <a:t>Tags</a:t>
            </a:r>
            <a:r>
              <a:rPr sz="2550" b="1" spc="-11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550" b="1" spc="-10" dirty="0">
                <a:solidFill>
                  <a:srgbClr val="6F2F9F"/>
                </a:solidFill>
                <a:latin typeface="Cambria"/>
                <a:cs typeface="Cambria"/>
              </a:rPr>
              <a:t>Efficiently</a:t>
            </a:r>
            <a:r>
              <a:rPr sz="255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550">
              <a:latin typeface="Cambria"/>
              <a:cs typeface="Cambria"/>
            </a:endParaRPr>
          </a:p>
          <a:p>
            <a:pPr marL="570230" marR="5080" lvl="1" indent="-215265">
              <a:lnSpc>
                <a:spcPct val="100000"/>
              </a:lnSpc>
              <a:buSzPct val="39215"/>
              <a:buFont typeface="Courier New"/>
              <a:buChar char="o"/>
              <a:tabLst>
                <a:tab pos="570230" algn="l"/>
              </a:tabLst>
            </a:pPr>
            <a:r>
              <a:rPr sz="2550" dirty="0">
                <a:latin typeface="Cambria"/>
                <a:cs typeface="Cambria"/>
              </a:rPr>
              <a:t>Include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tags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as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additional</a:t>
            </a:r>
            <a:r>
              <a:rPr sz="2550" spc="-8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columns</a:t>
            </a:r>
            <a:r>
              <a:rPr sz="2550" spc="-5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in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structured</a:t>
            </a:r>
            <a:r>
              <a:rPr sz="2550" spc="-65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datasets </a:t>
            </a:r>
            <a:r>
              <a:rPr sz="2550" dirty="0">
                <a:latin typeface="Cambria"/>
                <a:cs typeface="Cambria"/>
              </a:rPr>
              <a:t>(e.g.,</a:t>
            </a:r>
            <a:r>
              <a:rPr sz="2550" spc="-10" dirty="0">
                <a:latin typeface="Cambria"/>
                <a:cs typeface="Cambria"/>
              </a:rPr>
              <a:t> </a:t>
            </a:r>
            <a:r>
              <a:rPr sz="2550" spc="-75" dirty="0">
                <a:latin typeface="Cambria"/>
                <a:cs typeface="Cambria"/>
              </a:rPr>
              <a:t>CSV,</a:t>
            </a:r>
            <a:r>
              <a:rPr sz="2550" spc="-4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SQL</a:t>
            </a:r>
            <a:r>
              <a:rPr sz="2550" spc="-5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tables).</a:t>
            </a:r>
            <a:endParaRPr sz="2550">
              <a:latin typeface="Cambria"/>
              <a:cs typeface="Cambria"/>
            </a:endParaRPr>
          </a:p>
          <a:p>
            <a:pPr marL="570230" marR="386715" lvl="1" indent="-215265">
              <a:lnSpc>
                <a:spcPct val="100000"/>
              </a:lnSpc>
              <a:buSzPct val="39215"/>
              <a:buFont typeface="Courier New"/>
              <a:buChar char="o"/>
              <a:tabLst>
                <a:tab pos="570230" algn="l"/>
              </a:tabLst>
            </a:pPr>
            <a:r>
              <a:rPr sz="2550" dirty="0">
                <a:latin typeface="Cambria"/>
                <a:cs typeface="Cambria"/>
              </a:rPr>
              <a:t>Use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metadata</a:t>
            </a:r>
            <a:r>
              <a:rPr sz="2550" spc="-5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fields</a:t>
            </a:r>
            <a:r>
              <a:rPr sz="2550" spc="-6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in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unstructured</a:t>
            </a:r>
            <a:r>
              <a:rPr sz="2550" spc="-4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data</a:t>
            </a:r>
            <a:r>
              <a:rPr sz="2550" spc="-80" dirty="0">
                <a:latin typeface="Cambria"/>
                <a:cs typeface="Cambria"/>
              </a:rPr>
              <a:t> </a:t>
            </a:r>
            <a:r>
              <a:rPr sz="2550" dirty="0">
                <a:latin typeface="Cambria"/>
                <a:cs typeface="Cambria"/>
              </a:rPr>
              <a:t>formats</a:t>
            </a:r>
            <a:r>
              <a:rPr sz="2550" spc="-6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(e.g., </a:t>
            </a:r>
            <a:r>
              <a:rPr sz="2550" dirty="0">
                <a:latin typeface="Cambria"/>
                <a:cs typeface="Cambria"/>
              </a:rPr>
              <a:t>JSON,</a:t>
            </a:r>
            <a:r>
              <a:rPr sz="2550" spc="-8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XML).</a:t>
            </a:r>
            <a:endParaRPr sz="2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496" y="2571750"/>
            <a:ext cx="8552815" cy="289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100"/>
              </a:spcBef>
              <a:buClr>
                <a:srgbClr val="6F2F9F"/>
              </a:buClr>
              <a:buFont typeface="Cambria"/>
              <a:buAutoNum type="arabicPeriod" startAt="7"/>
              <a:tabLst>
                <a:tab pos="370840" algn="l"/>
              </a:tabLst>
            </a:pP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Use</a:t>
            </a:r>
            <a:r>
              <a:rPr sz="27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25" dirty="0">
                <a:solidFill>
                  <a:srgbClr val="6F2F9F"/>
                </a:solidFill>
                <a:latin typeface="Cambria"/>
                <a:cs typeface="Cambria"/>
              </a:rPr>
              <a:t>Tags</a:t>
            </a:r>
            <a:r>
              <a:rPr sz="27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6F2F9F"/>
                </a:solidFill>
                <a:latin typeface="Cambria"/>
                <a:cs typeface="Cambria"/>
              </a:rPr>
              <a:t>in</a:t>
            </a:r>
            <a:r>
              <a:rPr sz="27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700" b="1" spc="-35" dirty="0">
                <a:solidFill>
                  <a:srgbClr val="6F2F9F"/>
                </a:solidFill>
                <a:latin typeface="Cambria"/>
                <a:cs typeface="Cambria"/>
              </a:rPr>
              <a:t>Pre-</a:t>
            </a:r>
            <a:r>
              <a:rPr sz="2700" b="1" spc="-10" dirty="0">
                <a:solidFill>
                  <a:srgbClr val="6F2F9F"/>
                </a:solidFill>
                <a:latin typeface="Cambria"/>
                <a:cs typeface="Cambria"/>
              </a:rPr>
              <a:t>Processing</a:t>
            </a:r>
            <a:r>
              <a:rPr sz="2700" spc="-10" dirty="0">
                <a:solidFill>
                  <a:srgbClr val="6F2F9F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marR="5080" lvl="1" indent="-215265">
              <a:lnSpc>
                <a:spcPct val="100000"/>
              </a:lnSpc>
              <a:buClr>
                <a:srgbClr val="000000"/>
              </a:buClr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Filter</a:t>
            </a: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Data:</a:t>
            </a:r>
            <a:r>
              <a:rPr sz="2700" b="1" spc="-4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Extract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subsets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data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based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on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(e.g., </a:t>
            </a:r>
            <a:r>
              <a:rPr sz="2700" dirty="0">
                <a:latin typeface="Cambria"/>
                <a:cs typeface="Cambria"/>
              </a:rPr>
              <a:t>"High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Priority"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rows).</a:t>
            </a:r>
            <a:endParaRPr sz="2700">
              <a:latin typeface="Cambria"/>
              <a:cs typeface="Cambria"/>
            </a:endParaRPr>
          </a:p>
          <a:p>
            <a:pPr marL="570230" marR="1246505" lvl="1" indent="-215265">
              <a:lnSpc>
                <a:spcPct val="100000"/>
              </a:lnSpc>
              <a:buClr>
                <a:srgbClr val="000000"/>
              </a:buClr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Normalize</a:t>
            </a:r>
            <a:r>
              <a:rPr sz="2700" b="1" spc="-1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Data:</a:t>
            </a:r>
            <a:r>
              <a:rPr sz="2700" b="1" spc="-5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Use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identify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columns </a:t>
            </a:r>
            <a:r>
              <a:rPr sz="2700" dirty="0">
                <a:latin typeface="Cambria"/>
                <a:cs typeface="Cambria"/>
              </a:rPr>
              <a:t>requiring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normalization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standardization.</a:t>
            </a:r>
            <a:endParaRPr sz="2700">
              <a:latin typeface="Cambria"/>
              <a:cs typeface="Cambria"/>
            </a:endParaRPr>
          </a:p>
          <a:p>
            <a:pPr marL="570230" marR="189865" lvl="1" indent="-215265">
              <a:lnSpc>
                <a:spcPts val="3160"/>
              </a:lnSpc>
              <a:spcBef>
                <a:spcPts val="175"/>
              </a:spcBef>
              <a:buClr>
                <a:srgbClr val="000000"/>
              </a:buClr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Handle</a:t>
            </a:r>
            <a:r>
              <a:rPr sz="2700" b="1" spc="-5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4AACC5"/>
                </a:solidFill>
                <a:latin typeface="Cambria"/>
                <a:cs typeface="Cambria"/>
              </a:rPr>
              <a:t>Missing</a:t>
            </a:r>
            <a:r>
              <a:rPr sz="2700" b="1" spc="-8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spc="-20" dirty="0">
                <a:solidFill>
                  <a:srgbClr val="4AACC5"/>
                </a:solidFill>
                <a:latin typeface="Cambria"/>
                <a:cs typeface="Cambria"/>
              </a:rPr>
              <a:t>Values:</a:t>
            </a:r>
            <a:r>
              <a:rPr sz="2700" b="1" spc="-9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Tags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like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"Missing"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"Null" </a:t>
            </a:r>
            <a:r>
              <a:rPr sz="2700" dirty="0">
                <a:latin typeface="Cambria"/>
                <a:cs typeface="Cambria"/>
              </a:rPr>
              <a:t>can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help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locate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impute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missing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data.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412" y="992442"/>
            <a:ext cx="8318500" cy="58369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Examples</a:t>
            </a:r>
            <a:r>
              <a:rPr sz="32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32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30" dirty="0">
                <a:solidFill>
                  <a:srgbClr val="6F2F9F"/>
                </a:solidFill>
                <a:latin typeface="Cambria"/>
                <a:cs typeface="Cambria"/>
              </a:rPr>
              <a:t>Tagging</a:t>
            </a:r>
            <a:r>
              <a:rPr sz="32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32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mbria"/>
                <a:cs typeface="Cambria"/>
              </a:rPr>
              <a:t>for</a:t>
            </a:r>
            <a:r>
              <a:rPr sz="32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200" b="1" spc="-15" dirty="0">
                <a:solidFill>
                  <a:srgbClr val="6F2F9F"/>
                </a:solidFill>
                <a:latin typeface="Cambria"/>
                <a:cs typeface="Cambria"/>
              </a:rPr>
              <a:t>Pre-</a:t>
            </a:r>
            <a:r>
              <a:rPr sz="3200" b="1" spc="-10" dirty="0">
                <a:solidFill>
                  <a:srgbClr val="6F2F9F"/>
                </a:solidFill>
                <a:latin typeface="Cambria"/>
                <a:cs typeface="Cambria"/>
              </a:rPr>
              <a:t>Processing</a:t>
            </a:r>
            <a:endParaRPr sz="3200">
              <a:latin typeface="Cambria"/>
              <a:cs typeface="Cambria"/>
            </a:endParaRPr>
          </a:p>
          <a:p>
            <a:pPr marL="436880" indent="-424180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436880" algn="l"/>
              </a:tabLst>
            </a:pPr>
            <a:r>
              <a:rPr sz="3200" b="1" spc="-75" dirty="0">
                <a:solidFill>
                  <a:srgbClr val="4AACC5"/>
                </a:solidFill>
                <a:latin typeface="Cambria"/>
                <a:cs typeface="Cambria"/>
              </a:rPr>
              <a:t>Text</a:t>
            </a:r>
            <a:r>
              <a:rPr sz="3200" b="1" spc="-10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4AACC5"/>
                </a:solidFill>
                <a:latin typeface="Cambria"/>
                <a:cs typeface="Cambria"/>
              </a:rPr>
              <a:t>Data: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200" spc="-50" dirty="0">
                <a:latin typeface="Cambria"/>
                <a:cs typeface="Cambria"/>
              </a:rPr>
              <a:t>Tag: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"Sentiment"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→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Values:</a:t>
            </a:r>
            <a:r>
              <a:rPr sz="3200" spc="-7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"Positive,"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3200" spc="-30" dirty="0">
                <a:latin typeface="Cambria"/>
                <a:cs typeface="Cambria"/>
              </a:rPr>
              <a:t>"Negative,"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"Neutral."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200" spc="-50" dirty="0">
                <a:latin typeface="Cambria"/>
                <a:cs typeface="Cambria"/>
              </a:rPr>
              <a:t>Tag: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"Topic"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→</a:t>
            </a:r>
            <a:r>
              <a:rPr sz="3200" spc="-114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Values: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"Sports,"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"Politics,"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mbria"/>
                <a:cs typeface="Cambria"/>
              </a:rPr>
              <a:t>"Technology."</a:t>
            </a:r>
            <a:endParaRPr sz="3200">
              <a:latin typeface="Cambria"/>
              <a:cs typeface="Cambria"/>
            </a:endParaRPr>
          </a:p>
          <a:p>
            <a:pPr marL="434975" indent="-422275">
              <a:lnSpc>
                <a:spcPct val="100000"/>
              </a:lnSpc>
              <a:spcBef>
                <a:spcPts val="505"/>
              </a:spcBef>
              <a:buAutoNum type="arabicPeriod" startAt="2"/>
              <a:tabLst>
                <a:tab pos="434975" algn="l"/>
              </a:tabLst>
            </a:pPr>
            <a:r>
              <a:rPr sz="3200" b="1" dirty="0">
                <a:solidFill>
                  <a:srgbClr val="4AACC5"/>
                </a:solidFill>
                <a:latin typeface="Cambria"/>
                <a:cs typeface="Cambria"/>
              </a:rPr>
              <a:t>Image</a:t>
            </a:r>
            <a:r>
              <a:rPr sz="3200" b="1" spc="-10" dirty="0">
                <a:solidFill>
                  <a:srgbClr val="4AACC5"/>
                </a:solidFill>
                <a:latin typeface="Cambria"/>
                <a:cs typeface="Cambria"/>
              </a:rPr>
              <a:t> Data: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3200" spc="-50" dirty="0">
                <a:latin typeface="Cambria"/>
                <a:cs typeface="Cambria"/>
              </a:rPr>
              <a:t>Tag: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"Object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Detected"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→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Values: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"Cat,"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"Dog,"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mbria"/>
                <a:cs typeface="Cambria"/>
              </a:rPr>
              <a:t>"Car."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200" spc="-35" dirty="0">
                <a:latin typeface="Cambria"/>
                <a:cs typeface="Cambria"/>
              </a:rPr>
              <a:t>Tag: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"Resolution"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→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Values: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70" dirty="0">
                <a:latin typeface="Cambria"/>
                <a:cs typeface="Cambria"/>
              </a:rPr>
              <a:t>"Low,"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"Medium,"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mbria"/>
                <a:cs typeface="Cambria"/>
              </a:rPr>
              <a:t>"High."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018" y="1100454"/>
            <a:ext cx="72142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Advantages</a:t>
            </a:r>
            <a:r>
              <a:rPr sz="30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30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spc="-30" dirty="0">
                <a:solidFill>
                  <a:srgbClr val="6F2F9F"/>
                </a:solidFill>
                <a:latin typeface="Cambria"/>
                <a:cs typeface="Cambria"/>
              </a:rPr>
              <a:t>Tagging</a:t>
            </a:r>
            <a:r>
              <a:rPr sz="30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6F2F9F"/>
                </a:solidFill>
                <a:latin typeface="Cambria"/>
                <a:cs typeface="Cambria"/>
              </a:rPr>
              <a:t>for</a:t>
            </a:r>
            <a:r>
              <a:rPr sz="30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3000" b="1" spc="-30" dirty="0">
                <a:solidFill>
                  <a:srgbClr val="6F2F9F"/>
                </a:solidFill>
                <a:latin typeface="Cambria"/>
                <a:cs typeface="Cambria"/>
              </a:rPr>
              <a:t>Pre-</a:t>
            </a:r>
            <a:r>
              <a:rPr sz="3000" b="1" spc="-10" dirty="0">
                <a:solidFill>
                  <a:srgbClr val="6F2F9F"/>
                </a:solidFill>
                <a:latin typeface="Cambria"/>
                <a:cs typeface="Cambria"/>
              </a:rPr>
              <a:t>Processing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3326" y="1559178"/>
            <a:ext cx="8180070" cy="4279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SzPct val="78260"/>
              <a:buAutoNum type="arabicPeriod"/>
              <a:tabLst>
                <a:tab pos="269875" algn="l"/>
              </a:tabLst>
            </a:pP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Efficient</a:t>
            </a:r>
            <a:r>
              <a:rPr sz="2300" b="1" spc="2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4AACC5"/>
                </a:solidFill>
                <a:latin typeface="Cambria"/>
                <a:cs typeface="Cambria"/>
              </a:rPr>
              <a:t>Filtering</a:t>
            </a:r>
            <a:r>
              <a:rPr sz="23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300">
              <a:latin typeface="Cambria"/>
              <a:cs typeface="Cambria"/>
            </a:endParaRPr>
          </a:p>
          <a:p>
            <a:pPr marL="570230" lvl="1" indent="-214629">
              <a:lnSpc>
                <a:spcPct val="100000"/>
              </a:lnSpc>
              <a:spcBef>
                <a:spcPts val="40"/>
              </a:spcBef>
              <a:buSzPct val="43478"/>
              <a:buFont typeface="Courier New"/>
              <a:buChar char="o"/>
              <a:tabLst>
                <a:tab pos="570230" algn="l"/>
              </a:tabLst>
            </a:pPr>
            <a:r>
              <a:rPr sz="2300" spc="-10" dirty="0">
                <a:latin typeface="Cambria"/>
                <a:cs typeface="Cambria"/>
              </a:rPr>
              <a:t>Tags</a:t>
            </a:r>
            <a:r>
              <a:rPr sz="2300" spc="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make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it</a:t>
            </a:r>
            <a:r>
              <a:rPr sz="2300" spc="1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easy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to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subset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and</a:t>
            </a:r>
            <a:r>
              <a:rPr sz="2300" spc="3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analyze</a:t>
            </a:r>
            <a:r>
              <a:rPr sz="2300" spc="1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specific</a:t>
            </a:r>
            <a:r>
              <a:rPr sz="2300" spc="-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portions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spc="-25" dirty="0">
                <a:latin typeface="Cambria"/>
                <a:cs typeface="Cambria"/>
              </a:rPr>
              <a:t>of</a:t>
            </a:r>
            <a:endParaRPr sz="2300">
              <a:latin typeface="Cambria"/>
              <a:cs typeface="Cambria"/>
            </a:endParaRPr>
          </a:p>
          <a:p>
            <a:pPr marL="570230">
              <a:lnSpc>
                <a:spcPct val="100000"/>
              </a:lnSpc>
              <a:spcBef>
                <a:spcPts val="20"/>
              </a:spcBef>
            </a:pPr>
            <a:r>
              <a:rPr sz="2300" dirty="0">
                <a:latin typeface="Cambria"/>
                <a:cs typeface="Cambria"/>
              </a:rPr>
              <a:t>the</a:t>
            </a:r>
            <a:r>
              <a:rPr sz="2300" spc="3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dataset.</a:t>
            </a:r>
            <a:endParaRPr sz="2300">
              <a:latin typeface="Cambria"/>
              <a:cs typeface="Cambria"/>
            </a:endParaRPr>
          </a:p>
          <a:p>
            <a:pPr marL="269875" indent="-257175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SzPct val="78260"/>
              <a:buAutoNum type="arabicPeriod" startAt="2"/>
              <a:tabLst>
                <a:tab pos="269875" algn="l"/>
              </a:tabLst>
            </a:pP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Improved</a:t>
            </a:r>
            <a:r>
              <a:rPr sz="2300" b="1" spc="-5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Data</a:t>
            </a:r>
            <a:r>
              <a:rPr sz="2300" b="1" spc="-3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4AACC5"/>
                </a:solidFill>
                <a:latin typeface="Cambria"/>
                <a:cs typeface="Cambria"/>
              </a:rPr>
              <a:t>Quality</a:t>
            </a:r>
            <a:r>
              <a:rPr sz="23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300">
              <a:latin typeface="Cambria"/>
              <a:cs typeface="Cambria"/>
            </a:endParaRPr>
          </a:p>
          <a:p>
            <a:pPr marL="570230" marR="1143635" lvl="1" indent="-215265">
              <a:lnSpc>
                <a:spcPts val="2800"/>
              </a:lnSpc>
              <a:spcBef>
                <a:spcPts val="85"/>
              </a:spcBef>
              <a:buSzPct val="43478"/>
              <a:buFont typeface="Courier New"/>
              <a:buChar char="o"/>
              <a:tabLst>
                <a:tab pos="570230" algn="l"/>
              </a:tabLst>
            </a:pPr>
            <a:r>
              <a:rPr sz="2300" dirty="0">
                <a:latin typeface="Cambria"/>
                <a:cs typeface="Cambria"/>
              </a:rPr>
              <a:t>Helps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identify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outliers,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missing</a:t>
            </a:r>
            <a:r>
              <a:rPr sz="2300" spc="5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values,</a:t>
            </a:r>
            <a:r>
              <a:rPr sz="2300" spc="1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or</a:t>
            </a:r>
            <a:r>
              <a:rPr sz="2300" spc="4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errors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spc="-25" dirty="0">
                <a:latin typeface="Cambria"/>
                <a:cs typeface="Cambria"/>
              </a:rPr>
              <a:t>for </a:t>
            </a:r>
            <a:r>
              <a:rPr sz="2300" spc="-10" dirty="0">
                <a:latin typeface="Cambria"/>
                <a:cs typeface="Cambria"/>
              </a:rPr>
              <a:t>correction.</a:t>
            </a:r>
            <a:endParaRPr sz="2300">
              <a:latin typeface="Cambria"/>
              <a:cs typeface="Cambria"/>
            </a:endParaRPr>
          </a:p>
          <a:p>
            <a:pPr marL="269875" indent="-257175">
              <a:lnSpc>
                <a:spcPts val="2680"/>
              </a:lnSpc>
              <a:buClr>
                <a:srgbClr val="000000"/>
              </a:buClr>
              <a:buSzPct val="78260"/>
              <a:buAutoNum type="arabicPeriod" startAt="2"/>
              <a:tabLst>
                <a:tab pos="269875" algn="l"/>
              </a:tabLst>
            </a:pP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Faster</a:t>
            </a:r>
            <a:r>
              <a:rPr sz="2300" b="1" spc="-11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4AACC5"/>
                </a:solidFill>
                <a:latin typeface="Cambria"/>
                <a:cs typeface="Cambria"/>
              </a:rPr>
              <a:t>Processing</a:t>
            </a:r>
            <a:r>
              <a:rPr sz="23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300">
              <a:latin typeface="Cambria"/>
              <a:cs typeface="Cambria"/>
            </a:endParaRPr>
          </a:p>
          <a:p>
            <a:pPr marL="570230" lvl="1" indent="-214629">
              <a:lnSpc>
                <a:spcPct val="100000"/>
              </a:lnSpc>
              <a:spcBef>
                <a:spcPts val="35"/>
              </a:spcBef>
              <a:buSzPct val="43478"/>
              <a:buFont typeface="Courier New"/>
              <a:buChar char="o"/>
              <a:tabLst>
                <a:tab pos="570230" algn="l"/>
              </a:tabLst>
            </a:pPr>
            <a:r>
              <a:rPr sz="2300" spc="-10" dirty="0">
                <a:latin typeface="Cambria"/>
                <a:cs typeface="Cambria"/>
              </a:rPr>
              <a:t>Pre-</a:t>
            </a:r>
            <a:r>
              <a:rPr sz="2300" dirty="0">
                <a:latin typeface="Cambria"/>
                <a:cs typeface="Cambria"/>
              </a:rPr>
              <a:t>tagged</a:t>
            </a:r>
            <a:r>
              <a:rPr sz="2300" spc="4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data</a:t>
            </a:r>
            <a:r>
              <a:rPr sz="2300" spc="3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reduces</a:t>
            </a:r>
            <a:r>
              <a:rPr sz="2300" spc="3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the</a:t>
            </a:r>
            <a:r>
              <a:rPr sz="2300" spc="5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time</a:t>
            </a:r>
            <a:r>
              <a:rPr sz="2300" spc="4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needed</a:t>
            </a:r>
            <a:r>
              <a:rPr sz="2300" spc="3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for</a:t>
            </a:r>
            <a:r>
              <a:rPr sz="2300" spc="3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downstream</a:t>
            </a:r>
            <a:endParaRPr sz="2300">
              <a:latin typeface="Cambria"/>
              <a:cs typeface="Cambria"/>
            </a:endParaRPr>
          </a:p>
          <a:p>
            <a:pPr marL="570230">
              <a:lnSpc>
                <a:spcPct val="100000"/>
              </a:lnSpc>
              <a:spcBef>
                <a:spcPts val="25"/>
              </a:spcBef>
            </a:pPr>
            <a:r>
              <a:rPr sz="2300" spc="-10" dirty="0">
                <a:latin typeface="Cambria"/>
                <a:cs typeface="Cambria"/>
              </a:rPr>
              <a:t>processing.</a:t>
            </a:r>
            <a:endParaRPr sz="2300">
              <a:latin typeface="Cambria"/>
              <a:cs typeface="Cambria"/>
            </a:endParaRPr>
          </a:p>
          <a:p>
            <a:pPr marL="269875" indent="-257175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SzPct val="78260"/>
              <a:buAutoNum type="arabicPeriod" startAt="4"/>
              <a:tabLst>
                <a:tab pos="269875" algn="l"/>
              </a:tabLst>
            </a:pP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Enhanced</a:t>
            </a:r>
            <a:r>
              <a:rPr sz="2300" b="1" spc="5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Machine</a:t>
            </a:r>
            <a:r>
              <a:rPr sz="2300" b="1" spc="6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dirty="0">
                <a:solidFill>
                  <a:srgbClr val="4AACC5"/>
                </a:solidFill>
                <a:latin typeface="Cambria"/>
                <a:cs typeface="Cambria"/>
              </a:rPr>
              <a:t>Learning</a:t>
            </a:r>
            <a:r>
              <a:rPr sz="2300" b="1" spc="60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300" b="1" spc="-10" dirty="0">
                <a:solidFill>
                  <a:srgbClr val="4AACC5"/>
                </a:solidFill>
                <a:latin typeface="Cambria"/>
                <a:cs typeface="Cambria"/>
              </a:rPr>
              <a:t>Pipelines</a:t>
            </a:r>
            <a:r>
              <a:rPr sz="23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300">
              <a:latin typeface="Cambria"/>
              <a:cs typeface="Cambria"/>
            </a:endParaRPr>
          </a:p>
          <a:p>
            <a:pPr marL="570230" lvl="1" indent="-214629">
              <a:lnSpc>
                <a:spcPct val="100000"/>
              </a:lnSpc>
              <a:spcBef>
                <a:spcPts val="20"/>
              </a:spcBef>
              <a:buSzPct val="43478"/>
              <a:buFont typeface="Courier New"/>
              <a:buChar char="o"/>
              <a:tabLst>
                <a:tab pos="570230" algn="l"/>
              </a:tabLst>
            </a:pPr>
            <a:r>
              <a:rPr sz="2300" spc="-10" dirty="0">
                <a:latin typeface="Cambria"/>
                <a:cs typeface="Cambria"/>
              </a:rPr>
              <a:t>Tagged</a:t>
            </a:r>
            <a:r>
              <a:rPr sz="2300" dirty="0">
                <a:latin typeface="Cambria"/>
                <a:cs typeface="Cambria"/>
              </a:rPr>
              <a:t> data simplifies feature</a:t>
            </a:r>
            <a:r>
              <a:rPr sz="2300" spc="-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selection</a:t>
            </a:r>
            <a:r>
              <a:rPr sz="2300" spc="-5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and</a:t>
            </a:r>
            <a:r>
              <a:rPr sz="2300" spc="20" dirty="0">
                <a:latin typeface="Cambria"/>
                <a:cs typeface="Cambria"/>
              </a:rPr>
              <a:t> </a:t>
            </a:r>
            <a:r>
              <a:rPr sz="2300" dirty="0">
                <a:latin typeface="Cambria"/>
                <a:cs typeface="Cambria"/>
              </a:rPr>
              <a:t>improves</a:t>
            </a:r>
            <a:r>
              <a:rPr sz="2300" spc="1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model</a:t>
            </a:r>
            <a:endParaRPr sz="2300">
              <a:latin typeface="Cambria"/>
              <a:cs typeface="Cambria"/>
            </a:endParaRPr>
          </a:p>
          <a:p>
            <a:pPr marL="570230">
              <a:lnSpc>
                <a:spcPct val="100000"/>
              </a:lnSpc>
              <a:spcBef>
                <a:spcPts val="35"/>
              </a:spcBef>
            </a:pPr>
            <a:r>
              <a:rPr sz="2300" spc="-10" dirty="0">
                <a:latin typeface="Cambria"/>
                <a:cs typeface="Cambria"/>
              </a:rPr>
              <a:t>accuracy.</a:t>
            </a:r>
            <a:endParaRPr sz="2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8153" y="1147394"/>
            <a:ext cx="21082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solidFill>
                  <a:srgbClr val="6F2F9F"/>
                </a:solidFill>
                <a:latin typeface="Cambria"/>
                <a:cs typeface="Cambria"/>
              </a:rPr>
              <a:t>Challenges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653921"/>
            <a:ext cx="7600950" cy="3729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66666"/>
              <a:buAutoNum type="arabicPeriod"/>
              <a:tabLst>
                <a:tab pos="269875" algn="l"/>
              </a:tabLst>
            </a:pP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Scalability</a:t>
            </a:r>
            <a:r>
              <a:rPr sz="27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marR="5080" lvl="1" indent="-215265">
              <a:lnSpc>
                <a:spcPct val="100000"/>
              </a:lnSpc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spc="-10" dirty="0">
                <a:latin typeface="Cambria"/>
                <a:cs typeface="Cambria"/>
              </a:rPr>
              <a:t>Automating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tagging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extremely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large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datasets </a:t>
            </a:r>
            <a:r>
              <a:rPr sz="2700" dirty="0">
                <a:latin typeface="Cambria"/>
                <a:cs typeface="Cambria"/>
              </a:rPr>
              <a:t>can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be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computationally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expensive.</a:t>
            </a:r>
            <a:endParaRPr sz="2700">
              <a:latin typeface="Cambria"/>
              <a:cs typeface="Cambria"/>
            </a:endParaRPr>
          </a:p>
          <a:p>
            <a:pPr marL="269875" indent="-257175">
              <a:lnSpc>
                <a:spcPct val="100000"/>
              </a:lnSpc>
              <a:buClr>
                <a:srgbClr val="000000"/>
              </a:buClr>
              <a:buSzPct val="66666"/>
              <a:buAutoNum type="arabicPeriod"/>
              <a:tabLst>
                <a:tab pos="269875" algn="l"/>
              </a:tabLst>
            </a:pP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Consistency</a:t>
            </a:r>
            <a:r>
              <a:rPr sz="27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570230" marR="127635" lvl="1" indent="-215265">
              <a:lnSpc>
                <a:spcPct val="100000"/>
              </a:lnSpc>
              <a:buSzPct val="37037"/>
              <a:buFont typeface="Courier New"/>
              <a:buChar char="o"/>
              <a:tabLst>
                <a:tab pos="570230" algn="l"/>
              </a:tabLst>
            </a:pPr>
            <a:r>
              <a:rPr sz="2700" dirty="0">
                <a:latin typeface="Cambria"/>
                <a:cs typeface="Cambria"/>
              </a:rPr>
              <a:t>Ensuring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uniform</a:t>
            </a:r>
            <a:r>
              <a:rPr sz="2700" spc="-8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application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across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the </a:t>
            </a:r>
            <a:r>
              <a:rPr sz="2700" dirty="0">
                <a:latin typeface="Cambria"/>
                <a:cs typeface="Cambria"/>
              </a:rPr>
              <a:t>dataset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is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critical.</a:t>
            </a:r>
            <a:endParaRPr sz="2700">
              <a:latin typeface="Cambria"/>
              <a:cs typeface="Cambria"/>
            </a:endParaRPr>
          </a:p>
          <a:p>
            <a:pPr marL="269875" indent="-257175">
              <a:lnSpc>
                <a:spcPct val="100000"/>
              </a:lnSpc>
              <a:buClr>
                <a:srgbClr val="000000"/>
              </a:buClr>
              <a:buSzPct val="66666"/>
              <a:buAutoNum type="arabicPeriod"/>
              <a:tabLst>
                <a:tab pos="269875" algn="l"/>
              </a:tabLst>
            </a:pPr>
            <a:r>
              <a:rPr sz="2700" b="1" spc="-45" dirty="0">
                <a:solidFill>
                  <a:srgbClr val="4AACC5"/>
                </a:solidFill>
                <a:latin typeface="Cambria"/>
                <a:cs typeface="Cambria"/>
              </a:rPr>
              <a:t>Tag</a:t>
            </a:r>
            <a:r>
              <a:rPr sz="2700" b="1" spc="-95" dirty="0">
                <a:solidFill>
                  <a:srgbClr val="4AACC5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4AACC5"/>
                </a:solidFill>
                <a:latin typeface="Cambria"/>
                <a:cs typeface="Cambria"/>
              </a:rPr>
              <a:t>Clutter</a:t>
            </a:r>
            <a:r>
              <a:rPr sz="2700" spc="-10" dirty="0">
                <a:solidFill>
                  <a:srgbClr val="4AACC5"/>
                </a:solidFill>
                <a:latin typeface="Cambria"/>
                <a:cs typeface="Cambria"/>
              </a:rPr>
              <a:t>:</a:t>
            </a:r>
            <a:endParaRPr sz="2700">
              <a:latin typeface="Cambria"/>
              <a:cs typeface="Cambria"/>
            </a:endParaRPr>
          </a:p>
          <a:p>
            <a:pPr marL="926465" marR="1336040" indent="-342900">
              <a:lnSpc>
                <a:spcPct val="100000"/>
              </a:lnSpc>
              <a:spcBef>
                <a:spcPts val="5"/>
              </a:spcBef>
              <a:tabLst>
                <a:tab pos="926465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2700" dirty="0">
                <a:latin typeface="Cambria"/>
                <a:cs typeface="Cambria"/>
              </a:rPr>
              <a:t>Too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many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irrelevant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tags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can </a:t>
            </a:r>
            <a:r>
              <a:rPr sz="2700" dirty="0">
                <a:latin typeface="Cambria"/>
                <a:cs typeface="Cambria"/>
              </a:rPr>
              <a:t>complicate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data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structure.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63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57553"/>
            <a:ext cx="4777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Sample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IoT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Sensor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Dataset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4351401"/>
            <a:ext cx="3810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Define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Tagging</a:t>
            </a:r>
            <a:r>
              <a:rPr sz="3200" spc="-20" dirty="0">
                <a:latin typeface="Calibri"/>
                <a:cs typeface="Calibri"/>
              </a:rPr>
              <a:t> Rules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1363" y="1131061"/>
            <a:ext cx="3314573" cy="22594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6179" y="3621404"/>
            <a:ext cx="4901310" cy="168617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654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contd..,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57553"/>
            <a:ext cx="23964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Tagged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811904"/>
            <a:ext cx="72510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00"/>
              </a:spcBef>
              <a:buSzPct val="56250"/>
              <a:buFont typeface="Arial MT"/>
              <a:buChar char="•"/>
              <a:tabLst>
                <a:tab pos="447040" algn="l"/>
              </a:tabLst>
            </a:pPr>
            <a:r>
              <a:rPr sz="3200" dirty="0">
                <a:latin typeface="Calibri"/>
                <a:cs typeface="Calibri"/>
              </a:rPr>
              <a:t>Filtered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(for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Location:Warehouse1):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5605" y="946785"/>
            <a:ext cx="6079744" cy="28553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0876" y="4008030"/>
            <a:ext cx="5569331" cy="182130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5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Contd.,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07512"/>
            <a:ext cx="7543800" cy="24885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0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Generate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CSV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Tagged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Analyze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Tagged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SzPct val="64285"/>
              <a:buFont typeface="Arial MT"/>
              <a:buChar char="–"/>
              <a:tabLst>
                <a:tab pos="812800" algn="l"/>
              </a:tabLst>
            </a:pPr>
            <a:r>
              <a:rPr sz="2800" dirty="0">
                <a:latin typeface="Calibri"/>
                <a:cs typeface="Calibri"/>
              </a:rPr>
              <a:t>Count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records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</a:t>
            </a:r>
            <a:endParaRPr sz="2800">
              <a:latin typeface="Calibri"/>
              <a:cs typeface="Calibri"/>
            </a:endParaRPr>
          </a:p>
          <a:p>
            <a:pPr marL="812800" marR="424815" lvl="1" indent="-342900">
              <a:lnSpc>
                <a:spcPct val="100000"/>
              </a:lnSpc>
              <a:spcBef>
                <a:spcPts val="409"/>
              </a:spcBef>
              <a:buSzPct val="64285"/>
              <a:buFont typeface="Arial MT"/>
              <a:buChar char="–"/>
              <a:tabLst>
                <a:tab pos="812800" algn="l"/>
              </a:tabLst>
            </a:pPr>
            <a:r>
              <a:rPr sz="2800" dirty="0">
                <a:latin typeface="Calibri"/>
                <a:cs typeface="Calibri"/>
              </a:rPr>
              <a:t>Calculate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average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temperature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location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116" y="4408373"/>
            <a:ext cx="2359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alibri"/>
                <a:cs typeface="Calibri"/>
              </a:rPr>
              <a:t>Data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usage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190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Forecasting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452"/>
            <a:ext cx="8013700" cy="33089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marR="40005" indent="-342900">
              <a:lnSpc>
                <a:spcPts val="3760"/>
              </a:lnSpc>
              <a:spcBef>
                <a:spcPts val="295"/>
              </a:spcBef>
              <a:buSzPct val="150000"/>
              <a:buFont typeface="Arial MT"/>
              <a:buChar char="•"/>
              <a:tabLst>
                <a:tab pos="355600" algn="l"/>
                <a:tab pos="457200" algn="l"/>
              </a:tabLst>
            </a:pPr>
            <a:r>
              <a:rPr sz="3200" dirty="0">
                <a:latin typeface="Georgia"/>
                <a:cs typeface="Georgia"/>
              </a:rPr>
              <a:t>	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Ancestors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observed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the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sky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3200" spc="-1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forecast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the </a:t>
            </a:r>
            <a:r>
              <a:rPr sz="3200" spc="-10" dirty="0">
                <a:solidFill>
                  <a:srgbClr val="292929"/>
                </a:solidFill>
                <a:latin typeface="Georgia"/>
                <a:cs typeface="Georgia"/>
              </a:rPr>
              <a:t>weather</a:t>
            </a:r>
            <a:endParaRPr sz="3200">
              <a:latin typeface="Georgia"/>
              <a:cs typeface="Georgia"/>
            </a:endParaRPr>
          </a:p>
          <a:p>
            <a:pPr marL="355600" marR="5080" indent="-342900">
              <a:lnSpc>
                <a:spcPct val="98900"/>
              </a:lnSpc>
              <a:spcBef>
                <a:spcPts val="15"/>
              </a:spcBef>
              <a:buChar char="•"/>
              <a:tabLst>
                <a:tab pos="355600" algn="l"/>
                <a:tab pos="443865" algn="l"/>
              </a:tabLst>
            </a:pPr>
            <a:r>
              <a:rPr sz="3200" dirty="0"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Data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Scientists</a:t>
            </a:r>
            <a:r>
              <a:rPr sz="3200" spc="-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develop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and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train</a:t>
            </a:r>
            <a:r>
              <a:rPr sz="3200" spc="-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292929"/>
                </a:solidFill>
                <a:latin typeface="Georgia"/>
                <a:cs typeface="Georgia"/>
              </a:rPr>
              <a:t>machine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learning</a:t>
            </a:r>
            <a:r>
              <a:rPr sz="3200" spc="-3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models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3200" spc="-2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predict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sales,</a:t>
            </a:r>
            <a:r>
              <a:rPr sz="3200" spc="-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292929"/>
                </a:solidFill>
                <a:latin typeface="Georgia"/>
                <a:cs typeface="Georgia"/>
              </a:rPr>
              <a:t>risks,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events,</a:t>
            </a:r>
            <a:r>
              <a:rPr sz="3200" spc="-1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92929"/>
                </a:solidFill>
                <a:latin typeface="Georgia"/>
                <a:cs typeface="Georgia"/>
              </a:rPr>
              <a:t>trends,</a:t>
            </a:r>
            <a:r>
              <a:rPr sz="3200" spc="-3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3200" spc="-25" dirty="0">
                <a:solidFill>
                  <a:srgbClr val="292929"/>
                </a:solidFill>
                <a:latin typeface="Georgia"/>
                <a:cs typeface="Georgia"/>
              </a:rPr>
              <a:t>etc</a:t>
            </a:r>
            <a:endParaRPr sz="3200">
              <a:latin typeface="Georgia"/>
              <a:cs typeface="Georgia"/>
            </a:endParaRPr>
          </a:p>
          <a:p>
            <a:pPr marL="812800" marR="264795" lvl="1" indent="-343535">
              <a:lnSpc>
                <a:spcPct val="100000"/>
              </a:lnSpc>
              <a:spcBef>
                <a:spcPts val="5"/>
              </a:spcBef>
              <a:buSzPct val="114285"/>
              <a:buFont typeface="Arial MT"/>
              <a:buChar char="•"/>
              <a:tabLst>
                <a:tab pos="812800" algn="l"/>
              </a:tabLst>
            </a:pP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about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forecast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0864">
              <a:lnSpc>
                <a:spcPct val="100000"/>
              </a:lnSpc>
              <a:spcBef>
                <a:spcPts val="105"/>
              </a:spcBef>
            </a:pPr>
            <a:r>
              <a:rPr dirty="0"/>
              <a:t>Forecasting</a:t>
            </a:r>
            <a:r>
              <a:rPr spc="-215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090"/>
            <a:ext cx="7923530" cy="412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99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Based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data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availability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lnSpc>
                <a:spcPts val="236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b="1" dirty="0">
                <a:latin typeface="Calibri"/>
                <a:cs typeface="Calibri"/>
              </a:rPr>
              <a:t>Qualitative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Forecasts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25" dirty="0">
                <a:latin typeface="Calibri"/>
                <a:cs typeface="Calibri"/>
              </a:rPr>
              <a:t> the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315"/>
              </a:lnSpc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relevant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forecasts.</a:t>
            </a:r>
            <a:endParaRPr sz="2200">
              <a:latin typeface="Calibri"/>
              <a:cs typeface="Calibri"/>
            </a:endParaRPr>
          </a:p>
          <a:p>
            <a:pPr marL="927100" marR="8890" lvl="2" indent="-342900">
              <a:lnSpc>
                <a:spcPts val="2110"/>
              </a:lnSpc>
              <a:spcBef>
                <a:spcPts val="450"/>
              </a:spcBef>
              <a:buSzPct val="81818"/>
              <a:buFont typeface="Arial MT"/>
              <a:buChar char="–"/>
              <a:tabLst>
                <a:tab pos="927100" algn="l"/>
              </a:tabLst>
            </a:pPr>
            <a:r>
              <a:rPr sz="2200" b="1" dirty="0">
                <a:latin typeface="Calibri"/>
                <a:cs typeface="Calibri"/>
              </a:rPr>
              <a:t>Qualitative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forecasting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involves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expert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opinions, </a:t>
            </a:r>
            <a:r>
              <a:rPr sz="2200" b="1" dirty="0">
                <a:latin typeface="Calibri"/>
                <a:cs typeface="Calibri"/>
              </a:rPr>
              <a:t>market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research,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judgment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rather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historical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predictions.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when </a:t>
            </a: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limited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unavailable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human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intuition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experience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future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projections.</a:t>
            </a:r>
            <a:endParaRPr sz="2200">
              <a:latin typeface="Calibri"/>
              <a:cs typeface="Calibri"/>
            </a:endParaRPr>
          </a:p>
          <a:p>
            <a:pPr marL="927100" marR="5080" lvl="2" indent="-342900">
              <a:lnSpc>
                <a:spcPct val="80000"/>
              </a:lnSpc>
              <a:spcBef>
                <a:spcPts val="425"/>
              </a:spcBef>
              <a:buSzPct val="81818"/>
              <a:buFont typeface="Arial MT"/>
              <a:buChar char="–"/>
              <a:tabLst>
                <a:tab pos="927100" algn="l"/>
              </a:tabLst>
            </a:pPr>
            <a:r>
              <a:rPr sz="2200" dirty="0">
                <a:latin typeface="Calibri"/>
                <a:cs typeface="Calibri"/>
              </a:rPr>
              <a:t>Qualitative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forecasts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particularly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new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products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b="1" spc="-10" dirty="0">
                <a:latin typeface="Calibri"/>
                <a:cs typeface="Calibri"/>
              </a:rPr>
              <a:t>technological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innovations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situations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rapid </a:t>
            </a:r>
            <a:r>
              <a:rPr sz="2200" b="1" dirty="0">
                <a:latin typeface="Calibri"/>
                <a:cs typeface="Calibri"/>
              </a:rPr>
              <a:t>changes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historical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unreliable</a:t>
            </a:r>
            <a:endParaRPr sz="2200">
              <a:latin typeface="Calibri"/>
              <a:cs typeface="Calibri"/>
            </a:endParaRPr>
          </a:p>
          <a:p>
            <a:pPr marL="756285" marR="139065" lvl="1" indent="-287020" algn="just">
              <a:lnSpc>
                <a:spcPct val="80000"/>
              </a:lnSpc>
              <a:spcBef>
                <a:spcPts val="50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b="1" spc="-10" dirty="0">
                <a:latin typeface="Calibri"/>
                <a:cs typeface="Calibri"/>
              </a:rPr>
              <a:t>Quantitative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Forecasts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(Time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Series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Forecasting):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numerical </a:t>
            </a:r>
            <a:r>
              <a:rPr sz="2200" dirty="0">
                <a:latin typeface="Calibri"/>
                <a:cs typeface="Calibri"/>
              </a:rPr>
              <a:t>information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available;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patterns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future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0864">
              <a:lnSpc>
                <a:spcPct val="100000"/>
              </a:lnSpc>
              <a:spcBef>
                <a:spcPts val="105"/>
              </a:spcBef>
            </a:pPr>
            <a:r>
              <a:rPr dirty="0"/>
              <a:t>Forecasting</a:t>
            </a:r>
            <a:r>
              <a:rPr spc="-215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99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u="none" dirty="0">
                <a:solidFill>
                  <a:srgbClr val="000000"/>
                </a:solidFill>
              </a:rPr>
              <a:t>Based</a:t>
            </a:r>
            <a:r>
              <a:rPr sz="2500" u="none" spc="-40" dirty="0">
                <a:solidFill>
                  <a:srgbClr val="000000"/>
                </a:solidFill>
              </a:rPr>
              <a:t> </a:t>
            </a:r>
            <a:r>
              <a:rPr sz="2500" u="none" dirty="0">
                <a:solidFill>
                  <a:srgbClr val="000000"/>
                </a:solidFill>
              </a:rPr>
              <a:t>on</a:t>
            </a:r>
            <a:r>
              <a:rPr sz="2500" u="none" spc="-50" dirty="0">
                <a:solidFill>
                  <a:srgbClr val="000000"/>
                </a:solidFill>
              </a:rPr>
              <a:t> </a:t>
            </a:r>
            <a:r>
              <a:rPr sz="2500" u="none" dirty="0">
                <a:solidFill>
                  <a:srgbClr val="000000"/>
                </a:solidFill>
              </a:rPr>
              <a:t>time</a:t>
            </a:r>
            <a:r>
              <a:rPr sz="2500" u="none" spc="-40" dirty="0">
                <a:solidFill>
                  <a:srgbClr val="000000"/>
                </a:solidFill>
              </a:rPr>
              <a:t> </a:t>
            </a:r>
            <a:r>
              <a:rPr sz="2500" u="none" spc="-10" dirty="0">
                <a:solidFill>
                  <a:srgbClr val="000000"/>
                </a:solidFill>
              </a:rPr>
              <a:t>horizon</a:t>
            </a:r>
            <a:endParaRPr sz="2500"/>
          </a:p>
          <a:p>
            <a:pPr marL="756285" lvl="1" indent="-286385">
              <a:lnSpc>
                <a:spcPts val="237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Short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forecasts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range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three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u="none" spc="-10" dirty="0">
                <a:solidFill>
                  <a:srgbClr val="000000"/>
                </a:solidFill>
              </a:rPr>
              <a:t>months</a:t>
            </a:r>
            <a:endParaRPr sz="2200"/>
          </a:p>
          <a:p>
            <a:pPr marL="1213485" marR="5080" lvl="2" indent="-287020">
              <a:lnSpc>
                <a:spcPct val="80000"/>
              </a:lnSpc>
              <a:spcBef>
                <a:spcPts val="505"/>
              </a:spcBef>
              <a:buFont typeface="Arial MT"/>
              <a:buChar char="–"/>
              <a:tabLst>
                <a:tab pos="1213485" algn="l"/>
              </a:tabLst>
            </a:pPr>
            <a:r>
              <a:rPr sz="1900" dirty="0">
                <a:latin typeface="Calibri"/>
                <a:cs typeface="Calibri"/>
              </a:rPr>
              <a:t>Use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Traffic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stock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prediction,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energy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demand </a:t>
            </a:r>
            <a:r>
              <a:rPr sz="1900" dirty="0">
                <a:latin typeface="Calibri"/>
                <a:cs typeface="Calibri"/>
              </a:rPr>
              <a:t>forecasting,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sales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forecasting.</a:t>
            </a:r>
            <a:endParaRPr sz="1900">
              <a:latin typeface="Calibri"/>
              <a:cs typeface="Calibri"/>
            </a:endParaRPr>
          </a:p>
          <a:p>
            <a:pPr marL="756285" lvl="1" indent="-286385">
              <a:lnSpc>
                <a:spcPts val="260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Medium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forecasts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period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normally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year</a:t>
            </a:r>
            <a:endParaRPr sz="2200">
              <a:latin typeface="Calibri"/>
              <a:cs typeface="Calibri"/>
            </a:endParaRPr>
          </a:p>
          <a:p>
            <a:pPr marL="1213485" lvl="2" indent="-286385">
              <a:lnSpc>
                <a:spcPts val="2255"/>
              </a:lnSpc>
              <a:spcBef>
                <a:spcPts val="60"/>
              </a:spcBef>
              <a:buFont typeface="Arial MT"/>
              <a:buChar char="–"/>
              <a:tabLst>
                <a:tab pos="1213485" algn="l"/>
              </a:tabLst>
            </a:pPr>
            <a:r>
              <a:rPr sz="1900" dirty="0">
                <a:latin typeface="Calibri"/>
                <a:cs typeface="Calibri"/>
              </a:rPr>
              <a:t>Usecases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Retail,Manufacturing,Energy,Healthcare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Finance.</a:t>
            </a:r>
            <a:endParaRPr sz="1900">
              <a:latin typeface="Calibri"/>
              <a:cs typeface="Calibri"/>
            </a:endParaRPr>
          </a:p>
          <a:p>
            <a:pPr marL="756285" marR="162560" lvl="1" indent="-287020">
              <a:lnSpc>
                <a:spcPct val="80000"/>
              </a:lnSpc>
              <a:spcBef>
                <a:spcPts val="50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Long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forecasts: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periods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greater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than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years</a:t>
            </a:r>
            <a:endParaRPr sz="2200">
              <a:latin typeface="Calibri"/>
              <a:cs typeface="Calibri"/>
            </a:endParaRPr>
          </a:p>
          <a:p>
            <a:pPr marL="469900" marR="442595" lvl="2" indent="743585">
              <a:lnSpc>
                <a:spcPct val="89200"/>
              </a:lnSpc>
              <a:spcBef>
                <a:spcPts val="305"/>
              </a:spcBef>
              <a:buFont typeface="Arial MT"/>
              <a:buChar char="–"/>
              <a:tabLst>
                <a:tab pos="1213485" algn="l"/>
              </a:tabLst>
            </a:pPr>
            <a:r>
              <a:rPr sz="1900" dirty="0">
                <a:latin typeface="Calibri"/>
                <a:cs typeface="Calibri"/>
              </a:rPr>
              <a:t>Usecases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: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Retail,Manufacturing,Energy,Healthcare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Finance </a:t>
            </a:r>
            <a:r>
              <a:rPr sz="2200" spc="-10" dirty="0">
                <a:latin typeface="Calibri"/>
                <a:cs typeface="Calibri"/>
              </a:rPr>
              <a:t>Techniques: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series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(ARIMA,SARIMA,Holt- </a:t>
            </a:r>
            <a:r>
              <a:rPr sz="2200" dirty="0">
                <a:latin typeface="Calibri"/>
                <a:cs typeface="Calibri"/>
              </a:rPr>
              <a:t>Winters);Machine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(Random</a:t>
            </a:r>
            <a:endParaRPr sz="2200">
              <a:latin typeface="Calibri"/>
              <a:cs typeface="Calibri"/>
            </a:endParaRPr>
          </a:p>
          <a:p>
            <a:pPr marL="469900">
              <a:lnSpc>
                <a:spcPts val="1850"/>
              </a:lnSpc>
            </a:pPr>
            <a:r>
              <a:rPr sz="2200" u="none" spc="-10" dirty="0">
                <a:solidFill>
                  <a:srgbClr val="000000"/>
                </a:solidFill>
              </a:rPr>
              <a:t>Forest,XGBoost,LSTM),Exponential</a:t>
            </a:r>
            <a:r>
              <a:rPr sz="2200" u="none" spc="-5" dirty="0">
                <a:solidFill>
                  <a:srgbClr val="000000"/>
                </a:solidFill>
              </a:rPr>
              <a:t> </a:t>
            </a:r>
            <a:r>
              <a:rPr sz="2200" u="none" dirty="0">
                <a:solidFill>
                  <a:srgbClr val="000000"/>
                </a:solidFill>
              </a:rPr>
              <a:t>Smoothing,Trend</a:t>
            </a:r>
            <a:r>
              <a:rPr sz="2200" u="none" spc="-15" dirty="0">
                <a:solidFill>
                  <a:srgbClr val="000000"/>
                </a:solidFill>
              </a:rPr>
              <a:t> </a:t>
            </a:r>
            <a:r>
              <a:rPr sz="2200" u="none" spc="-10" dirty="0">
                <a:solidFill>
                  <a:srgbClr val="000000"/>
                </a:solidFill>
              </a:rPr>
              <a:t>Prediction</a:t>
            </a:r>
            <a:endParaRPr sz="2200"/>
          </a:p>
          <a:p>
            <a:pPr marL="469900">
              <a:lnSpc>
                <a:spcPts val="2375"/>
              </a:lnSpc>
            </a:pPr>
            <a:r>
              <a:rPr sz="2200" u="none" dirty="0">
                <a:solidFill>
                  <a:srgbClr val="000000"/>
                </a:solidFill>
              </a:rPr>
              <a:t>and</a:t>
            </a:r>
            <a:r>
              <a:rPr sz="2200" u="none" spc="-65" dirty="0">
                <a:solidFill>
                  <a:srgbClr val="000000"/>
                </a:solidFill>
              </a:rPr>
              <a:t> </a:t>
            </a:r>
            <a:r>
              <a:rPr sz="2200" u="none" dirty="0">
                <a:solidFill>
                  <a:srgbClr val="000000"/>
                </a:solidFill>
              </a:rPr>
              <a:t>Regression</a:t>
            </a:r>
            <a:r>
              <a:rPr sz="2200" u="none" spc="-45" dirty="0">
                <a:solidFill>
                  <a:srgbClr val="000000"/>
                </a:solidFill>
              </a:rPr>
              <a:t> </a:t>
            </a:r>
            <a:r>
              <a:rPr sz="2200" u="none" dirty="0">
                <a:solidFill>
                  <a:srgbClr val="000000"/>
                </a:solidFill>
              </a:rPr>
              <a:t>models</a:t>
            </a:r>
            <a:r>
              <a:rPr sz="2200" u="none" spc="-50" dirty="0">
                <a:solidFill>
                  <a:srgbClr val="000000"/>
                </a:solidFill>
              </a:rPr>
              <a:t> </a:t>
            </a:r>
            <a:r>
              <a:rPr sz="2200" u="none" spc="-10" dirty="0">
                <a:solidFill>
                  <a:srgbClr val="000000"/>
                </a:solidFill>
              </a:rPr>
              <a:t>etc.,</a:t>
            </a:r>
            <a:endParaRPr sz="2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889" y="194309"/>
            <a:ext cx="4820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Forecasting</a:t>
            </a:r>
            <a:r>
              <a:rPr spc="-21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71169"/>
            <a:ext cx="8039100" cy="421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589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Judgmental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Forecasting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option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Qualitative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Forecasts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due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lack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historical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;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Examples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policy,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product,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competitor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Time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Series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Forecasting</a:t>
            </a:r>
            <a:r>
              <a:rPr sz="3000" b="1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methods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use </a:t>
            </a:r>
            <a:r>
              <a:rPr sz="3000" dirty="0">
                <a:latin typeface="Calibri"/>
                <a:cs typeface="Calibri"/>
              </a:rPr>
              <a:t>historical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values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variable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forecast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exclude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factors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could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affect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its </a:t>
            </a:r>
            <a:r>
              <a:rPr sz="3000" dirty="0">
                <a:latin typeface="Calibri"/>
                <a:cs typeface="Calibri"/>
              </a:rPr>
              <a:t>behavior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competitor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activities,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changes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environment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economic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conditions,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on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0345">
              <a:lnSpc>
                <a:spcPct val="100000"/>
              </a:lnSpc>
              <a:spcBef>
                <a:spcPts val="105"/>
              </a:spcBef>
            </a:pPr>
            <a:r>
              <a:rPr dirty="0"/>
              <a:t>Predictive </a:t>
            </a:r>
            <a:r>
              <a:rPr spc="-10" dirty="0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7985759" cy="45142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102870" indent="-342900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using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known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create,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process,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and </a:t>
            </a:r>
            <a:r>
              <a:rPr sz="2500" b="1" dirty="0">
                <a:latin typeface="Calibri"/>
                <a:cs typeface="Calibri"/>
              </a:rPr>
              <a:t>validate</a:t>
            </a:r>
            <a:r>
              <a:rPr sz="2500" b="1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used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forecast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future </a:t>
            </a:r>
            <a:r>
              <a:rPr sz="2500" b="1" dirty="0">
                <a:latin typeface="Calibri"/>
                <a:cs typeface="Calibri"/>
              </a:rPr>
              <a:t>outcomes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predictions.</a:t>
            </a:r>
            <a:endParaRPr sz="250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	</a:t>
            </a:r>
            <a:r>
              <a:rPr sz="2500" b="1" dirty="0">
                <a:latin typeface="Calibri"/>
                <a:cs typeface="Calibri"/>
              </a:rPr>
              <a:t>a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tool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used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in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predictive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analytics,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data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mining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technique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attempts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answer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question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"what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might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possibly </a:t>
            </a:r>
            <a:r>
              <a:rPr sz="2500" dirty="0">
                <a:latin typeface="Calibri"/>
                <a:cs typeface="Calibri"/>
              </a:rPr>
              <a:t>happen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future?“.</a:t>
            </a:r>
            <a:endParaRPr sz="2500">
              <a:latin typeface="Calibri"/>
              <a:cs typeface="Calibri"/>
            </a:endParaRPr>
          </a:p>
          <a:p>
            <a:pPr marL="356870" indent="-344170" algn="just">
              <a:lnSpc>
                <a:spcPts val="2615"/>
              </a:lnSpc>
              <a:buFont typeface="Arial MT"/>
              <a:buChar char="•"/>
              <a:tabLst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Mostly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predictive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techniques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</a:t>
            </a:r>
            <a:endParaRPr sz="2500">
              <a:latin typeface="Calibri"/>
              <a:cs typeface="Calibri"/>
            </a:endParaRPr>
          </a:p>
          <a:p>
            <a:pPr marL="355600" algn="just">
              <a:lnSpc>
                <a:spcPts val="2700"/>
              </a:lnSpc>
            </a:pPr>
            <a:r>
              <a:rPr sz="2500" dirty="0">
                <a:latin typeface="Calibri"/>
                <a:cs typeface="Calibri"/>
              </a:rPr>
              <a:t>:regression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neural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networks</a:t>
            </a:r>
            <a:endParaRPr sz="2500">
              <a:latin typeface="Calibri"/>
              <a:cs typeface="Calibri"/>
            </a:endParaRPr>
          </a:p>
          <a:p>
            <a:pPr marL="812800" marR="16510" indent="-343535">
              <a:lnSpc>
                <a:spcPts val="2110"/>
              </a:lnSpc>
              <a:spcBef>
                <a:spcPts val="525"/>
              </a:spcBef>
              <a:tabLst>
                <a:tab pos="812800" algn="l"/>
              </a:tabLst>
            </a:pPr>
            <a:r>
              <a:rPr sz="2200" spc="-50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Cambria"/>
                <a:cs typeface="Cambria"/>
              </a:rPr>
              <a:t>For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example,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modeling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could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help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identify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who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are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likely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purchase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new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product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over</a:t>
            </a:r>
            <a:r>
              <a:rPr sz="2200" spc="-25" dirty="0">
                <a:latin typeface="Cambria"/>
                <a:cs typeface="Cambria"/>
              </a:rPr>
              <a:t> the </a:t>
            </a:r>
            <a:r>
              <a:rPr sz="2200" dirty="0">
                <a:latin typeface="Cambria"/>
                <a:cs typeface="Cambria"/>
              </a:rPr>
              <a:t>next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90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days.</a:t>
            </a:r>
            <a:endParaRPr sz="2200">
              <a:latin typeface="Cambria"/>
              <a:cs typeface="Cambria"/>
            </a:endParaRPr>
          </a:p>
          <a:p>
            <a:pPr marL="355600" marR="26034" indent="-342900">
              <a:lnSpc>
                <a:spcPct val="80000"/>
              </a:lnSpc>
              <a:spcBef>
                <a:spcPts val="489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Companies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predictive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modeling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forecast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events, </a:t>
            </a:r>
            <a:r>
              <a:rPr sz="2500" dirty="0">
                <a:latin typeface="Calibri"/>
                <a:cs typeface="Calibri"/>
              </a:rPr>
              <a:t>customer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behavior,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well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financial,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economic,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dirty="0">
                <a:latin typeface="Calibri"/>
                <a:cs typeface="Calibri"/>
              </a:rPr>
              <a:t>market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risks.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842" y="1468373"/>
            <a:ext cx="7512684" cy="38493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62865" indent="-342900">
              <a:lnSpc>
                <a:spcPts val="2880"/>
              </a:lnSpc>
              <a:spcBef>
                <a:spcPts val="795"/>
              </a:spcBef>
              <a:buSzPct val="60000"/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mbria"/>
                <a:cs typeface="Cambria"/>
              </a:rPr>
              <a:t>Predictive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modeling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is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process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that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uses </a:t>
            </a:r>
            <a:r>
              <a:rPr sz="3000" dirty="0">
                <a:latin typeface="Cambria"/>
                <a:cs typeface="Cambria"/>
              </a:rPr>
              <a:t>data</a:t>
            </a:r>
            <a:r>
              <a:rPr sz="3000" spc="-5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and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statistics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to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predict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outcomes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with </a:t>
            </a:r>
            <a:r>
              <a:rPr sz="3000" dirty="0">
                <a:latin typeface="Cambria"/>
                <a:cs typeface="Cambria"/>
              </a:rPr>
              <a:t>data</a:t>
            </a:r>
            <a:r>
              <a:rPr sz="3000" spc="-2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models.</a:t>
            </a:r>
            <a:endParaRPr sz="3000">
              <a:latin typeface="Cambria"/>
              <a:cs typeface="Cambria"/>
            </a:endParaRPr>
          </a:p>
          <a:p>
            <a:pPr marL="812165" marR="13970" lvl="1" indent="-342900">
              <a:lnSpc>
                <a:spcPct val="80000"/>
              </a:lnSpc>
              <a:spcBef>
                <a:spcPts val="425"/>
              </a:spcBef>
              <a:buSzPct val="69230"/>
              <a:buFont typeface="Arial MT"/>
              <a:buChar char="–"/>
              <a:tabLst>
                <a:tab pos="812165" algn="l"/>
              </a:tabLst>
            </a:pPr>
            <a:r>
              <a:rPr sz="2600" dirty="0">
                <a:latin typeface="Cambria"/>
                <a:cs typeface="Cambria"/>
              </a:rPr>
              <a:t>These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models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can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used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predict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anything </a:t>
            </a:r>
            <a:r>
              <a:rPr sz="2600" dirty="0">
                <a:latin typeface="Cambria"/>
                <a:cs typeface="Cambria"/>
              </a:rPr>
              <a:t>from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sports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outcomes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and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TV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ratings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to </a:t>
            </a:r>
            <a:r>
              <a:rPr sz="2600" dirty="0">
                <a:latin typeface="Cambria"/>
                <a:cs typeface="Cambria"/>
              </a:rPr>
              <a:t>technological</a:t>
            </a:r>
            <a:r>
              <a:rPr sz="2600" spc="-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advances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and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corporate</a:t>
            </a:r>
            <a:r>
              <a:rPr sz="2600" spc="-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earnings.</a:t>
            </a:r>
            <a:endParaRPr sz="2600">
              <a:latin typeface="Cambria"/>
              <a:cs typeface="Cambria"/>
            </a:endParaRPr>
          </a:p>
          <a:p>
            <a:pPr marL="355600" marR="5080" indent="-342900">
              <a:lnSpc>
                <a:spcPts val="2880"/>
              </a:lnSpc>
              <a:spcBef>
                <a:spcPts val="365"/>
              </a:spcBef>
              <a:buSzPct val="60000"/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mbria"/>
                <a:cs typeface="Cambria"/>
              </a:rPr>
              <a:t>Predictive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modeling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is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also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often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referred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to as:</a:t>
            </a:r>
            <a:endParaRPr sz="3000">
              <a:latin typeface="Cambria"/>
              <a:cs typeface="Cambria"/>
            </a:endParaRPr>
          </a:p>
          <a:p>
            <a:pPr marL="812165" lvl="1" indent="-342900">
              <a:lnSpc>
                <a:spcPts val="2255"/>
              </a:lnSpc>
              <a:buSzPct val="94736"/>
              <a:buFont typeface="Arial MT"/>
              <a:buChar char="–"/>
              <a:tabLst>
                <a:tab pos="812165" algn="l"/>
              </a:tabLst>
            </a:pPr>
            <a:r>
              <a:rPr sz="1900" dirty="0">
                <a:latin typeface="Cambria"/>
                <a:cs typeface="Cambria"/>
              </a:rPr>
              <a:t>Predictive</a:t>
            </a:r>
            <a:r>
              <a:rPr sz="1900" spc="-10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analytics</a:t>
            </a:r>
            <a:endParaRPr sz="1900">
              <a:latin typeface="Cambria"/>
              <a:cs typeface="Cambria"/>
            </a:endParaRPr>
          </a:p>
          <a:p>
            <a:pPr marL="812165" lvl="1" indent="-342900">
              <a:lnSpc>
                <a:spcPts val="2225"/>
              </a:lnSpc>
              <a:buSzPct val="94736"/>
              <a:buFont typeface="Arial MT"/>
              <a:buChar char="–"/>
              <a:tabLst>
                <a:tab pos="812165" algn="l"/>
              </a:tabLst>
            </a:pPr>
            <a:r>
              <a:rPr sz="1900" dirty="0">
                <a:latin typeface="Cambria"/>
                <a:cs typeface="Cambria"/>
              </a:rPr>
              <a:t>Predictive</a:t>
            </a:r>
            <a:r>
              <a:rPr sz="1900" spc="-10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analysis</a:t>
            </a:r>
            <a:endParaRPr sz="1900">
              <a:latin typeface="Cambria"/>
              <a:cs typeface="Cambria"/>
            </a:endParaRPr>
          </a:p>
          <a:p>
            <a:pPr marL="812165" lvl="1" indent="-342900">
              <a:lnSpc>
                <a:spcPts val="2250"/>
              </a:lnSpc>
              <a:buSzPct val="94736"/>
              <a:buFont typeface="Arial MT"/>
              <a:buChar char="–"/>
              <a:tabLst>
                <a:tab pos="812165" algn="l"/>
              </a:tabLst>
            </a:pPr>
            <a:r>
              <a:rPr sz="1900" dirty="0">
                <a:latin typeface="Cambria"/>
                <a:cs typeface="Cambria"/>
              </a:rPr>
              <a:t>Machine</a:t>
            </a:r>
            <a:r>
              <a:rPr sz="1900" spc="-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learning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938" y="1156716"/>
            <a:ext cx="7673340" cy="43600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2055" y="5785586"/>
            <a:ext cx="1400175" cy="13572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8844">
              <a:lnSpc>
                <a:spcPct val="100000"/>
              </a:lnSpc>
              <a:spcBef>
                <a:spcPts val="105"/>
              </a:spcBef>
            </a:pPr>
            <a:r>
              <a:rPr dirty="0"/>
              <a:t>Why predictive</a:t>
            </a:r>
            <a:r>
              <a:rPr spc="-20" dirty="0"/>
              <a:t> </a:t>
            </a:r>
            <a:r>
              <a:rPr spc="-10" dirty="0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1293"/>
            <a:ext cx="7940675" cy="21297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analysing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historical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events.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increase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probability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forecasting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events, </a:t>
            </a:r>
            <a:r>
              <a:rPr sz="3200" dirty="0">
                <a:latin typeface="Calibri"/>
                <a:cs typeface="Calibri"/>
              </a:rPr>
              <a:t>customer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behavior,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financial, </a:t>
            </a:r>
            <a:r>
              <a:rPr sz="3200" dirty="0">
                <a:latin typeface="Calibri"/>
                <a:cs typeface="Calibri"/>
              </a:rPr>
              <a:t>economic,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market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risks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241" y="461899"/>
            <a:ext cx="6044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retrieved?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523" y="1128725"/>
            <a:ext cx="7833359" cy="43402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rapid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migration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digital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created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a </a:t>
            </a:r>
            <a:r>
              <a:rPr sz="3000" b="1" dirty="0">
                <a:latin typeface="Calibri"/>
                <a:cs typeface="Calibri"/>
              </a:rPr>
              <a:t>sea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data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readily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available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spc="-10" dirty="0">
                <a:latin typeface="Calibri"/>
                <a:cs typeface="Calibri"/>
              </a:rPr>
              <a:t>businesses.</a:t>
            </a:r>
            <a:endParaRPr sz="3000">
              <a:latin typeface="Calibri"/>
              <a:cs typeface="Calibri"/>
            </a:endParaRPr>
          </a:p>
          <a:p>
            <a:pPr marL="355600" marR="27305" indent="-342900">
              <a:lnSpc>
                <a:spcPts val="324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Big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data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utilized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companies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improve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dynamics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customer-to-business relationship.</a:t>
            </a:r>
            <a:endParaRPr sz="3000">
              <a:latin typeface="Calibri"/>
              <a:cs typeface="Calibri"/>
            </a:endParaRPr>
          </a:p>
          <a:p>
            <a:pPr marL="355600" marR="318770" indent="-342900">
              <a:lnSpc>
                <a:spcPct val="90000"/>
              </a:lnSpc>
              <a:spcBef>
                <a:spcPts val="55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vast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amount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real-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retrieved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sources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such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social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media,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internet </a:t>
            </a:r>
            <a:r>
              <a:rPr sz="3000" b="1" dirty="0">
                <a:latin typeface="Calibri"/>
                <a:cs typeface="Calibri"/>
              </a:rPr>
              <a:t>browsing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history,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cell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phone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data,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cloud </a:t>
            </a:r>
            <a:r>
              <a:rPr sz="3000" b="1" dirty="0">
                <a:latin typeface="Calibri"/>
                <a:cs typeface="Calibri"/>
              </a:rPr>
              <a:t>computing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platforms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71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7997190" cy="4191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bank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wants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identify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which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customers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likely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engage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money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laundering(clearing)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activities</a:t>
            </a:r>
            <a:r>
              <a:rPr sz="2500" spc="-10" dirty="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ts val="2625"/>
              </a:lnSpc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bank’s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customer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data,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predictive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is</a:t>
            </a:r>
            <a:endParaRPr sz="2500">
              <a:latin typeface="Calibri"/>
              <a:cs typeface="Calibri"/>
            </a:endParaRPr>
          </a:p>
          <a:p>
            <a:pPr marL="355600" marR="348615">
              <a:lnSpc>
                <a:spcPts val="2400"/>
              </a:lnSpc>
              <a:spcBef>
                <a:spcPts val="280"/>
              </a:spcBef>
              <a:tabLst>
                <a:tab pos="1083945" algn="l"/>
              </a:tabLst>
            </a:pPr>
            <a:r>
              <a:rPr sz="2500" spc="-10" dirty="0">
                <a:latin typeface="Calibri"/>
                <a:cs typeface="Calibri"/>
              </a:rPr>
              <a:t>built</a:t>
            </a:r>
            <a:r>
              <a:rPr sz="2500" dirty="0">
                <a:latin typeface="Calibri"/>
                <a:cs typeface="Calibri"/>
              </a:rPr>
              <a:t>	around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dollar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amount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money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transfers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that </a:t>
            </a:r>
            <a:r>
              <a:rPr sz="2500" dirty="0">
                <a:latin typeface="Calibri"/>
                <a:cs typeface="Calibri"/>
              </a:rPr>
              <a:t>customers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made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during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period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time.</a:t>
            </a:r>
            <a:endParaRPr sz="2500">
              <a:latin typeface="Calibri"/>
              <a:cs typeface="Calibri"/>
            </a:endParaRPr>
          </a:p>
          <a:p>
            <a:pPr marL="355600" marR="80010" indent="-342900">
              <a:lnSpc>
                <a:spcPct val="80000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taught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recognize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difference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between</a:t>
            </a:r>
            <a:r>
              <a:rPr sz="2500" spc="-50" dirty="0">
                <a:latin typeface="Calibri"/>
                <a:cs typeface="Calibri"/>
              </a:rPr>
              <a:t> a </a:t>
            </a:r>
            <a:r>
              <a:rPr sz="2500" dirty="0">
                <a:latin typeface="Calibri"/>
                <a:cs typeface="Calibri"/>
              </a:rPr>
              <a:t>money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laundering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transaction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normal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transaction</a:t>
            </a:r>
            <a:r>
              <a:rPr sz="2500" spc="-10" dirty="0">
                <a:latin typeface="Calibri"/>
                <a:cs typeface="Calibri"/>
              </a:rPr>
              <a:t>.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optimal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outcome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should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pattern </a:t>
            </a:r>
            <a:r>
              <a:rPr sz="2500" b="1" dirty="0">
                <a:latin typeface="Calibri"/>
                <a:cs typeface="Calibri"/>
              </a:rPr>
              <a:t>that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signals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which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customer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laundered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money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which </a:t>
            </a:r>
            <a:r>
              <a:rPr sz="2500" dirty="0">
                <a:latin typeface="Calibri"/>
                <a:cs typeface="Calibri"/>
              </a:rPr>
              <a:t>didn’t.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model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perceives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pattern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fraud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is </a:t>
            </a:r>
            <a:r>
              <a:rPr sz="2500" dirty="0">
                <a:latin typeface="Calibri"/>
                <a:cs typeface="Calibri"/>
              </a:rPr>
              <a:t>emerging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particular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customer,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create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signal</a:t>
            </a:r>
            <a:endParaRPr sz="2500">
              <a:latin typeface="Calibri"/>
              <a:cs typeface="Calibri"/>
            </a:endParaRPr>
          </a:p>
          <a:p>
            <a:pPr marL="355600">
              <a:lnSpc>
                <a:spcPts val="2100"/>
              </a:lnSpc>
            </a:pPr>
            <a:r>
              <a:rPr sz="2500" dirty="0">
                <a:latin typeface="Calibri"/>
                <a:cs typeface="Calibri"/>
              </a:rPr>
              <a:t>for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action,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which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attended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bank’s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fraud</a:t>
            </a:r>
            <a:endParaRPr sz="2500">
              <a:latin typeface="Calibri"/>
              <a:cs typeface="Calibri"/>
            </a:endParaRPr>
          </a:p>
          <a:p>
            <a:pPr marL="355600">
              <a:lnSpc>
                <a:spcPts val="2700"/>
              </a:lnSpc>
            </a:pPr>
            <a:r>
              <a:rPr sz="2500" dirty="0">
                <a:latin typeface="Calibri"/>
                <a:cs typeface="Calibri"/>
              </a:rPr>
              <a:t>prevention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unit.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96" y="1219929"/>
            <a:ext cx="8033766" cy="42832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2055" y="5785586"/>
            <a:ext cx="1400175" cy="13572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7874" y="210438"/>
            <a:ext cx="6983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Process</a:t>
            </a:r>
            <a:r>
              <a:rPr sz="4000" b="1" spc="-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4000" b="1" spc="-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Predictive</a:t>
            </a:r>
            <a:r>
              <a:rPr sz="4000" b="1" spc="-10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mbria"/>
                <a:cs typeface="Cambria"/>
              </a:rPr>
              <a:t>Analysis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5186"/>
            <a:ext cx="7728584" cy="3860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365"/>
              </a:lnSpc>
              <a:spcBef>
                <a:spcPts val="105"/>
              </a:spcBef>
              <a:buSzPct val="9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mbria"/>
                <a:cs typeface="Cambria"/>
              </a:rPr>
              <a:t>Predictive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analysis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consists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7 processes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follows:</a:t>
            </a:r>
            <a:endParaRPr sz="2000">
              <a:latin typeface="Cambria"/>
              <a:cs typeface="Cambria"/>
            </a:endParaRPr>
          </a:p>
          <a:p>
            <a:pPr marL="354965" indent="-342265">
              <a:lnSpc>
                <a:spcPts val="2325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Define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project:</a:t>
            </a:r>
            <a:r>
              <a:rPr sz="20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Defining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project,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scope,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objectives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result.</a:t>
            </a:r>
            <a:endParaRPr sz="2000">
              <a:latin typeface="Cambria"/>
              <a:cs typeface="Cambria"/>
            </a:endParaRPr>
          </a:p>
          <a:p>
            <a:pPr marL="355600" marR="168910" indent="-342900">
              <a:lnSpc>
                <a:spcPts val="1920"/>
              </a:lnSpc>
              <a:spcBef>
                <a:spcPts val="420"/>
              </a:spcBef>
              <a:buClr>
                <a:srgbClr val="000000"/>
              </a:buClr>
              <a:buSzPct val="90000"/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2000" b="1" spc="-2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collection:</a:t>
            </a:r>
            <a:r>
              <a:rPr sz="20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collected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through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mining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providing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a </a:t>
            </a:r>
            <a:r>
              <a:rPr sz="2000" dirty="0">
                <a:latin typeface="Cambria"/>
                <a:cs typeface="Cambria"/>
              </a:rPr>
              <a:t>complete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view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customer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interactions.</a:t>
            </a:r>
            <a:endParaRPr sz="2000">
              <a:latin typeface="Cambria"/>
              <a:cs typeface="Cambria"/>
            </a:endParaRPr>
          </a:p>
          <a:p>
            <a:pPr marL="354965" indent="-342265">
              <a:lnSpc>
                <a:spcPts val="2295"/>
              </a:lnSpc>
              <a:buSzPct val="9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mbria"/>
                <a:cs typeface="Cambria"/>
              </a:rPr>
              <a:t>Data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Cleaning: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process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cleaning,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inspecting,</a:t>
            </a:r>
            <a:endParaRPr sz="2000">
              <a:latin typeface="Cambria"/>
              <a:cs typeface="Cambria"/>
            </a:endParaRPr>
          </a:p>
          <a:p>
            <a:pPr marL="354965" indent="-342265">
              <a:lnSpc>
                <a:spcPts val="2350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2000" b="1" spc="-1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Analysis:</a:t>
            </a:r>
            <a:r>
              <a:rPr sz="20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.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transforming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modelling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ts val="1930"/>
              </a:lnSpc>
              <a:tabLst>
                <a:tab pos="812800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6F2F9F"/>
                </a:solidFill>
                <a:latin typeface="Cambria"/>
                <a:cs typeface="Cambria"/>
              </a:rPr>
              <a:t>Statistics:</a:t>
            </a:r>
            <a:r>
              <a:rPr sz="18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enables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validating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assumptions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testing</a:t>
            </a:r>
            <a:endParaRPr sz="1800">
              <a:latin typeface="Cambria"/>
              <a:cs typeface="Cambria"/>
            </a:endParaRPr>
          </a:p>
          <a:p>
            <a:pPr marL="812800">
              <a:lnSpc>
                <a:spcPts val="1900"/>
              </a:lnSpc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statistical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models.</a:t>
            </a:r>
            <a:endParaRPr sz="1800">
              <a:latin typeface="Cambria"/>
              <a:cs typeface="Cambria"/>
            </a:endParaRPr>
          </a:p>
          <a:p>
            <a:pPr marL="355600" marR="50165" indent="-342900">
              <a:lnSpc>
                <a:spcPct val="80000"/>
              </a:lnSpc>
              <a:spcBef>
                <a:spcPts val="434"/>
              </a:spcBef>
              <a:buClr>
                <a:srgbClr val="000000"/>
              </a:buClr>
              <a:buSzPct val="90000"/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Predictive</a:t>
            </a:r>
            <a:r>
              <a:rPr sz="20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Modelling:</a:t>
            </a:r>
            <a:r>
              <a:rPr sz="20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Predictive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models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generated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using </a:t>
            </a:r>
            <a:r>
              <a:rPr sz="2000" dirty="0">
                <a:latin typeface="Cambria"/>
                <a:cs typeface="Cambria"/>
              </a:rPr>
              <a:t>statistics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most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optimized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model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used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deployment.</a:t>
            </a:r>
            <a:endParaRPr sz="2000">
              <a:latin typeface="Cambria"/>
              <a:cs typeface="Cambria"/>
            </a:endParaRPr>
          </a:p>
          <a:p>
            <a:pPr marL="355600" marR="439420" indent="-342900">
              <a:lnSpc>
                <a:spcPts val="1920"/>
              </a:lnSpc>
              <a:spcBef>
                <a:spcPts val="395"/>
              </a:spcBef>
              <a:buClr>
                <a:srgbClr val="000000"/>
              </a:buClr>
              <a:buSzPct val="90000"/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Deployment:</a:t>
            </a:r>
            <a:r>
              <a:rPr sz="20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predictive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model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deployed</a:t>
            </a:r>
            <a:r>
              <a:rPr sz="2000" spc="-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automate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production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everyday </a:t>
            </a:r>
            <a:r>
              <a:rPr sz="2000" spc="-10" dirty="0">
                <a:latin typeface="Cambria"/>
                <a:cs typeface="Cambria"/>
              </a:rPr>
              <a:t>decision-</a:t>
            </a:r>
            <a:r>
              <a:rPr sz="2000" dirty="0">
                <a:latin typeface="Cambria"/>
                <a:cs typeface="Cambria"/>
              </a:rPr>
              <a:t>making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results.</a:t>
            </a:r>
            <a:endParaRPr sz="2000">
              <a:latin typeface="Cambria"/>
              <a:cs typeface="Cambria"/>
            </a:endParaRPr>
          </a:p>
          <a:p>
            <a:pPr marL="354965" indent="-342265">
              <a:lnSpc>
                <a:spcPts val="2090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Validating</a:t>
            </a:r>
            <a:r>
              <a:rPr sz="20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20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mbria"/>
                <a:cs typeface="Cambria"/>
              </a:rPr>
              <a:t>data:</a:t>
            </a:r>
            <a:r>
              <a:rPr sz="20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Keep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monitoring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model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-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review</a:t>
            </a:r>
            <a:endParaRPr sz="2000">
              <a:latin typeface="Cambria"/>
              <a:cs typeface="Cambria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latin typeface="Cambria"/>
                <a:cs typeface="Cambria"/>
              </a:rPr>
              <a:t>performance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-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ensures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expected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results.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081" y="5835802"/>
            <a:ext cx="1398270" cy="27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5"/>
              </a:spcBef>
            </a:pPr>
            <a:r>
              <a:rPr sz="800" spc="-10" dirty="0">
                <a:latin typeface="Arial MT"/>
                <a:cs typeface="Arial MT"/>
              </a:rPr>
              <a:t>https:/</a:t>
            </a:r>
            <a:r>
              <a:rPr sz="800" spc="-10" dirty="0">
                <a:latin typeface="Arial MT"/>
                <a:cs typeface="Arial MT"/>
                <a:hlinkClick r:id="rId2"/>
              </a:rPr>
              <a:t>/www.geeksforgeeks.or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g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055">
              <a:lnSpc>
                <a:spcPct val="100000"/>
              </a:lnSpc>
              <a:spcBef>
                <a:spcPts val="105"/>
              </a:spcBef>
            </a:pPr>
            <a:r>
              <a:rPr dirty="0"/>
              <a:t>Predictive Modelling</a:t>
            </a:r>
            <a:r>
              <a:rPr spc="-15" dirty="0"/>
              <a:t> </a:t>
            </a:r>
            <a:r>
              <a:rPr spc="-1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6246"/>
            <a:ext cx="7839709" cy="48939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189865" indent="-342900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Tools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ability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handle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linear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non-</a:t>
            </a:r>
            <a:r>
              <a:rPr sz="2700" dirty="0">
                <a:latin typeface="Calibri"/>
                <a:cs typeface="Calibri"/>
              </a:rPr>
              <a:t>linear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10" dirty="0">
                <a:latin typeface="Calibri"/>
                <a:cs typeface="Calibri"/>
              </a:rPr>
              <a:t>relationships.</a:t>
            </a:r>
            <a:endParaRPr sz="2700">
              <a:latin typeface="Calibri"/>
              <a:cs typeface="Calibri"/>
            </a:endParaRPr>
          </a:p>
          <a:p>
            <a:pPr marL="755650" lvl="1" indent="-285750">
              <a:lnSpc>
                <a:spcPts val="2630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Neural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ts val="2705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trees,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ts val="2700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time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series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mining,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ts val="2705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Bayesian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ts val="2725"/>
              </a:lnSpc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big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927100" lvl="2" indent="-342900">
              <a:lnSpc>
                <a:spcPts val="2720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Ordinary</a:t>
            </a:r>
            <a:r>
              <a:rPr sz="24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Least</a:t>
            </a:r>
            <a:r>
              <a:rPr sz="24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Squares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00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Generalized</a:t>
            </a:r>
            <a:r>
              <a:rPr sz="24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Linear</a:t>
            </a:r>
            <a:r>
              <a:rPr sz="24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Models</a:t>
            </a:r>
            <a:r>
              <a:rPr sz="24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(GLM)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05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Logistic</a:t>
            </a:r>
            <a:r>
              <a:rPr sz="24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Regression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05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Random</a:t>
            </a:r>
            <a:r>
              <a:rPr sz="24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Forests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00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Decision</a:t>
            </a:r>
            <a:r>
              <a:rPr sz="24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Trees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05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Neural</a:t>
            </a:r>
            <a:r>
              <a:rPr sz="2400" b="1" spc="-9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Networks</a:t>
            </a:r>
            <a:endParaRPr sz="2400">
              <a:latin typeface="Cambria"/>
              <a:cs typeface="Cambria"/>
            </a:endParaRPr>
          </a:p>
          <a:p>
            <a:pPr marL="927100" lvl="2" indent="-342900">
              <a:lnSpc>
                <a:spcPts val="2795"/>
              </a:lnSpc>
              <a:buClr>
                <a:srgbClr val="000000"/>
              </a:buClr>
              <a:buSzPct val="75000"/>
              <a:buFont typeface="Arial MT"/>
              <a:buChar char="–"/>
              <a:tabLst>
                <a:tab pos="927100" algn="l"/>
              </a:tabLst>
            </a:pP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Multivariate</a:t>
            </a:r>
            <a:r>
              <a:rPr sz="24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Adaptive</a:t>
            </a:r>
            <a:r>
              <a:rPr sz="24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Regression</a:t>
            </a:r>
            <a:r>
              <a:rPr sz="24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mbria"/>
                <a:cs typeface="Cambria"/>
              </a:rPr>
              <a:t>Splines</a:t>
            </a:r>
            <a:r>
              <a:rPr sz="24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mbria"/>
                <a:cs typeface="Cambria"/>
              </a:rPr>
              <a:t>(MARS)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842" y="413130"/>
            <a:ext cx="7325359" cy="422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7510" marR="5080" indent="-274828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What</a:t>
            </a:r>
            <a:r>
              <a:rPr sz="27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are</a:t>
            </a:r>
            <a:r>
              <a:rPr sz="2700" b="1" spc="-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700" b="1" spc="-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Biggest</a:t>
            </a:r>
            <a:r>
              <a:rPr sz="2700" b="1" spc="-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Challenges</a:t>
            </a:r>
            <a:r>
              <a:rPr sz="2700" b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700" b="1" spc="-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C00000"/>
                </a:solidFill>
                <a:latin typeface="Cambria"/>
                <a:cs typeface="Cambria"/>
              </a:rPr>
              <a:t>Predictive Modeling?</a:t>
            </a:r>
            <a:endParaRPr sz="2700">
              <a:latin typeface="Cambria"/>
              <a:cs typeface="Cambria"/>
            </a:endParaRPr>
          </a:p>
          <a:p>
            <a:pPr marL="355600" marR="129539" indent="-342900">
              <a:lnSpc>
                <a:spcPct val="100000"/>
              </a:lnSpc>
              <a:spcBef>
                <a:spcPts val="2945"/>
              </a:spcBef>
              <a:buSzPct val="56250"/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mbria"/>
                <a:cs typeface="Cambria"/>
              </a:rPr>
              <a:t>predictive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modeling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presents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number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challenges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in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practice.</a:t>
            </a:r>
            <a:endParaRPr sz="32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SzPct val="56250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mbria"/>
                <a:cs typeface="Cambria"/>
              </a:rPr>
              <a:t>These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challenges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include:</a:t>
            </a:r>
            <a:endParaRPr sz="3200">
              <a:latin typeface="Cambria"/>
              <a:cs typeface="Cambria"/>
            </a:endParaRPr>
          </a:p>
          <a:p>
            <a:pPr marL="812165" lvl="1" indent="-34290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SzPct val="85714"/>
              <a:buFont typeface="Arial MT"/>
              <a:buChar char="–"/>
              <a:tabLst>
                <a:tab pos="812165" algn="l"/>
              </a:tabLst>
            </a:pPr>
            <a:r>
              <a:rPr sz="2100" b="1" spc="-10" dirty="0">
                <a:solidFill>
                  <a:srgbClr val="6F2F9F"/>
                </a:solidFill>
                <a:latin typeface="Cambria"/>
                <a:cs typeface="Cambria"/>
              </a:rPr>
              <a:t>Sufficiently</a:t>
            </a:r>
            <a:r>
              <a:rPr sz="21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large</a:t>
            </a:r>
            <a:r>
              <a:rPr sz="21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1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comprehensive</a:t>
            </a:r>
            <a:r>
              <a:rPr sz="21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6F2F9F"/>
                </a:solidFill>
                <a:latin typeface="Cambria"/>
                <a:cs typeface="Cambria"/>
              </a:rPr>
              <a:t>datasets</a:t>
            </a:r>
            <a:endParaRPr sz="2100">
              <a:latin typeface="Cambria"/>
              <a:cs typeface="Cambria"/>
            </a:endParaRPr>
          </a:p>
          <a:p>
            <a:pPr marL="812165" lvl="1" indent="-342900">
              <a:lnSpc>
                <a:spcPct val="100000"/>
              </a:lnSpc>
              <a:spcBef>
                <a:spcPts val="409"/>
              </a:spcBef>
              <a:buClr>
                <a:srgbClr val="000000"/>
              </a:buClr>
              <a:buSzPct val="85714"/>
              <a:buFont typeface="Arial MT"/>
              <a:buChar char="–"/>
              <a:tabLst>
                <a:tab pos="812165" algn="l"/>
              </a:tabLst>
            </a:pP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Adaptability</a:t>
            </a:r>
            <a:r>
              <a:rPr sz="21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21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models</a:t>
            </a:r>
            <a:r>
              <a:rPr sz="21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to</a:t>
            </a:r>
            <a:r>
              <a:rPr sz="21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new</a:t>
            </a:r>
            <a:r>
              <a:rPr sz="21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6F2F9F"/>
                </a:solidFill>
                <a:latin typeface="Cambria"/>
                <a:cs typeface="Cambria"/>
              </a:rPr>
              <a:t>problems</a:t>
            </a:r>
            <a:endParaRPr sz="2100">
              <a:latin typeface="Cambria"/>
              <a:cs typeface="Cambria"/>
            </a:endParaRPr>
          </a:p>
          <a:p>
            <a:pPr marL="812165" lvl="1" indent="-342900">
              <a:lnSpc>
                <a:spcPct val="100000"/>
              </a:lnSpc>
              <a:spcBef>
                <a:spcPts val="395"/>
              </a:spcBef>
              <a:buClr>
                <a:srgbClr val="000000"/>
              </a:buClr>
              <a:buSzPct val="85714"/>
              <a:buFont typeface="Arial MT"/>
              <a:buChar char="–"/>
              <a:tabLst>
                <a:tab pos="812165" algn="l"/>
              </a:tabLst>
            </a:pP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21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organization</a:t>
            </a:r>
            <a:r>
              <a:rPr sz="21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1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6F2F9F"/>
                </a:solidFill>
                <a:latin typeface="Cambria"/>
                <a:cs typeface="Cambria"/>
              </a:rPr>
              <a:t>hygiene</a:t>
            </a:r>
            <a:endParaRPr sz="2100">
              <a:latin typeface="Cambria"/>
              <a:cs typeface="Cambria"/>
            </a:endParaRPr>
          </a:p>
          <a:p>
            <a:pPr marL="812165" lvl="1" indent="-3429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85714"/>
              <a:buFont typeface="Arial MT"/>
              <a:buChar char="–"/>
              <a:tabLst>
                <a:tab pos="812165" algn="l"/>
              </a:tabLst>
            </a:pP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Data</a:t>
            </a:r>
            <a:r>
              <a:rPr sz="21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privacy</a:t>
            </a:r>
            <a:r>
              <a:rPr sz="21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6F2F9F"/>
                </a:solidFill>
                <a:latin typeface="Cambria"/>
                <a:cs typeface="Cambria"/>
              </a:rPr>
              <a:t>and</a:t>
            </a:r>
            <a:r>
              <a:rPr sz="21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6F2F9F"/>
                </a:solidFill>
                <a:latin typeface="Cambria"/>
                <a:cs typeface="Cambria"/>
              </a:rPr>
              <a:t>security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8744" y="210438"/>
            <a:ext cx="6361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Need</a:t>
            </a:r>
            <a:r>
              <a:rPr sz="4000" b="1" spc="-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4000" b="1" spc="-1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Predictive</a:t>
            </a:r>
            <a:r>
              <a:rPr sz="4000" b="1" spc="-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mbria"/>
                <a:cs typeface="Cambria"/>
              </a:rPr>
              <a:t>Analysis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823" y="1043686"/>
            <a:ext cx="7754620" cy="42684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>
              <a:lnSpc>
                <a:spcPct val="80000"/>
              </a:lnSpc>
              <a:spcBef>
                <a:spcPts val="620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Understanding</a:t>
            </a:r>
            <a:r>
              <a:rPr sz="22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customer</a:t>
            </a:r>
            <a:r>
              <a:rPr sz="22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behavior:</a:t>
            </a:r>
            <a:r>
              <a:rPr sz="2200" b="1" spc="-9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uses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mining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feature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which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extracts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attributes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behavior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of </a:t>
            </a:r>
            <a:r>
              <a:rPr sz="2200" dirty="0">
                <a:latin typeface="Cambria"/>
                <a:cs typeface="Cambria"/>
              </a:rPr>
              <a:t>customers.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It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also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finds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out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interests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so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business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learn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represent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those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products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which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can </a:t>
            </a:r>
            <a:r>
              <a:rPr sz="2200" dirty="0">
                <a:latin typeface="Cambria"/>
                <a:cs typeface="Cambria"/>
              </a:rPr>
              <a:t>increase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probability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likelihood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buying.</a:t>
            </a:r>
            <a:endParaRPr sz="2200">
              <a:latin typeface="Cambria"/>
              <a:cs typeface="Cambria"/>
            </a:endParaRPr>
          </a:p>
          <a:p>
            <a:pPr marL="355600" marR="44450" indent="-343535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Gain</a:t>
            </a:r>
            <a:r>
              <a:rPr sz="22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competition</a:t>
            </a:r>
            <a:r>
              <a:rPr sz="22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in</a:t>
            </a:r>
            <a:r>
              <a:rPr sz="22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the</a:t>
            </a:r>
            <a:r>
              <a:rPr sz="22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market:</a:t>
            </a:r>
            <a:r>
              <a:rPr sz="22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With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analysis, </a:t>
            </a:r>
            <a:r>
              <a:rPr sz="2200" dirty="0">
                <a:latin typeface="Cambria"/>
                <a:cs typeface="Cambria"/>
              </a:rPr>
              <a:t>businesses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companies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make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their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way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grow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fast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and </a:t>
            </a:r>
            <a:r>
              <a:rPr sz="2200" dirty="0">
                <a:latin typeface="Cambria"/>
                <a:cs typeface="Cambria"/>
              </a:rPr>
              <a:t>stand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out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competition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other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businesses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finding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out </a:t>
            </a:r>
            <a:r>
              <a:rPr sz="2200" dirty="0">
                <a:latin typeface="Cambria"/>
                <a:cs typeface="Cambria"/>
              </a:rPr>
              <a:t>their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weakness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strengths.</a:t>
            </a:r>
            <a:endParaRPr sz="2200">
              <a:latin typeface="Cambria"/>
              <a:cs typeface="Cambria"/>
            </a:endParaRPr>
          </a:p>
          <a:p>
            <a:pPr marL="355600" marR="41910" indent="-343535">
              <a:lnSpc>
                <a:spcPct val="80000"/>
              </a:lnSpc>
              <a:spcBef>
                <a:spcPts val="395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Learn</a:t>
            </a:r>
            <a:r>
              <a:rPr sz="2200" b="1" spc="-4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new</a:t>
            </a:r>
            <a:r>
              <a:rPr sz="22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opportunities</a:t>
            </a:r>
            <a:r>
              <a:rPr sz="2200" b="1" spc="-3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to</a:t>
            </a:r>
            <a:r>
              <a:rPr sz="22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increase</a:t>
            </a:r>
            <a:r>
              <a:rPr sz="2200" b="1" spc="-3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revenue:</a:t>
            </a:r>
            <a:r>
              <a:rPr sz="2200" b="1" spc="-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Companies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create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new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offers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or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discounts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based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pattern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the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providing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increase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revenue.</a:t>
            </a:r>
            <a:endParaRPr sz="2200">
              <a:latin typeface="Cambria"/>
              <a:cs typeface="Cambria"/>
            </a:endParaRPr>
          </a:p>
          <a:p>
            <a:pPr marL="355600" marR="248285" indent="-343535">
              <a:lnSpc>
                <a:spcPct val="80000"/>
              </a:lnSpc>
              <a:spcBef>
                <a:spcPts val="409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Find</a:t>
            </a:r>
            <a:r>
              <a:rPr sz="22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areas</a:t>
            </a:r>
            <a:r>
              <a:rPr sz="2200" b="1" spc="-5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of</a:t>
            </a:r>
            <a:r>
              <a:rPr sz="2200" b="1" spc="-4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weakening:</a:t>
            </a:r>
            <a:r>
              <a:rPr sz="2200" b="1" spc="-2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Using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these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methods,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companies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gain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back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their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lost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finding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out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past</a:t>
            </a:r>
            <a:endParaRPr sz="2200">
              <a:latin typeface="Cambria"/>
              <a:cs typeface="Cambria"/>
            </a:endParaRPr>
          </a:p>
          <a:p>
            <a:pPr marL="355600">
              <a:lnSpc>
                <a:spcPts val="2110"/>
              </a:lnSpc>
            </a:pPr>
            <a:r>
              <a:rPr sz="2200" dirty="0">
                <a:latin typeface="Cambria"/>
                <a:cs typeface="Cambria"/>
              </a:rPr>
              <a:t>actions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taken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company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which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customers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didn’t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like.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081" y="5835802"/>
            <a:ext cx="1398270" cy="27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5"/>
              </a:spcBef>
            </a:pPr>
            <a:r>
              <a:rPr sz="800" spc="-10" dirty="0">
                <a:latin typeface="Arial MT"/>
                <a:cs typeface="Arial MT"/>
              </a:rPr>
              <a:t>https:/</a:t>
            </a:r>
            <a:r>
              <a:rPr sz="800" spc="-10" dirty="0">
                <a:latin typeface="Arial MT"/>
                <a:cs typeface="Arial MT"/>
                <a:hlinkClick r:id="rId2"/>
              </a:rPr>
              <a:t>/www.geeksforgeeks.or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g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288" y="210438"/>
            <a:ext cx="60388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1525" marR="5080" indent="-2028825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C00000"/>
                </a:solidFill>
                <a:latin typeface="Cambria"/>
                <a:cs typeface="Cambria"/>
              </a:rPr>
              <a:t>Applications</a:t>
            </a:r>
            <a:r>
              <a:rPr sz="4000" b="1" spc="-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4000" b="1" spc="-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mbria"/>
                <a:cs typeface="Cambria"/>
              </a:rPr>
              <a:t>Predictive Analysis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0613"/>
            <a:ext cx="7747634" cy="3731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375"/>
              </a:lnSpc>
              <a:spcBef>
                <a:spcPts val="95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Health</a:t>
            </a:r>
            <a:r>
              <a:rPr sz="2200" b="1" spc="-5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care:</a:t>
            </a:r>
            <a:r>
              <a:rPr sz="22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used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determine</a:t>
            </a:r>
            <a:r>
              <a:rPr sz="2200" spc="-25" dirty="0">
                <a:latin typeface="Cambria"/>
                <a:cs typeface="Cambria"/>
              </a:rPr>
              <a:t> the</a:t>
            </a:r>
            <a:endParaRPr sz="2200">
              <a:latin typeface="Cambria"/>
              <a:cs typeface="Cambria"/>
            </a:endParaRPr>
          </a:p>
          <a:p>
            <a:pPr marL="355600">
              <a:lnSpc>
                <a:spcPts val="2310"/>
              </a:lnSpc>
            </a:pPr>
            <a:r>
              <a:rPr sz="2200" dirty="0">
                <a:latin typeface="Cambria"/>
                <a:cs typeface="Cambria"/>
              </a:rPr>
              <a:t>history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patient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thus,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determining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risks.</a:t>
            </a:r>
            <a:endParaRPr sz="2200">
              <a:latin typeface="Cambria"/>
              <a:cs typeface="Cambria"/>
            </a:endParaRPr>
          </a:p>
          <a:p>
            <a:pPr marL="355600" marR="5080" indent="-342900">
              <a:lnSpc>
                <a:spcPct val="80000"/>
              </a:lnSpc>
              <a:spcBef>
                <a:spcPts val="464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Financial</a:t>
            </a:r>
            <a:r>
              <a:rPr sz="2200" b="1" spc="-7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modelling:</a:t>
            </a:r>
            <a:r>
              <a:rPr sz="2200" b="1" spc="-8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Financial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modelling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another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aspect </a:t>
            </a:r>
            <a:r>
              <a:rPr sz="2200" dirty="0">
                <a:latin typeface="Cambria"/>
                <a:cs typeface="Cambria"/>
              </a:rPr>
              <a:t>where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plays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major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role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finding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out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the </a:t>
            </a:r>
            <a:r>
              <a:rPr sz="2200" dirty="0">
                <a:latin typeface="Cambria"/>
                <a:cs typeface="Cambria"/>
              </a:rPr>
              <a:t>trending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stocks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helping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business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decision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making process.</a:t>
            </a:r>
            <a:endParaRPr sz="2200">
              <a:latin typeface="Cambria"/>
              <a:cs typeface="Cambria"/>
            </a:endParaRPr>
          </a:p>
          <a:p>
            <a:pPr marL="355600" marR="340360" indent="-342900">
              <a:lnSpc>
                <a:spcPct val="80000"/>
              </a:lnSpc>
              <a:spcBef>
                <a:spcPts val="395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Customer</a:t>
            </a:r>
            <a:r>
              <a:rPr sz="2200" b="1" spc="-7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Relationship</a:t>
            </a:r>
            <a:r>
              <a:rPr sz="2200" b="1" spc="-8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spc="-10" dirty="0">
                <a:solidFill>
                  <a:srgbClr val="6F2F9F"/>
                </a:solidFill>
                <a:latin typeface="Cambria"/>
                <a:cs typeface="Cambria"/>
              </a:rPr>
              <a:t>Management:</a:t>
            </a:r>
            <a:r>
              <a:rPr sz="2200" b="1" spc="-10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Predictive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analysis </a:t>
            </a:r>
            <a:r>
              <a:rPr sz="2200" dirty="0">
                <a:latin typeface="Cambria"/>
                <a:cs typeface="Cambria"/>
              </a:rPr>
              <a:t>helps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firms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creating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marketing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campaigns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customer </a:t>
            </a:r>
            <a:r>
              <a:rPr sz="2200" dirty="0">
                <a:latin typeface="Cambria"/>
                <a:cs typeface="Cambria"/>
              </a:rPr>
              <a:t>services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based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produced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predictive algorithms.</a:t>
            </a:r>
            <a:endParaRPr sz="2200">
              <a:latin typeface="Cambria"/>
              <a:cs typeface="Cambria"/>
            </a:endParaRPr>
          </a:p>
          <a:p>
            <a:pPr marL="355600" marR="328930" indent="-342900">
              <a:lnSpc>
                <a:spcPct val="80000"/>
              </a:lnSpc>
              <a:spcBef>
                <a:spcPts val="405"/>
              </a:spcBef>
              <a:buClr>
                <a:srgbClr val="000000"/>
              </a:buClr>
              <a:buSzPct val="81818"/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Risk</a:t>
            </a:r>
            <a:r>
              <a:rPr sz="2200" b="1" spc="-65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mbria"/>
                <a:cs typeface="Cambria"/>
              </a:rPr>
              <a:t>Analysis:</a:t>
            </a:r>
            <a:r>
              <a:rPr sz="2200" b="1" spc="-60" dirty="0">
                <a:solidFill>
                  <a:srgbClr val="6F2F9F"/>
                </a:solidFill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While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forecasting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campaigns,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predictive </a:t>
            </a:r>
            <a:r>
              <a:rPr sz="2200" dirty="0">
                <a:latin typeface="Cambria"/>
                <a:cs typeface="Cambria"/>
              </a:rPr>
              <a:t>analysis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can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show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estimation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profit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helps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in </a:t>
            </a:r>
            <a:r>
              <a:rPr sz="2200" dirty="0">
                <a:latin typeface="Cambria"/>
                <a:cs typeface="Cambria"/>
              </a:rPr>
              <a:t>evaluating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risks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too.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1081" y="5835802"/>
            <a:ext cx="1398270" cy="27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5"/>
              </a:spcBef>
            </a:pPr>
            <a:r>
              <a:rPr sz="800" spc="-10" dirty="0">
                <a:latin typeface="Arial MT"/>
                <a:cs typeface="Arial MT"/>
              </a:rPr>
              <a:t>https:/</a:t>
            </a:r>
            <a:r>
              <a:rPr sz="800" spc="-10" dirty="0">
                <a:latin typeface="Arial MT"/>
                <a:cs typeface="Arial MT"/>
                <a:hlinkClick r:id="rId2"/>
              </a:rPr>
              <a:t>/www.geeksforgeeks.or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g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647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1358265" indent="-342900">
              <a:lnSpc>
                <a:spcPts val="2590"/>
              </a:lnSpc>
              <a:spcBef>
                <a:spcPts val="725"/>
              </a:spcBef>
              <a:buChar char="•"/>
              <a:tabLst>
                <a:tab pos="355600" algn="l"/>
                <a:tab pos="398145" algn="l"/>
              </a:tabLst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  <a:hlinkClick r:id="rId2"/>
              </a:rPr>
              <a:t>	</a:t>
            </a:r>
            <a:r>
              <a:rPr spc="-10" dirty="0">
                <a:hlinkClick r:id="rId2"/>
              </a:rPr>
              <a:t>https://www.godaddy.com/garage/what-</a:t>
            </a:r>
            <a:r>
              <a:rPr spc="-25" dirty="0">
                <a:hlinkClick r:id="rId2"/>
              </a:rPr>
              <a:t>is-</a:t>
            </a:r>
            <a:r>
              <a:rPr u="none" spc="-25" dirty="0"/>
              <a:t> </a:t>
            </a:r>
            <a:r>
              <a:rPr spc="-10" dirty="0">
                <a:hlinkClick r:id="rId2"/>
              </a:rPr>
              <a:t>hypertargeting/</a:t>
            </a:r>
          </a:p>
          <a:p>
            <a:pPr marL="355600" marR="5080" indent="-342900">
              <a:lnSpc>
                <a:spcPts val="2590"/>
              </a:lnSpc>
              <a:spcBef>
                <a:spcPts val="610"/>
              </a:spcBef>
              <a:buChar char="•"/>
              <a:tabLst>
                <a:tab pos="355600" algn="l"/>
                <a:tab pos="398145" algn="l"/>
              </a:tabLst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  <a:hlinkClick r:id="rId3"/>
              </a:rPr>
              <a:t>	</a:t>
            </a:r>
            <a:r>
              <a:rPr spc="-10" dirty="0">
                <a:hlinkClick r:id="rId3"/>
              </a:rPr>
              <a:t>https://textsanity.com/text-message-marketing/why-</a:t>
            </a:r>
            <a:r>
              <a:rPr u="none" spc="-10" dirty="0"/>
              <a:t> </a:t>
            </a:r>
            <a:r>
              <a:rPr spc="-10" dirty="0">
                <a:hlinkClick r:id="rId3"/>
              </a:rPr>
              <a:t>tags-are-the-best-way-to-organize-your-data/</a:t>
            </a:r>
          </a:p>
          <a:p>
            <a:pPr marL="355600" marR="262255" indent="-297180">
              <a:lnSpc>
                <a:spcPts val="2590"/>
              </a:lnSpc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4"/>
              </a:rPr>
              <a:t>https://www.investopedia.com/terms/p/predictive-</a:t>
            </a:r>
            <a:r>
              <a:rPr u="none" spc="-10" dirty="0"/>
              <a:t> </a:t>
            </a:r>
            <a:r>
              <a:rPr spc="-10" dirty="0">
                <a:hlinkClick r:id="rId4"/>
              </a:rPr>
              <a:t>modeling.asp</a:t>
            </a:r>
          </a:p>
          <a:p>
            <a:pPr marL="355600" marR="852169" indent="-297180">
              <a:lnSpc>
                <a:spcPct val="80000"/>
              </a:lnSpc>
              <a:spcBef>
                <a:spcPts val="6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5"/>
              </a:rPr>
              <a:t>https://medium.com/@osiolabs/what-</a:t>
            </a:r>
            <a:r>
              <a:rPr dirty="0">
                <a:hlinkClick r:id="rId5"/>
              </a:rPr>
              <a:t>is-</a:t>
            </a:r>
            <a:r>
              <a:rPr spc="-10" dirty="0">
                <a:hlinkClick r:id="rId5"/>
              </a:rPr>
              <a:t>an-</a:t>
            </a:r>
            <a:r>
              <a:rPr spc="-20" dirty="0">
                <a:hlinkClick r:id="rId5"/>
              </a:rPr>
              <a:t>etl-</a:t>
            </a:r>
            <a:r>
              <a:rPr u="none" spc="-20" dirty="0"/>
              <a:t> </a:t>
            </a:r>
            <a:r>
              <a:rPr spc="-10" dirty="0">
                <a:hlinkClick r:id="rId5"/>
              </a:rPr>
              <a:t>extract-transform-load-pipeline-in-node-</a:t>
            </a:r>
            <a:r>
              <a:rPr spc="-25" dirty="0">
                <a:hlinkClick r:id="rId5"/>
              </a:rPr>
              <a:t>js-</a:t>
            </a:r>
            <a:r>
              <a:rPr u="none" spc="-25" dirty="0"/>
              <a:t> </a:t>
            </a:r>
            <a:r>
              <a:rPr spc="-10" dirty="0">
                <a:hlinkClick r:id="rId5"/>
              </a:rPr>
              <a:t>9a1a17de30f1</a:t>
            </a:r>
          </a:p>
          <a:p>
            <a:pPr marL="355600" marR="715010" indent="-29718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6"/>
              </a:rPr>
              <a:t>https://towardsdatascience.com/forecasting-</a:t>
            </a:r>
            <a:r>
              <a:rPr u="none" spc="-10" dirty="0"/>
              <a:t> </a:t>
            </a:r>
            <a:r>
              <a:rPr spc="-10" dirty="0">
                <a:hlinkClick r:id="rId6"/>
              </a:rPr>
              <a:t>fundamentals-you-should-know-before-building-</a:t>
            </a:r>
            <a:r>
              <a:rPr u="none" spc="-10" dirty="0"/>
              <a:t> </a:t>
            </a:r>
            <a:r>
              <a:rPr spc="-10" dirty="0">
                <a:hlinkClick r:id="rId6"/>
              </a:rPr>
              <a:t>predictive-models-299a18c2093b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A9AAD3-9C81-26E0-DBE6-4276254D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3F53D7-C3FF-3D1C-AA58-2711CC544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647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0804F3-660C-A057-971E-D5F03F9CD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1358265" indent="-342900">
              <a:lnSpc>
                <a:spcPts val="2590"/>
              </a:lnSpc>
              <a:spcBef>
                <a:spcPts val="725"/>
              </a:spcBef>
              <a:buChar char="•"/>
              <a:tabLst>
                <a:tab pos="355600" algn="l"/>
                <a:tab pos="398145" algn="l"/>
              </a:tabLst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  <a:hlinkClick r:id="rId2"/>
              </a:rPr>
              <a:t>	</a:t>
            </a:r>
            <a:r>
              <a:rPr spc="-10" dirty="0">
                <a:hlinkClick r:id="rId2"/>
              </a:rPr>
              <a:t>https://www.godaddy.com/garage/what-</a:t>
            </a:r>
            <a:r>
              <a:rPr spc="-25" dirty="0">
                <a:hlinkClick r:id="rId2"/>
              </a:rPr>
              <a:t>is-</a:t>
            </a:r>
            <a:r>
              <a:rPr u="none" spc="-25" dirty="0"/>
              <a:t> </a:t>
            </a:r>
            <a:r>
              <a:rPr spc="-10" dirty="0">
                <a:hlinkClick r:id="rId2"/>
              </a:rPr>
              <a:t>hypertargeting/</a:t>
            </a:r>
          </a:p>
          <a:p>
            <a:pPr marL="355600" marR="5080" indent="-342900">
              <a:lnSpc>
                <a:spcPts val="2590"/>
              </a:lnSpc>
              <a:spcBef>
                <a:spcPts val="610"/>
              </a:spcBef>
              <a:buChar char="•"/>
              <a:tabLst>
                <a:tab pos="355600" algn="l"/>
                <a:tab pos="398145" algn="l"/>
              </a:tabLst>
            </a:pPr>
            <a:r>
              <a:rPr u="none" dirty="0">
                <a:solidFill>
                  <a:srgbClr val="000000"/>
                </a:solidFill>
                <a:latin typeface="Arial MT"/>
                <a:cs typeface="Arial MT"/>
                <a:hlinkClick r:id="rId3"/>
              </a:rPr>
              <a:t>	</a:t>
            </a:r>
            <a:r>
              <a:rPr spc="-10" dirty="0">
                <a:hlinkClick r:id="rId3"/>
              </a:rPr>
              <a:t>https://textsanity.com/text-message-marketing/why-</a:t>
            </a:r>
            <a:r>
              <a:rPr u="none" spc="-10" dirty="0"/>
              <a:t> </a:t>
            </a:r>
            <a:r>
              <a:rPr spc="-10" dirty="0">
                <a:hlinkClick r:id="rId3"/>
              </a:rPr>
              <a:t>tags-are-the-best-way-to-organize-your-data/</a:t>
            </a:r>
          </a:p>
          <a:p>
            <a:pPr marL="355600" marR="262255" indent="-297180">
              <a:lnSpc>
                <a:spcPts val="2590"/>
              </a:lnSpc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4"/>
              </a:rPr>
              <a:t>https://www.investopedia.com/terms/p/predictive-</a:t>
            </a:r>
            <a:r>
              <a:rPr u="none" spc="-10" dirty="0"/>
              <a:t> </a:t>
            </a:r>
            <a:r>
              <a:rPr spc="-10" dirty="0">
                <a:hlinkClick r:id="rId4"/>
              </a:rPr>
              <a:t>modeling.asp</a:t>
            </a:r>
          </a:p>
          <a:p>
            <a:pPr marL="355600" marR="852169" indent="-297180">
              <a:lnSpc>
                <a:spcPct val="80000"/>
              </a:lnSpc>
              <a:spcBef>
                <a:spcPts val="6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5"/>
              </a:rPr>
              <a:t>https://medium.com/@osiolabs/what-</a:t>
            </a:r>
            <a:r>
              <a:rPr dirty="0">
                <a:hlinkClick r:id="rId5"/>
              </a:rPr>
              <a:t>is-</a:t>
            </a:r>
            <a:r>
              <a:rPr spc="-10" dirty="0">
                <a:hlinkClick r:id="rId5"/>
              </a:rPr>
              <a:t>an-</a:t>
            </a:r>
            <a:r>
              <a:rPr spc="-20" dirty="0">
                <a:hlinkClick r:id="rId5"/>
              </a:rPr>
              <a:t>etl-</a:t>
            </a:r>
            <a:r>
              <a:rPr u="none" spc="-20" dirty="0"/>
              <a:t> </a:t>
            </a:r>
            <a:r>
              <a:rPr spc="-10" dirty="0">
                <a:hlinkClick r:id="rId5"/>
              </a:rPr>
              <a:t>extract-transform-load-pipeline-in-node-</a:t>
            </a:r>
            <a:r>
              <a:rPr spc="-25" dirty="0">
                <a:hlinkClick r:id="rId5"/>
              </a:rPr>
              <a:t>js-</a:t>
            </a:r>
            <a:r>
              <a:rPr u="none" spc="-25" dirty="0"/>
              <a:t> </a:t>
            </a:r>
            <a:r>
              <a:rPr spc="-10" dirty="0">
                <a:hlinkClick r:id="rId5"/>
              </a:rPr>
              <a:t>9a1a17de30f1</a:t>
            </a:r>
          </a:p>
          <a:p>
            <a:pPr marL="355600" marR="715010" indent="-29718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spc="-10" dirty="0">
                <a:hlinkClick r:id="rId6"/>
              </a:rPr>
              <a:t>https://towardsdatascience.com/forecasting-</a:t>
            </a:r>
            <a:r>
              <a:rPr u="none" spc="-10" dirty="0"/>
              <a:t> </a:t>
            </a:r>
            <a:r>
              <a:rPr spc="-10" dirty="0">
                <a:hlinkClick r:id="rId6"/>
              </a:rPr>
              <a:t>fundamentals-you-should-know-before-building-</a:t>
            </a:r>
            <a:r>
              <a:rPr u="none" spc="-10" dirty="0"/>
              <a:t> </a:t>
            </a:r>
            <a:r>
              <a:rPr spc="-10" dirty="0">
                <a:hlinkClick r:id="rId6"/>
              </a:rPr>
              <a:t>predictive-models-299a18c2093b</a:t>
            </a:r>
          </a:p>
        </p:txBody>
      </p:sp>
    </p:spTree>
    <p:extLst>
      <p:ext uri="{BB962C8B-B14F-4D97-AF65-F5344CB8AC3E}">
        <p14:creationId xmlns:p14="http://schemas.microsoft.com/office/powerpoint/2010/main" val="3061795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3826</Words>
  <Application>Microsoft Office PowerPoint</Application>
  <PresentationFormat>On-screen Show (4:3)</PresentationFormat>
  <Paragraphs>330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 MT</vt:lpstr>
      <vt:lpstr>Calibri</vt:lpstr>
      <vt:lpstr>Cambria</vt:lpstr>
      <vt:lpstr>Courier New</vt:lpstr>
      <vt:lpstr>Georgia</vt:lpstr>
      <vt:lpstr>Times New Roman</vt:lpstr>
      <vt:lpstr>Wingdings</vt:lpstr>
      <vt:lpstr>Office Theme</vt:lpstr>
      <vt:lpstr>PowerPoint Presentation</vt:lpstr>
      <vt:lpstr>What is IoT Data management</vt:lpstr>
      <vt:lpstr>Why Data Management is need?</vt:lpstr>
      <vt:lpstr>Data Management Process</vt:lpstr>
      <vt:lpstr>IoT data management techniques</vt:lpstr>
      <vt:lpstr>Data Management challenges</vt:lpstr>
      <vt:lpstr>Tagging of Data</vt:lpstr>
      <vt:lpstr>Data forms</vt:lpstr>
      <vt:lpstr>Example-I</vt:lpstr>
      <vt:lpstr>Example -II</vt:lpstr>
      <vt:lpstr>Data organization</vt:lpstr>
      <vt:lpstr>Advantages of Data collectors</vt:lpstr>
      <vt:lpstr>Tags</vt:lpstr>
      <vt:lpstr>HashTag</vt:lpstr>
      <vt:lpstr>Why use hashtags?</vt:lpstr>
      <vt:lpstr>Contd.,</vt:lpstr>
      <vt:lpstr>WITHOUT THE TAGS, SENDING EVERYONE IN YOUR DATABASE EVERYTHING YOU HAVE TO OFFER, WHICH IS NOT AS EFFECTIVE.</vt:lpstr>
      <vt:lpstr>Types of Tags</vt:lpstr>
      <vt:lpstr>One Tag</vt:lpstr>
      <vt:lpstr>Multiple tags</vt:lpstr>
      <vt:lpstr>Targeted advertising</vt:lpstr>
      <vt:lpstr>Importance of target advertising</vt:lpstr>
      <vt:lpstr>Issues with targeted advertising</vt:lpstr>
      <vt:lpstr>Hyper-targeted advertising</vt:lpstr>
      <vt:lpstr>Benefits</vt:lpstr>
      <vt:lpstr>Scenario</vt:lpstr>
      <vt:lpstr>Tag data to pre-process large datasets</vt:lpstr>
      <vt:lpstr>Steps to Tag Data for Pre- Processing Large Datasets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Tagging for Pre-Processing</vt:lpstr>
      <vt:lpstr>Challenges</vt:lpstr>
      <vt:lpstr>Example</vt:lpstr>
      <vt:lpstr>contd..,</vt:lpstr>
      <vt:lpstr>Contd.,</vt:lpstr>
      <vt:lpstr>Data usage</vt:lpstr>
      <vt:lpstr>Forecasting</vt:lpstr>
      <vt:lpstr>Forecasting types</vt:lpstr>
      <vt:lpstr>Forecasting types</vt:lpstr>
      <vt:lpstr>Forecasting Methods</vt:lpstr>
      <vt:lpstr>Predictive Modelling</vt:lpstr>
      <vt:lpstr>PowerPoint Presentation</vt:lpstr>
      <vt:lpstr>PowerPoint Presentation</vt:lpstr>
      <vt:lpstr>Why predictive modelling</vt:lpstr>
      <vt:lpstr>How the data is retrieved?</vt:lpstr>
      <vt:lpstr>Examples</vt:lpstr>
      <vt:lpstr>PowerPoint Presentation</vt:lpstr>
      <vt:lpstr>Process of Predictive Analysis</vt:lpstr>
      <vt:lpstr>Predictive Modelling Tools</vt:lpstr>
      <vt:lpstr>PowerPoint Presentation</vt:lpstr>
      <vt:lpstr>Need of Predictive Analysis</vt:lpstr>
      <vt:lpstr>Applications of Predictive Analysis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data management system</dc:title>
  <dc:creator>Windows User</dc:creator>
  <cp:lastModifiedBy>Hemalatha K</cp:lastModifiedBy>
  <cp:revision>7</cp:revision>
  <dcterms:created xsi:type="dcterms:W3CDTF">2026-01-12T12:02:56Z</dcterms:created>
  <dcterms:modified xsi:type="dcterms:W3CDTF">2026-01-22T09:45:27Z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2026-01-12T00:00:00Z</vt:filetime>
  </property>
  <property fmtid="{D5CDD505-2E9C-101B-9397-08002B2CF9AE}" pid="5" name="Producer">
    <vt:lpwstr>Microsoft® PowerPoint® 2021</vt:lpwstr>
  </property>
</Properties>
</file>